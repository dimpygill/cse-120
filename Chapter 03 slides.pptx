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58"/>
  </p:notesMasterIdLst>
  <p:handoutMasterIdLst>
    <p:handoutMasterId r:id="rId5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12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00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2" autoAdjust="0"/>
    <p:restoredTop sz="96374" autoAdjust="0"/>
  </p:normalViewPr>
  <p:slideViewPr>
    <p:cSldViewPr>
      <p:cViewPr varScale="1">
        <p:scale>
          <a:sx n="95" d="100"/>
          <a:sy n="95" d="100"/>
        </p:scale>
        <p:origin x="19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9928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1/21/2025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numb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298C-2E9E-4E3F-82C8-60A2EED58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09600"/>
            <a:ext cx="7772400" cy="457200"/>
          </a:xfrm>
        </p:spPr>
        <p:txBody>
          <a:bodyPr/>
          <a:lstStyle>
            <a:lvl1pPr>
              <a:defRPr sz="2400" b="1" i="1">
                <a:solidFill>
                  <a:srgbClr val="000099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 err="1"/>
              <a:t>Murach’s</a:t>
            </a:r>
            <a:r>
              <a:rPr lang="en-US" dirty="0"/>
              <a:t> SQL Server 2022 for Developers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75D4F1-CB37-4CE0-983C-8406904B2B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05000" y="1676400"/>
            <a:ext cx="5334000" cy="6096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Chapter X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D01CB5-9945-4C9B-9918-8CA19A726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590800"/>
            <a:ext cx="5334000" cy="914400"/>
          </a:xfrm>
        </p:spPr>
        <p:txBody>
          <a:bodyPr/>
          <a:lstStyle>
            <a:lvl1pPr marL="0" indent="0" algn="ctr">
              <a:buNone/>
              <a:defRPr sz="4800" b="1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27A70-7FFF-4919-9745-58612D6379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2023, Mike Murach &amp; Associates, Inc.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91E8C-669A-4FAF-AC57-930E4708DF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901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1EAB4BC0-D5C7-49B0-54AC-F67C80E1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_2-lin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4495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2A4128AF-FA95-FB1B-F7EC-9F06B1029B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706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EA07F-21E3-C43E-2483-EF255ABC73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_2_lin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0A36CC2-90BA-4768-70BF-5E8F2F5CE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524000"/>
            <a:ext cx="73152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4541F783-317C-D9AD-83C7-5AE65ED51C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636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6200" y="6233011"/>
            <a:ext cx="2743200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8FC2C4-3F43-BC0E-9A91-95841BAF30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7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layout_2_lin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13DA2AB-954E-C0E2-3E5B-8B482B0051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524000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6200" y="6233011"/>
            <a:ext cx="2743200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E757E026-CA30-31D4-7CB8-4AA11C85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105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745E84-27EF-B727-9BFE-6449CFCB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25CEF-B290-B84E-D2A4-6A86E123EE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FE91D7-54F9-CE5B-2AF2-A8F87F29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_2_lin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8042D0E-2D92-B61C-07C7-F98F35208D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524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2DC32C3D-5C99-8467-FB69-0545F95E5D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812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A92572-6C0F-2359-8B91-448DEEC456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1143000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C4B8B-4248-7B05-52E9-1493FB7E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3505200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11430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C4B8B-4248-7B05-52E9-1493FB7E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475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1143000"/>
            <a:ext cx="7315200" cy="2133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434977"/>
            <a:ext cx="7391400" cy="396241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able Placeholder 7">
            <a:extLst>
              <a:ext uri="{FF2B5EF4-FFF2-40B4-BE49-F238E27FC236}">
                <a16:creationId xmlns:a16="http://schemas.microsoft.com/office/drawing/2014/main" id="{AFEF7FE6-D02E-FC18-3A1F-FB2B9BE04DFB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914400" y="3973009"/>
            <a:ext cx="7315200" cy="20467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2CB5F9A1-57CC-7079-49E6-F38139C60F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77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3A493-C9CB-60F1-C48D-911ADE2420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714E1-3205-D410-3DAF-7853C337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77EDEF-2119-0C0C-90EC-29310C8309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3657600" cy="457200"/>
          </a:xfrm>
          <a:prstGeom prst="rect">
            <a:avLst/>
          </a:prstGeom>
        </p:spPr>
        <p:txBody>
          <a:bodyPr anchor="b"/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 dirty="0"/>
              <a:t>© 2023, Mike Murach &amp; Associates, Inc.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78" r:id="rId2"/>
    <p:sldLayoutId id="2147483689" r:id="rId3"/>
    <p:sldLayoutId id="2147483679" r:id="rId4"/>
    <p:sldLayoutId id="2147483690" r:id="rId5"/>
    <p:sldLayoutId id="2147483686" r:id="rId6"/>
    <p:sldLayoutId id="2147483691" r:id="rId7"/>
    <p:sldLayoutId id="2147483680" r:id="rId8"/>
    <p:sldLayoutId id="2147483683" r:id="rId9"/>
    <p:sldLayoutId id="2147483681" r:id="rId10"/>
    <p:sldLayoutId id="2147483692" r:id="rId11"/>
    <p:sldLayoutId id="2147483674" r:id="rId12"/>
    <p:sldLayoutId id="2147483687" r:id="rId13"/>
    <p:sldLayoutId id="2147483694" r:id="rId14"/>
    <p:sldLayoutId id="2147483693" r:id="rId15"/>
    <p:sldLayoutId id="2147483676" r:id="rId16"/>
    <p:sldLayoutId id="2147483675" r:id="rId17"/>
    <p:sldLayoutId id="2147483684" r:id="rId18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DAFE5-8375-D164-FDE0-BF8171B5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>
                <a:latin typeface="Arial Narrow" panose="020B0606020202030204" pitchFamily="34" charset="0"/>
              </a:rPr>
              <a:t>Murach’s</a:t>
            </a:r>
            <a:r>
              <a:rPr lang="en-US" i="1" dirty="0">
                <a:latin typeface="Arial Narrow" panose="020B0606020202030204" pitchFamily="34" charset="0"/>
              </a:rPr>
              <a:t> SQL Server 2022 for Developers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0D95E-CA26-40EE-A4C2-C6996AE674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E7F6B-A2C0-7F4D-05A2-99783B3350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0" y="2590800"/>
            <a:ext cx="6400800" cy="2438400"/>
          </a:xfrm>
        </p:spPr>
        <p:txBody>
          <a:bodyPr/>
          <a:lstStyle/>
          <a:p>
            <a:r>
              <a:rPr lang="en-US" dirty="0"/>
              <a:t>How to retrieve data from a single table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36FCE-A3D0-628E-E5D0-512C937165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2023, Mike Murach &amp; Associates, Inc.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147AD-1470-5E7E-09D0-BB3BAEB36D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92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A085-FA71-077C-631E-EF74975B9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9FDDB-23A2-1E26-D678-92FDAA5149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pos="347345" algn="l"/>
              </a:tabLst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Code and run SELECT statements that use any of the language elements presented in this chapter.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pos="347345" algn="l"/>
                <a:tab pos="347345" algn="l"/>
                <a:tab pos="365760" algn="l"/>
              </a:tabLst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Distinguish between the base table values and the calculated values in SELECT statements.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pos="347345" algn="l"/>
                <a:tab pos="347345" algn="l"/>
                <a:tab pos="365760" algn="l"/>
              </a:tabLst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use of a column alias.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pos="347345" algn="l"/>
                <a:tab pos="347345" algn="l"/>
                <a:tab pos="365760" algn="l"/>
              </a:tabLst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order of precedence and the use of parentheses for arithmetic expressions.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pos="347345" algn="l"/>
                <a:tab pos="347345" algn="l"/>
                <a:tab pos="365760" algn="l"/>
              </a:tabLst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use of the DISTINCT keyword and the TOP clause.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pos="347345" algn="l"/>
                <a:tab pos="347345" algn="l"/>
                <a:tab pos="365760" algn="l"/>
              </a:tabLst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use of comparison operators, logical operators, and parentheses in WHERE clauses.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6BB135-E6B7-FD9A-05CE-3DD59EF2F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FB3D5-A71E-B39E-CED7-005AE28B6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0E735-D6EE-15A1-DF4C-207DD624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340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16B19-3DB5-31A7-72D1-0FCFD4F7B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(continued)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AA5B8-6641-27A9-1B97-14F148A246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  <a:tabLst>
                <a:tab pos="347345" algn="l"/>
                <a:tab pos="347345" algn="l"/>
                <a:tab pos="365760" algn="l"/>
              </a:tabLst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use of the IN, BETWEEN, and LIKE operators in WHERE clauses.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  <a:tabLst>
                <a:tab pos="347345" algn="l"/>
                <a:tab pos="347345" algn="l"/>
                <a:tab pos="365760" algn="l"/>
              </a:tabLst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use of the IS NULL clause in a WHERE clause.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  <a:tabLst>
                <a:tab pos="347345" algn="l"/>
                <a:tab pos="347345" algn="l"/>
                <a:tab pos="365760" algn="l"/>
              </a:tabLst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use of column names, aliases, calculated values, and column numbers in ORDER BY clauses.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  <a:tabLst>
                <a:tab pos="347345" algn="l"/>
                <a:tab pos="347345" algn="l"/>
                <a:tab pos="365760" algn="l"/>
              </a:tabLst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use of the OFFSET and FETCH clauses in ORDER BY clauses.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066EAB-EC30-A415-5866-29800ABB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B540A-B8D7-48EE-1718-859B17F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71495-CEE0-577E-85CF-58962C301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48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40BD5-E550-C931-C0DE-E3E737F94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simplified syntax of the SELECT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E73C8-019C-5540-FC65-13C80298A8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472"/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select_list</a:t>
            </a:r>
            <a:b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[FROM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table_source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b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search_condition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b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[ORDER BY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order_by_list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F4F093-9D04-E6BF-8716-AD252617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41868-0675-DEE6-522C-48470BF17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3C487-BA58-175E-F57A-6F5F23C62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931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1E1804-16DE-C5AC-A7B7-2E5DC6D19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SELECT statement (114 rows)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18CBCA-F2BB-F2A8-C8F6-F6FD634A6A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062758"/>
            <a:ext cx="7391400" cy="7660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Invoices;</a:t>
            </a:r>
          </a:p>
          <a:p>
            <a:endParaRPr lang="en-US" dirty="0"/>
          </a:p>
        </p:txBody>
      </p:sp>
      <p:pic>
        <p:nvPicPr>
          <p:cNvPr id="10" name="Content Placeholder 9" descr="Title describes slide.">
            <a:extLst>
              <a:ext uri="{FF2B5EF4-FFF2-40B4-BE49-F238E27FC236}">
                <a16:creationId xmlns:a16="http://schemas.microsoft.com/office/drawing/2014/main" id="{DCF61E74-64F3-3022-9A92-81BDA382116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828800"/>
            <a:ext cx="7117233" cy="1143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B4E9A-29E5-DD1E-61B0-5B3DD4649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4326D-A770-04A9-8BB2-C48F64EB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Murach’s</a:t>
            </a:r>
            <a:r>
              <a:rPr lang="en-US" dirty="0"/>
              <a:t> SQL Server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A7F9D-1100-1F51-34C8-CAAFECB5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256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1E1804-16DE-C5AC-A7B7-2E5DC6D19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7315200" cy="738664"/>
          </a:xfrm>
        </p:spPr>
        <p:txBody>
          <a:bodyPr/>
          <a:lstStyle/>
          <a:p>
            <a:r>
              <a:rPr lang="en-US" dirty="0"/>
              <a:t>A SELECT statement that retrieves and sorts rows</a:t>
            </a:r>
            <a:br>
              <a:rPr lang="en-US" dirty="0"/>
            </a:br>
            <a:r>
              <a:rPr lang="en-US" dirty="0"/>
              <a:t>(114 rows)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18CBCA-F2BB-F2A8-C8F6-F6FD634A6A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524000"/>
            <a:ext cx="7391400" cy="106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InvoiceNumber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3" name="Content Placeholder 2" descr="Title describes slide.">
            <a:extLst>
              <a:ext uri="{FF2B5EF4-FFF2-40B4-BE49-F238E27FC236}">
                <a16:creationId xmlns:a16="http://schemas.microsoft.com/office/drawing/2014/main" id="{79719F5D-40D7-CF85-B414-7A340770E67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590800"/>
            <a:ext cx="7315200" cy="117091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B4E9A-29E5-DD1E-61B0-5B3DD4649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4326D-A770-04A9-8BB2-C48F64EB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A7F9D-1100-1F51-34C8-CAAFECB5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6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421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1E1804-16DE-C5AC-A7B7-2E5DC6D19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statement that retrieves a calculated value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18CBCA-F2BB-F2A8-C8F6-F6FD634A6A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062758"/>
            <a:ext cx="7391400" cy="12232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CreditTotal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TotalCredits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17;</a:t>
            </a:r>
          </a:p>
        </p:txBody>
      </p:sp>
      <p:pic>
        <p:nvPicPr>
          <p:cNvPr id="11" name="Content Placeholder 10" descr="Title describes slide.">
            <a:extLst>
              <a:ext uri="{FF2B5EF4-FFF2-40B4-BE49-F238E27FC236}">
                <a16:creationId xmlns:a16="http://schemas.microsoft.com/office/drawing/2014/main" id="{9539ED6B-EA79-B64E-AF97-9D44E9C2077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431415"/>
            <a:ext cx="7315199" cy="54410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B4E9A-29E5-DD1E-61B0-5B3DD4649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4326D-A770-04A9-8BB2-C48F64EB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A7F9D-1100-1F51-34C8-CAAFECB5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7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420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1E1804-16DE-C5AC-A7B7-2E5DC6D19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7315200" cy="738664"/>
          </a:xfrm>
        </p:spPr>
        <p:txBody>
          <a:bodyPr/>
          <a:lstStyle/>
          <a:p>
            <a:r>
              <a:rPr lang="en-US" dirty="0"/>
              <a:t>A statement that gets the invoices </a:t>
            </a:r>
            <a:br>
              <a:rPr lang="en-US" dirty="0"/>
            </a:br>
            <a:r>
              <a:rPr lang="en-US" dirty="0"/>
              <a:t>between given dates (35 rows)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18CBCA-F2BB-F2A8-C8F6-F6FD634A6A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524000"/>
            <a:ext cx="7391400" cy="106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InvoiceNumber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BETWEEN '2023-01-01' AND '2023-03-31'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B4E9A-29E5-DD1E-61B0-5B3DD4649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4326D-A770-04A9-8BB2-C48F64EB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A7F9D-1100-1F51-34C8-CAAFECB5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270411-C804-E02F-5603-52BA23281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45835" cy="117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86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1E1804-16DE-C5AC-A7B7-2E5DC6D19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statement that returns an empty result set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18CBCA-F2BB-F2A8-C8F6-F6FD634A6A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062758"/>
            <a:ext cx="7391400" cy="12232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InvoiceNumber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50000;</a:t>
            </a:r>
          </a:p>
        </p:txBody>
      </p:sp>
      <p:pic>
        <p:nvPicPr>
          <p:cNvPr id="3" name="Content Placeholder 2" descr="Title describes slide.">
            <a:extLst>
              <a:ext uri="{FF2B5EF4-FFF2-40B4-BE49-F238E27FC236}">
                <a16:creationId xmlns:a16="http://schemas.microsoft.com/office/drawing/2014/main" id="{8BAECEA7-DB63-C2CA-2A5D-7206E1A4E4A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399" y="2103580"/>
            <a:ext cx="7315199" cy="50699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B4E9A-29E5-DD1E-61B0-5B3DD4649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4326D-A770-04A9-8BB2-C48F64EB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A7F9D-1100-1F51-34C8-CAAFECB5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9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128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A38A23E-9DD8-C431-91C2-09B78202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expanded syntax of the SELECT clause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CC5770-D33E-CB7A-2270-F1026D193F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400" y="1066800"/>
            <a:ext cx="7772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[</a:t>
            </a:r>
            <a:r>
              <a:rPr lang="en-US" sz="1600" b="1" u="sng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|DISTINCT] [TOP n [PERCENT] [WITH TIES]]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column_specification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[[AS]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result_column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[,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column_specification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[[AS]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result_column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]] ...</a:t>
            </a:r>
          </a:p>
          <a:p>
            <a:endParaRPr lang="en-US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730F1-82B5-D1EE-1F17-194AAF5EE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F2FA936-3C83-B607-B47B-2639C4AD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54B10-BBF9-23AE-E2B6-0E1392D2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767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1AD5-31FF-9EAE-A6D4-F98C65EB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ways to code column specifications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6AC24-CC04-5F58-A9B3-C417029E4A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 columns from base table (*)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Column name from base table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 of a calculation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 of a concatenation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 of a function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23112-5E1B-F555-8A2B-26AC80062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0AC56-E5D4-4677-F9A8-C5B62337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D2C5A-490A-76B7-E51F-BF494DE6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975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0AA74-23AE-3A51-6276-4BDE0314C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specifications that use base table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0D3BA-E739-8FD1-7BB5-E2BDCD0D18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* symbol is used to retrieve all columns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 names are used to retrieve specific columns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4896D-1D2A-8F33-F712-CDEF873C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22E34-DF28-1C90-559B-21468A409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16C30-643B-616A-8A95-A1D2108E0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582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936BF-B7E4-2EE1-DFDB-1800E55E9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specifications that use calculated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516FD-5367-CBA1-D58E-01BFB92EBF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772400" cy="4876800"/>
          </a:xfrm>
        </p:spPr>
        <p:txBody>
          <a:bodyPr/>
          <a:lstStyle/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arithmetic expression used to calculate </a:t>
            </a:r>
            <a:r>
              <a:rPr lang="en-US" sz="1800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BalanceDue</a:t>
            </a:r>
            <a:endParaRPr lang="en-US" sz="1800" b="1" spc="-10" dirty="0">
              <a:solidFill>
                <a:srgbClr val="0000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InvoiceNumber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PaymentTotal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CreditTotal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BalanceDue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string expression used to calculate </a:t>
            </a:r>
            <a:r>
              <a:rPr lang="en-US" sz="1800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endParaRPr lang="en-US" sz="1800" b="1" spc="-10" dirty="0">
              <a:solidFill>
                <a:srgbClr val="0000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VendorContactFName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 ' +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VendorContactLName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function is used to calculate </a:t>
            </a:r>
            <a:r>
              <a:rPr lang="en-US" sz="1800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CurrentDate</a:t>
            </a:r>
            <a:endParaRPr lang="en-US" sz="1800" b="1" spc="-10" dirty="0">
              <a:solidFill>
                <a:srgbClr val="0000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InvoiceNumber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GETDATE() AS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CurrentDate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F81BB-09FF-266E-C266-3113C69D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15A4D-62A4-3022-B728-062DFF025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5A301-128D-6A92-917A-BB174244A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419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5F025-89B0-4414-358E-34F4BE7DF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Named columns in the result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EDE8A-04DD-116E-E167-E48BD3FE95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062758"/>
            <a:ext cx="7391400" cy="1134324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InvoiceNumber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[Invoice Number],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Date,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Total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Invoices;</a:t>
            </a:r>
          </a:p>
          <a:p>
            <a:endParaRPr lang="en-US" dirty="0"/>
          </a:p>
        </p:txBody>
      </p:sp>
      <p:pic>
        <p:nvPicPr>
          <p:cNvPr id="8" name="Content Placeholder 7" descr="Title describes slide.">
            <a:extLst>
              <a:ext uri="{FF2B5EF4-FFF2-40B4-BE49-F238E27FC236}">
                <a16:creationId xmlns:a16="http://schemas.microsoft.com/office/drawing/2014/main" id="{05C4B190-8412-B79E-687F-738E724F7BB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448524"/>
            <a:ext cx="7315200" cy="117091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920440-CC31-C0D0-1DDB-3020CF722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FDD3B-7ACC-0259-C325-E3CB13397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DAC84-F5DC-3859-6076-AAF632DD3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14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872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C5865-ED78-E3BB-CEEE-2168EBFCC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Calculated columns that aren’t named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E561B-D189-0EB0-5D02-2DEFFB0862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3400" y="1062758"/>
            <a:ext cx="7239000" cy="9946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InvoiceNumber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CreditTotal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Invoices;</a:t>
            </a:r>
          </a:p>
        </p:txBody>
      </p:sp>
      <p:pic>
        <p:nvPicPr>
          <p:cNvPr id="8" name="Content Placeholder 7" descr="Title describes slide.">
            <a:extLst>
              <a:ext uri="{FF2B5EF4-FFF2-40B4-BE49-F238E27FC236}">
                <a16:creationId xmlns:a16="http://schemas.microsoft.com/office/drawing/2014/main" id="{7D5DE949-3181-76BC-ED3D-34EE55B0C53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125836"/>
            <a:ext cx="7315200" cy="117091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3F165-F382-D37D-1816-10B14AA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995FAB-2931-6656-F18D-94D15771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A90ED-A461-8312-E47C-BE83FF3A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554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C5865-ED78-E3BB-CEEE-2168EBFCC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concatenate string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E561B-D189-0EB0-5D02-2DEFFB0862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062758"/>
            <a:ext cx="8382000" cy="9946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Vendors;</a:t>
            </a:r>
          </a:p>
        </p:txBody>
      </p:sp>
      <p:pic>
        <p:nvPicPr>
          <p:cNvPr id="9" name="Content Placeholder 8" descr="Title describes slide.">
            <a:extLst>
              <a:ext uri="{FF2B5EF4-FFF2-40B4-BE49-F238E27FC236}">
                <a16:creationId xmlns:a16="http://schemas.microsoft.com/office/drawing/2014/main" id="{658D6E66-05EF-44F8-7B43-0EB19BAD239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752599"/>
            <a:ext cx="7315200" cy="105421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3F165-F382-D37D-1816-10B14AA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995FAB-2931-6656-F18D-94D15771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A90ED-A461-8312-E47C-BE83FF3A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657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C5865-ED78-E3BB-CEEE-2168EBFC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4989"/>
            <a:ext cx="7315200" cy="369332"/>
          </a:xfrm>
        </p:spPr>
        <p:txBody>
          <a:bodyPr/>
          <a:lstStyle/>
          <a:p>
            <a:r>
              <a:rPr lang="en-US" dirty="0"/>
              <a:t>How to format string data using literal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E561B-D189-0EB0-5D02-2DEFFB0862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066639"/>
            <a:ext cx="8382000" cy="11470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',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VendorZipCode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AS Address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Vendors;</a:t>
            </a:r>
          </a:p>
        </p:txBody>
      </p:sp>
      <p:pic>
        <p:nvPicPr>
          <p:cNvPr id="8" name="Content Placeholder 7" descr="Title describes slide.">
            <a:extLst>
              <a:ext uri="{FF2B5EF4-FFF2-40B4-BE49-F238E27FC236}">
                <a16:creationId xmlns:a16="http://schemas.microsoft.com/office/drawing/2014/main" id="{937A4EDD-6030-AA6F-0F5C-282D176D5AF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285999"/>
            <a:ext cx="7315200" cy="129848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3F165-F382-D37D-1816-10B14AA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995FAB-2931-6656-F18D-94D15771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A90ED-A461-8312-E47C-BE83FF3A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45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186-B8AE-B6E2-5507-C66FBA2A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include apostrophes in literal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B519B-948E-B53C-AF78-D0B8E9B10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349" y="1062758"/>
            <a:ext cx="8001000" cy="9184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</a:t>
            </a:r>
            <a:r>
              <a:rPr lang="en-US" sz="1600" b="1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''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Address: 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',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VendorZipCode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Vendors;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8" name="Content Placeholder 7" descr="Title describes slide.">
            <a:extLst>
              <a:ext uri="{FF2B5EF4-FFF2-40B4-BE49-F238E27FC236}">
                <a16:creationId xmlns:a16="http://schemas.microsoft.com/office/drawing/2014/main" id="{152DDD70-AAD9-4F92-A88C-294E4C63F75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6693" y="1981199"/>
            <a:ext cx="7284143" cy="177943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889B-0671-8C9E-EACC-2C45E248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3CD378-9C77-79F0-B675-59792DC2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1E28-663C-3F43-3CCE-3BA8E01F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30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D3677B1-11DF-D0CC-4AD2-A5B3344BF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arithmetic operators in order of precedence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25838E-D7C1-398E-23AB-ACA37A4BC8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9144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	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Multiplication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9144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	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Division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9144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	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Modulo (Remainder)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9144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	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</a:p>
          <a:p>
            <a:pPr marL="347345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9144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Subtraction</a:t>
            </a:r>
          </a:p>
          <a:p>
            <a:pPr marL="347345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914400" algn="l"/>
              </a:tabLst>
            </a:pP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0FC9D-E60C-5CD4-89AC-5E8738C7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A8F62D1-C00D-AF53-26B5-9A97F27A0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5BA6C-2DCC-1AA4-D7BF-3624605F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343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186-B8AE-B6E2-5507-C66FBA2A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statement that calculates the balance due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B519B-948E-B53C-AF78-D0B8E9B10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062758"/>
            <a:ext cx="7391400" cy="12232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CreditTotal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CreditTotal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BalanceDue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Invoices;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9" name="Content Placeholder 8" descr="Title describes slide.">
            <a:extLst>
              <a:ext uri="{FF2B5EF4-FFF2-40B4-BE49-F238E27FC236}">
                <a16:creationId xmlns:a16="http://schemas.microsoft.com/office/drawing/2014/main" id="{33D5DA03-31E2-C773-6E31-524814AB58E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26206" y="2391293"/>
            <a:ext cx="7303394" cy="10525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889B-0671-8C9E-EACC-2C45E248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3CD378-9C77-79F0-B675-59792DC2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1E28-663C-3F43-3CCE-3BA8E01F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257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186-B8AE-B6E2-5507-C66FBA2A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36657"/>
            <a:ext cx="7315200" cy="1107996"/>
          </a:xfrm>
        </p:spPr>
        <p:txBody>
          <a:bodyPr/>
          <a:lstStyle/>
          <a:p>
            <a:r>
              <a:rPr lang="en-US" dirty="0"/>
              <a:t>A statement that uses parentheses </a:t>
            </a:r>
            <a:br>
              <a:rPr lang="en-US" dirty="0"/>
            </a:br>
            <a:r>
              <a:rPr lang="en-US" dirty="0"/>
              <a:t>to control the order of operations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B519B-948E-B53C-AF78-D0B8E9B10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442249"/>
            <a:ext cx="7391400" cy="1451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+ 7 * 3 AS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OrderOfPrecedence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+ 7) * 3 AS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AddFirst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dirty="0"/>
          </a:p>
        </p:txBody>
      </p:sp>
      <p:pic>
        <p:nvPicPr>
          <p:cNvPr id="8" name="Content Placeholder 7" descr="Title describes slide.">
            <a:extLst>
              <a:ext uri="{FF2B5EF4-FFF2-40B4-BE49-F238E27FC236}">
                <a16:creationId xmlns:a16="http://schemas.microsoft.com/office/drawing/2014/main" id="{0B9E63CC-904F-9273-56F8-7210C909514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3055713"/>
            <a:ext cx="7315200" cy="105421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889B-0671-8C9E-EACC-2C45E248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3CD378-9C77-79F0-B675-59792DC2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1E28-663C-3F43-3CCE-3BA8E01F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476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186-B8AE-B6E2-5507-C66FBA2A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statement that uses the modulo operator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B519B-948E-B53C-AF78-D0B8E9B10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053329"/>
            <a:ext cx="7391400" cy="1451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10 AS Quotient,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% 10 AS Remainder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dirty="0"/>
          </a:p>
        </p:txBody>
      </p:sp>
      <p:pic>
        <p:nvPicPr>
          <p:cNvPr id="8" name="Content Placeholder 7" descr="Title describes slide.">
            <a:extLst>
              <a:ext uri="{FF2B5EF4-FFF2-40B4-BE49-F238E27FC236}">
                <a16:creationId xmlns:a16="http://schemas.microsoft.com/office/drawing/2014/main" id="{560FAD3A-60DA-F385-0E11-F6CFB38B0CA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399" y="2621331"/>
            <a:ext cx="7279467" cy="103626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889B-0671-8C9E-EACC-2C45E248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	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3CD378-9C77-79F0-B675-59792DC2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1E28-663C-3F43-3CCE-3BA8E01F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412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186-B8AE-B6E2-5507-C66FBA2A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statement that uses the LEFT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B519B-948E-B53C-AF78-D0B8E9B10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7857" y="1009848"/>
            <a:ext cx="7315200" cy="12232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VendorContactFName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VendorContactLName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LEFT(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VendorContactFName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1) +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LEFT(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VendorContactLName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1) AS Initials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Vendors;</a:t>
            </a:r>
          </a:p>
          <a:p>
            <a:endParaRPr lang="en-US" dirty="0"/>
          </a:p>
        </p:txBody>
      </p:sp>
      <p:pic>
        <p:nvPicPr>
          <p:cNvPr id="9" name="Content Placeholder 8" descr="Title describes slide.">
            <a:extLst>
              <a:ext uri="{FF2B5EF4-FFF2-40B4-BE49-F238E27FC236}">
                <a16:creationId xmlns:a16="http://schemas.microsoft.com/office/drawing/2014/main" id="{194DE565-AFD6-8536-1E00-842656CCA20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445196"/>
            <a:ext cx="7315200" cy="117091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889B-0671-8C9E-EACC-2C45E248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	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3CD378-9C77-79F0-B675-59792DC2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1E28-663C-3F43-3CCE-3BA8E01F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35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186-B8AE-B6E2-5507-C66FBA2A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statement that uses the CONVERT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B519B-948E-B53C-AF78-D0B8E9B10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0130" y="1066800"/>
            <a:ext cx="8001000" cy="12232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'Invoice: #'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InvoiceNumber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+ ', dated ' + CONVERT(char(8),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PaymentDate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+ ' for $' + CONVERT(varchar(9),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PaymentTotal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1)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Invoices;</a:t>
            </a:r>
          </a:p>
        </p:txBody>
      </p:sp>
      <p:pic>
        <p:nvPicPr>
          <p:cNvPr id="8" name="Content Placeholder 7" descr="Title describes slide.">
            <a:extLst>
              <a:ext uri="{FF2B5EF4-FFF2-40B4-BE49-F238E27FC236}">
                <a16:creationId xmlns:a16="http://schemas.microsoft.com/office/drawing/2014/main" id="{03BFCD89-98BE-4BDC-DDD2-1E0EED57671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290042"/>
            <a:ext cx="7315200" cy="117091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889B-0671-8C9E-EACC-2C45E248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	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3CD378-9C77-79F0-B675-59792DC2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1E28-663C-3F43-3CCE-3BA8E01F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038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186-B8AE-B6E2-5507-C66FBA2A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statement that computes the age of an invoice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B519B-948E-B53C-AF78-D0B8E9B10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062758"/>
            <a:ext cx="8001000" cy="12232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GETDATE() AS '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Today''s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Date',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DATEDIFF(day,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GETDATE()) AS Age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Invoices;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 descr="Title describes slide.">
            <a:extLst>
              <a:ext uri="{FF2B5EF4-FFF2-40B4-BE49-F238E27FC236}">
                <a16:creationId xmlns:a16="http://schemas.microsoft.com/office/drawing/2014/main" id="{9EDEB674-0CA3-8AA2-66E8-543586D3B26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380821"/>
            <a:ext cx="7315200" cy="117091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889B-0671-8C9E-EACC-2C45E248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	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3CD378-9C77-79F0-B675-59792DC2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1E28-663C-3F43-3CCE-3BA8E01F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200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186-B8AE-B6E2-5507-C66FBA2A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7315200" cy="738664"/>
          </a:xfrm>
        </p:spPr>
        <p:txBody>
          <a:bodyPr/>
          <a:lstStyle/>
          <a:p>
            <a:r>
              <a:rPr lang="en-US" dirty="0"/>
              <a:t>A SELECT statement that returns all rows </a:t>
            </a:r>
            <a:br>
              <a:rPr lang="en-US" dirty="0"/>
            </a:br>
            <a:r>
              <a:rPr lang="en-US" dirty="0"/>
              <a:t>(122 rows)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B519B-948E-B53C-AF78-D0B8E9B10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572822"/>
            <a:ext cx="8001000" cy="12232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Vendors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8" name="Content Placeholder 7" descr="Title describes slide.">
            <a:extLst>
              <a:ext uri="{FF2B5EF4-FFF2-40B4-BE49-F238E27FC236}">
                <a16:creationId xmlns:a16="http://schemas.microsoft.com/office/drawing/2014/main" id="{107E4E08-25C2-5596-1E27-26D8E7FBDDE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664570"/>
            <a:ext cx="7315200" cy="227555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889B-0671-8C9E-EACC-2C45E248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	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3CD378-9C77-79F0-B675-59792DC2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1E28-663C-3F43-3CCE-3BA8E01F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131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186-B8AE-B6E2-5507-C66FBA2A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7315200" cy="738664"/>
          </a:xfrm>
        </p:spPr>
        <p:txBody>
          <a:bodyPr/>
          <a:lstStyle/>
          <a:p>
            <a:r>
              <a:rPr lang="en-US" dirty="0"/>
              <a:t>A statement that eliminates duplicate rows </a:t>
            </a:r>
            <a:br>
              <a:rPr lang="en-US" dirty="0"/>
            </a:br>
            <a:r>
              <a:rPr lang="en-US" dirty="0"/>
              <a:t>(53 rows)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B519B-948E-B53C-AF78-D0B8E9B10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572822"/>
            <a:ext cx="8001000" cy="738664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DISTINCT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Vendors;</a:t>
            </a:r>
          </a:p>
        </p:txBody>
      </p:sp>
      <p:pic>
        <p:nvPicPr>
          <p:cNvPr id="9" name="Content Placeholder 8" descr="Title describes slide.">
            <a:extLst>
              <a:ext uri="{FF2B5EF4-FFF2-40B4-BE49-F238E27FC236}">
                <a16:creationId xmlns:a16="http://schemas.microsoft.com/office/drawing/2014/main" id="{75A144FA-12C2-CAF2-6439-AF3B480FD18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09976" y="2358367"/>
            <a:ext cx="7361104" cy="228983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889B-0671-8C9E-EACC-2C45E248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	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3CD378-9C77-79F0-B675-59792DC2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1E28-663C-3F43-3CCE-3BA8E01F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480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186-B8AE-B6E2-5507-C66FBA2A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01189"/>
            <a:ext cx="7315200" cy="369332"/>
          </a:xfrm>
        </p:spPr>
        <p:txBody>
          <a:bodyPr/>
          <a:lstStyle/>
          <a:p>
            <a:r>
              <a:rPr lang="en-US" dirty="0"/>
              <a:t>A SELECT statement with a TOP clause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B519B-948E-B53C-AF78-D0B8E9B10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138958"/>
            <a:ext cx="8001000" cy="12232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TOP 5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Title describes slide.">
            <a:extLst>
              <a:ext uri="{FF2B5EF4-FFF2-40B4-BE49-F238E27FC236}">
                <a16:creationId xmlns:a16="http://schemas.microsoft.com/office/drawing/2014/main" id="{7C6B69BA-5826-A62B-5092-2DC4EF01739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274695"/>
            <a:ext cx="7315200" cy="151172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889B-0671-8C9E-EACC-2C45E248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	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3CD378-9C77-79F0-B675-59792DC2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1E28-663C-3F43-3CCE-3BA8E01F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230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186-B8AE-B6E2-5507-C66FBA2A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2000"/>
            <a:ext cx="7315200" cy="738664"/>
          </a:xfrm>
        </p:spPr>
        <p:txBody>
          <a:bodyPr/>
          <a:lstStyle/>
          <a:p>
            <a:r>
              <a:rPr lang="en-US" dirty="0"/>
              <a:t>A SELECT statement with the TOP clause </a:t>
            </a:r>
            <a:br>
              <a:rPr lang="en-US" dirty="0"/>
            </a:br>
            <a:r>
              <a:rPr lang="en-US" dirty="0"/>
              <a:t>and PERCENT keyword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B519B-948E-B53C-AF78-D0B8E9B10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576864"/>
            <a:ext cx="8001000" cy="9946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TOP 5 PERCENT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pic>
        <p:nvPicPr>
          <p:cNvPr id="8" name="Content Placeholder 7" descr="Title describes slide.">
            <a:extLst>
              <a:ext uri="{FF2B5EF4-FFF2-40B4-BE49-F238E27FC236}">
                <a16:creationId xmlns:a16="http://schemas.microsoft.com/office/drawing/2014/main" id="{622F5292-3C49-12E7-9FE3-FAAAE967451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5599" y="2647705"/>
            <a:ext cx="7314001" cy="178046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889B-0671-8C9E-EACC-2C45E248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	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3CD378-9C77-79F0-B675-59792DC2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1E28-663C-3F43-3CCE-3BA8E01F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1962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186-B8AE-B6E2-5507-C66FBA2A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5336"/>
            <a:ext cx="7315200" cy="738664"/>
          </a:xfrm>
        </p:spPr>
        <p:txBody>
          <a:bodyPr/>
          <a:lstStyle/>
          <a:p>
            <a:r>
              <a:rPr lang="en-US" dirty="0"/>
              <a:t>A SELECT statement with a TOP clause </a:t>
            </a:r>
            <a:br>
              <a:rPr lang="en-US" dirty="0"/>
            </a:br>
            <a:r>
              <a:rPr lang="en-US" dirty="0"/>
              <a:t>and WITH TIES keyword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B519B-948E-B53C-AF78-D0B8E9B10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00200"/>
            <a:ext cx="8001000" cy="9946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TOP 5 WITH TIES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ASC;</a:t>
            </a:r>
          </a:p>
        </p:txBody>
      </p:sp>
      <p:pic>
        <p:nvPicPr>
          <p:cNvPr id="9" name="Content Placeholder 8" descr="Title describes slide.">
            <a:extLst>
              <a:ext uri="{FF2B5EF4-FFF2-40B4-BE49-F238E27FC236}">
                <a16:creationId xmlns:a16="http://schemas.microsoft.com/office/drawing/2014/main" id="{E033C79C-D4B7-1F7F-75CA-DBB26C88345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671042"/>
            <a:ext cx="7315200" cy="175513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889B-0671-8C9E-EACC-2C45E248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	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3CD378-9C77-79F0-B675-59792DC2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1E28-663C-3F43-3CCE-3BA8E01F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124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10A7F24-E70E-2D36-D6CB-F81D0B56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r>
              <a:rPr lang="en-US" dirty="0"/>
              <a:t>Syntax for a WHERE clause with </a:t>
            </a:r>
            <a:br>
              <a:rPr lang="en-US" dirty="0"/>
            </a:br>
            <a:r>
              <a:rPr lang="en-US" dirty="0"/>
              <a:t>comparison operators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D6B5F2-A4E2-3EF7-1B23-022BCF7E9D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expression_1 operator expression_2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comparison operators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9144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	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9144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	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Greater than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9144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	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Less than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9144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	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Less than or equal to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9144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	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Greater than or equal to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9144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&lt;&gt;	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equal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70691-8804-70BE-7A94-ECB0F0A86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2A422A6-1810-3738-6B2C-8DCCA4A5D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890C9-4CA7-324A-AD25-20196054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228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60CCBF-17FC-8A4A-BBCC-E18916CCC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clauses that retrieve…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AFB421-60EF-2AC5-4D57-4BC43406D9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848600" cy="5105400"/>
          </a:xfrm>
        </p:spPr>
        <p:txBody>
          <a:bodyPr/>
          <a:lstStyle/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 located in Iowa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'IA'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Invoices with a balance due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CreditTotal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CreditTotal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 with names from A to L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 'M'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Invoices on or before a specified date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&lt;= '2023-01-31'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Invoices on or after a specified date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&gt;= '1/1/22'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Invoices with credits that don’t equal zero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CreditTotal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&lt;&gt; 0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30C0A3-87B7-BF9D-28A2-F6C9222F2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33C6A-96F0-3A93-9892-DC544AF8A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7986C-4EB0-5E51-EE1B-2E28F0B0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1188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98A53-BF3C-2467-EFB2-5D823363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for a WHERE clause with logical operators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7C072-EC50-C237-2B1C-3D2D58D7EB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[NOT] search_condition_1 {AND|OR} </a:t>
            </a:r>
            <a:b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[NOT] search_condition_2 ...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E56CF-412F-8B49-DE89-08CB57821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F0D36-9398-BF4B-9830-94D894A4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EA5CB-4A2C-5AEA-5B96-0BFC8A6BF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04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6FC4-CBCC-D51F-CB57-1B130437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clauses that use logical operators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BC940-B48E-73F9-99E7-FAF5898E54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AND operator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'NJ' AND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YTDPurchases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200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OR operator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'NJ' OR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YTDPurchases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200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NOT operator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NOT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&gt;= 5000 OR 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NOT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&lt;= '2023-02-01')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same condition without the NOT operator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 5000 AND </a:t>
            </a:r>
            <a:b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&lt;= '2023-02-01'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FC7D3-30BB-0899-D067-59E817D4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DE983-A090-EB50-1682-59567328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7FC40-F0EB-308C-F228-E8E878A3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538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71C9F8-8FAE-6ECC-8648-D8EA6855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A compound condition without parentheses </a:t>
            </a:r>
            <a:br>
              <a:rPr lang="en-US" dirty="0"/>
            </a:br>
            <a:r>
              <a:rPr lang="en-US" dirty="0"/>
              <a:t>(34 rows)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366AE6-34FA-90B6-C28C-071269BDDE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447800"/>
            <a:ext cx="8077200" cy="1107996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'01/01/2023'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OR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500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AND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CreditTotal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</a:p>
          <a:p>
            <a:endParaRPr lang="en-US" dirty="0"/>
          </a:p>
        </p:txBody>
      </p:sp>
      <p:pic>
        <p:nvPicPr>
          <p:cNvPr id="11" name="Content Placeholder 10" descr="Title describes slide.&#10;">
            <a:extLst>
              <a:ext uri="{FF2B5EF4-FFF2-40B4-BE49-F238E27FC236}">
                <a16:creationId xmlns:a16="http://schemas.microsoft.com/office/drawing/2014/main" id="{C9D25296-DD89-3E24-DFEC-2D5C8897BC6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514791"/>
            <a:ext cx="7315200" cy="117091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3E9AA63-9AC5-9A73-A1AD-60C2F775CA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2000" y="3962400"/>
            <a:ext cx="7391400" cy="1414598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of precedence for compound conditions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3AE95-BB31-2ED1-7B7A-56FD2F1AF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B2101-291E-FCA7-91C5-38C85EB6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FDD2-91B7-7FF3-BB4D-2AF770DA3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35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3245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22BA05A-5DCC-B52E-18E8-59499F3D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7315200" cy="738664"/>
          </a:xfrm>
        </p:spPr>
        <p:txBody>
          <a:bodyPr/>
          <a:lstStyle/>
          <a:p>
            <a:r>
              <a:rPr lang="en-US" dirty="0"/>
              <a:t>The same compound condition with parentheses</a:t>
            </a:r>
            <a:br>
              <a:rPr lang="en-US" dirty="0"/>
            </a:br>
            <a:r>
              <a:rPr lang="en-US" dirty="0"/>
              <a:t>(11 rows)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58DB23-1B45-E9B7-5E74-300F65168C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00200"/>
            <a:ext cx="8001000" cy="106440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'01/01/2023'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OR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500)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AND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CreditTotal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</a:p>
          <a:p>
            <a:endParaRPr lang="en-US" dirty="0"/>
          </a:p>
        </p:txBody>
      </p:sp>
      <p:pic>
        <p:nvPicPr>
          <p:cNvPr id="12" name="Content Placeholder 11" descr="Title describes slide.">
            <a:extLst>
              <a:ext uri="{FF2B5EF4-FFF2-40B4-BE49-F238E27FC236}">
                <a16:creationId xmlns:a16="http://schemas.microsoft.com/office/drawing/2014/main" id="{AB2D0475-1649-EB68-8E2F-0BAD836F3BA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733789"/>
            <a:ext cx="7315200" cy="117091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105E3-DF67-D0F5-01A2-0D8DB6FE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9D8EEB-54BA-8E9C-BCAA-08BBDC2B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7CEDC5-C911-8679-B3C1-32119DCEB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0814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8AC43EB-093E-9F95-1F16-5F8DE5450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of the WHERE clause with an IN phrase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54C45C-1697-A8BE-C216-414B78C743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sz="1800" b="1" i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[NOT] IN </a:t>
            </a:r>
            <a:b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({subquery|expression_1 [, expression_2]...})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9F84D-ADEA-34D5-026F-C0F2D17CD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CBC868-B88A-1F04-F87F-85A43A2C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9B946-10DE-D4B4-64FF-48F380360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0738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AB942-C8ED-1D3C-6487-69FA6E32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clauses that use the IN phrase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E19EE-BC76-7DEE-DC4D-A2B34EA515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list of numeric literals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TermsID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(1, 3, 4)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Preceded by NOT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NOT IN ('CA', 'NV', 'OR')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subquery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VendorID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(SELECT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VendorID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FROM Invoices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'2022-12-01')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2B974-6C12-8F16-C142-D911C511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43726-B5B5-8D1B-5528-446BD116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9BEFF-DFCF-68F0-78C0-0CAA3D0B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001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20BC38D-A52F-EE12-B0B0-55A6E4011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r>
              <a:rPr lang="en-US" dirty="0"/>
              <a:t>The syntax of the WHERE clause </a:t>
            </a:r>
            <a:br>
              <a:rPr lang="en-US" dirty="0"/>
            </a:br>
            <a:r>
              <a:rPr lang="en-US" dirty="0"/>
              <a:t>with a BETWEEN phrase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A27CA7-AF47-88A3-4710-0A8E16B4F8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71600"/>
            <a:ext cx="7391400" cy="4495800"/>
          </a:xfrm>
        </p:spPr>
        <p:txBody>
          <a:bodyPr/>
          <a:lstStyle/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test_expression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[NOT] BETWEEN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begin_expression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AND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end_expression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equivalent WHERE clause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the BETWEEN phrase</a:t>
            </a:r>
          </a:p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[NOT]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test_expression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begin_expression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AND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test_expression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end_expression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3E16C-86B0-5886-31B7-5305E5FF1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6612A-1EBB-4CA1-BFF1-80D87C48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DFFE8-70F3-62BD-824C-BCF82297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3741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05660B-B2F3-4D61-190F-929DDBCBE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clauses that use the BETWEEN phrase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330A25-6DC0-565F-A966-873ABB618A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696200" cy="4876800"/>
          </a:xfrm>
        </p:spPr>
        <p:txBody>
          <a:bodyPr/>
          <a:lstStyle/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literal values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BETWEEN '2023-01-01' AND '2023-01-31'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Preceded by NOT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VendorZipCode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NOT BETWEEN 93600 AND 93799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test expression coded as a calculated value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PaymentTotal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CreditTotal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BETWEEN 200 AND 500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limits coded as calculated values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InvoiceDueDate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BETWEEN GETDATE() AND GETDATE() + 30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34659-95F0-1EC2-B8FC-CC58735B9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A62EF-BB9D-BDAD-ED72-65F14F48E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0B8E-F2D4-1FF1-F216-9F37A50F7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874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31E0-FA4B-D710-B275-579A7999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of the WHERE clause with a LIKE phrase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31959-B9D5-8680-A5F0-AEAA5C3260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143001"/>
            <a:ext cx="7391400" cy="9144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match_expression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[NOT] LIKE pattern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Wildcard symbols used in patterns</a:t>
            </a:r>
          </a:p>
          <a:p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5D41E8E2-AD73-D0AC-4F14-F81360F88F3E}"/>
              </a:ext>
            </a:extLst>
          </p:cNvPr>
          <p:cNvGraphicFramePr>
            <a:graphicFrameLocks noGrp="1"/>
          </p:cNvGraphicFramePr>
          <p:nvPr>
            <p:ph type="tbl" sz="quarter" idx="16"/>
            <p:extLst>
              <p:ext uri="{D42A27DB-BD31-4B8C-83A1-F6EECF244321}">
                <p14:modId xmlns:p14="http://schemas.microsoft.com/office/powerpoint/2010/main" val="2806128730"/>
              </p:ext>
            </p:extLst>
          </p:nvPr>
        </p:nvGraphicFramePr>
        <p:xfrm>
          <a:off x="1219200" y="2206081"/>
          <a:ext cx="6477000" cy="2377440"/>
        </p:xfrm>
        <a:graphic>
          <a:graphicData uri="http://schemas.openxmlformats.org/drawingml/2006/table">
            <a:tbl>
              <a:tblPr firstRow="1"/>
              <a:tblGrid>
                <a:gridCol w="1550788">
                  <a:extLst>
                    <a:ext uri="{9D8B030D-6E8A-4147-A177-3AD203B41FA5}">
                      <a16:colId xmlns:a16="http://schemas.microsoft.com/office/drawing/2014/main" val="3022107181"/>
                    </a:ext>
                  </a:extLst>
                </a:gridCol>
                <a:gridCol w="4926212">
                  <a:extLst>
                    <a:ext uri="{9D8B030D-6E8A-4147-A177-3AD203B41FA5}">
                      <a16:colId xmlns:a16="http://schemas.microsoft.com/office/drawing/2014/main" val="1670354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Symbol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Matches…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960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Any string of zero or more characters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666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_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Any single character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9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[ ]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single character listed within the brackets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363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[ - ]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single character within the given range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333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[ ^ ]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single character not listed after the caret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198112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61330-D25E-E69E-CF5C-4B42DF2D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CFDF3E-6ED6-B9D5-8633-C32508F9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983FC-DC80-31E1-6DB9-1B339D940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6802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6B974A0-59C6-1826-9641-7499ABAF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clauses that use the LIKE phrase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101347-D85C-AE19-02A5-5918A386D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LIKE 'SAN%'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"San Diego" and "Santa Ana"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LIKE 'COMPU_ER%'</a:t>
            </a:r>
          </a:p>
          <a:p>
            <a:pPr marL="0" marR="182880" indent="347345" fontAlgn="base">
              <a:spcBef>
                <a:spcPts val="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"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Compuserve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 and "Computerworld"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VendorContactLName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LIKE 'DAMI[EO]N'</a:t>
            </a:r>
          </a:p>
          <a:p>
            <a:pPr marL="0" marR="182880" indent="347345" fontAlgn="base">
              <a:spcBef>
                <a:spcPts val="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"Damien" and "Damion"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LIKE 'N[A-J]'</a:t>
            </a:r>
          </a:p>
          <a:p>
            <a:pPr marL="0" marR="182880" indent="347345" fontAlgn="base">
              <a:spcBef>
                <a:spcPts val="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"NC" and "NJ" but not "NV" or "NY"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LIKE 'N[^K-Y]'</a:t>
            </a:r>
          </a:p>
          <a:p>
            <a:pPr marL="0" marR="182880" indent="347345" fontAlgn="base">
              <a:spcBef>
                <a:spcPts val="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"NC" and "NJ" but not "NV" or "NY"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VendorZipCode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NOT LIKE '[1-9]%'</a:t>
            </a:r>
          </a:p>
          <a:p>
            <a:pPr marL="0" marR="182880" indent="347345" fontAlgn="base">
              <a:spcBef>
                <a:spcPts val="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"02107" and "08816"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E92C3-651A-CEFA-78F0-4297254AA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E198D-E7ED-9FD8-7560-8BBFED668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5E3D9A-F22E-A1A3-1F29-DEE5135BC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053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F8C710-A001-59F5-AAAE-BFF01A38C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r>
              <a:rPr lang="en-US" dirty="0"/>
              <a:t>The syntax of the WHERE clause </a:t>
            </a:r>
            <a:br>
              <a:rPr lang="en-US" dirty="0"/>
            </a:br>
            <a:r>
              <a:rPr lang="en-US" dirty="0"/>
              <a:t>with the IS NULL clause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9387DC-3441-0EC1-CDAF-2EB0D0EDDD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expression IS [NOT] NULL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2754B-B9A6-0F91-C2AC-59461285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3EDFC-225F-E988-F6AD-9BD29EA85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10F5-A66D-5B72-1FCE-96634DC2F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5038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284BEA9-1BC8-7E8D-0B53-48AB0934F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NullSample</a:t>
            </a:r>
            <a:r>
              <a:rPr lang="en-US" dirty="0"/>
              <a:t> table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72B89-6BB8-606D-B66E-2D818E556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689842"/>
          </a:xfrm>
        </p:spPr>
        <p:txBody>
          <a:bodyPr/>
          <a:lstStyle/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NullSample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10" name="Content Placeholder 9" descr="Title describes slide.">
            <a:extLst>
              <a:ext uri="{FF2B5EF4-FFF2-40B4-BE49-F238E27FC236}">
                <a16:creationId xmlns:a16="http://schemas.microsoft.com/office/drawing/2014/main" id="{4AB8B905-5897-4583-C57E-4D67F348455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1828800"/>
            <a:ext cx="2576470" cy="17526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46519-ECFD-B62B-EF93-639945976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9BA12-E58D-2D88-6AB3-501BB7767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D9745-F6BD-47B8-9EF1-DCD4BA08C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44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4252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411BA216-747C-EA74-8652-1026D79B7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Retrieve rows with zero and non-zero values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2CBEF2B-842F-3C08-1EFE-F4E1A1D846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 values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NullSample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</p:txBody>
      </p:sp>
      <p:pic>
        <p:nvPicPr>
          <p:cNvPr id="20" name="Content Placeholder 19" descr="Title describes slide.">
            <a:extLst>
              <a:ext uri="{FF2B5EF4-FFF2-40B4-BE49-F238E27FC236}">
                <a16:creationId xmlns:a16="http://schemas.microsoft.com/office/drawing/2014/main" id="{253CF81E-96CC-807B-2F35-2A58F5799B6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505" y="2409895"/>
            <a:ext cx="2526664" cy="866705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38EA810-F848-92DE-4343-7DA75D1CD2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800" y="3386002"/>
            <a:ext cx="7391400" cy="1414598"/>
          </a:xfrm>
        </p:spPr>
        <p:txBody>
          <a:bodyPr/>
          <a:lstStyle/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Non-zero values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NullSample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&lt;&gt; 0;</a:t>
            </a:r>
          </a:p>
          <a:p>
            <a:endParaRPr lang="en-US" dirty="0"/>
          </a:p>
        </p:txBody>
      </p:sp>
      <p:pic>
        <p:nvPicPr>
          <p:cNvPr id="21" name="Picture 20" descr="Title describes slide.">
            <a:extLst>
              <a:ext uri="{FF2B5EF4-FFF2-40B4-BE49-F238E27FC236}">
                <a16:creationId xmlns:a16="http://schemas.microsoft.com/office/drawing/2014/main" id="{E14D881C-572D-4352-671B-4D19B156D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760595"/>
            <a:ext cx="2564969" cy="8964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D64C8-5FD2-1B17-18CF-6ED2F5444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5BD499F-4C22-5396-5F9A-5A21523F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110CB-3E18-31F5-6DCB-A281F27C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2524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411BA216-747C-EA74-8652-1026D79B7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Retrieve rows with and without null values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2CBEF2B-842F-3C08-1EFE-F4E1A1D846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237735"/>
          </a:xfrm>
        </p:spPr>
        <p:txBody>
          <a:bodyPr/>
          <a:lstStyle/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null values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NullSample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NULL;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Title describes slide.">
            <a:extLst>
              <a:ext uri="{FF2B5EF4-FFF2-40B4-BE49-F238E27FC236}">
                <a16:creationId xmlns:a16="http://schemas.microsoft.com/office/drawing/2014/main" id="{9267D740-3421-8068-E2CF-F912DDC12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424386"/>
            <a:ext cx="2629428" cy="623614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38EA810-F848-92DE-4343-7DA75D1CD2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800" y="3276600"/>
            <a:ext cx="7391400" cy="1414598"/>
          </a:xfrm>
        </p:spPr>
        <p:txBody>
          <a:bodyPr/>
          <a:lstStyle/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18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null values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NullSample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NOT NULL;</a:t>
            </a:r>
          </a:p>
        </p:txBody>
      </p:sp>
      <p:pic>
        <p:nvPicPr>
          <p:cNvPr id="4" name="Picture 3" descr="Title describes slide.">
            <a:extLst>
              <a:ext uri="{FF2B5EF4-FFF2-40B4-BE49-F238E27FC236}">
                <a16:creationId xmlns:a16="http://schemas.microsoft.com/office/drawing/2014/main" id="{E1253209-D1B8-B560-9754-28332F0F7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648200"/>
            <a:ext cx="2294890" cy="130746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D64C8-5FD2-1B17-18CF-6ED2F5444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5BD499F-4C22-5396-5F9A-5A21523F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110CB-3E18-31F5-6DCB-A281F27C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46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767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7E1604B-AC32-7076-34D0-E33573AE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expanded syntax of the ORDER BY clause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54969B-46ED-51A6-4AD2-E972A63212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expression [</a:t>
            </a:r>
            <a:r>
              <a:rPr lang="en-US" sz="1800" b="1" u="sng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|DESC]</a:t>
            </a:r>
          </a:p>
          <a:p>
            <a:pPr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[, expression [</a:t>
            </a:r>
            <a:r>
              <a:rPr lang="en-US" sz="1800" b="1" u="sng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|DESC]] ...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C85A3-B07A-8A90-F86D-C26E525EA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DA98E-A46D-D531-6B25-2213CD7BD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E819BE-F3E2-AA0C-F35F-830AD09A3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904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A585-B442-7AE3-D33C-E0087B8E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ORDER BY clause that sorts by one column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24610-BC6C-E07E-58E6-5CC92342EC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062758"/>
            <a:ext cx="8077200" cy="17566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', ' +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 ' + </a:t>
            </a:r>
            <a:b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VendorZipCode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Address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Vendors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8" name="Content Placeholder 7" descr="Title describes slide.">
            <a:extLst>
              <a:ext uri="{FF2B5EF4-FFF2-40B4-BE49-F238E27FC236}">
                <a16:creationId xmlns:a16="http://schemas.microsoft.com/office/drawing/2014/main" id="{24175829-06F1-75B3-6F3F-98AF6C43991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399" y="2666999"/>
            <a:ext cx="7320533" cy="104211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852EB-E68D-CAA4-7F45-94D4BC3E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483E4-966F-FE11-3BC0-573C1E8FD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0A6C6-0AC8-F73E-2CA6-39A8D2FA1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8991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7074-1762-E448-2F89-3673C13A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default sequence for an ascending sort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FE46-B112-7A1E-1EBB-634720625E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Nulls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Special characters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Numbers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Letters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7D6A4-ACE9-2FDF-258A-360998CFA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C90BF-D0A3-2A53-2782-4C04FBBA3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6E3A5-AF85-F389-6FA7-29C7110B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3781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01743F7-EFC9-C73F-57BC-F250D73E4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r>
              <a:rPr lang="en-US" dirty="0"/>
              <a:t>An ORDER BY clause that sorts by one column </a:t>
            </a:r>
            <a:br>
              <a:rPr lang="en-US" dirty="0"/>
            </a:br>
            <a:r>
              <a:rPr lang="en-US" dirty="0"/>
              <a:t>in descending sequence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23B8AF-F0EA-303E-7294-B9D2B7F588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463040"/>
            <a:ext cx="8077200" cy="135636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',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VendorZipCode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AS Address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Vendors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  <a:p>
            <a:endParaRPr lang="en-US" dirty="0"/>
          </a:p>
        </p:txBody>
      </p:sp>
      <p:pic>
        <p:nvPicPr>
          <p:cNvPr id="9" name="Picture 8" descr="Title describes slide.">
            <a:extLst>
              <a:ext uri="{FF2B5EF4-FFF2-40B4-BE49-F238E27FC236}">
                <a16:creationId xmlns:a16="http://schemas.microsoft.com/office/drawing/2014/main" id="{8EACE7C2-AF84-B595-6C94-6F2901FC5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95600"/>
            <a:ext cx="7315200" cy="10517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3BA00-8148-8930-EAFE-A141FD0C4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79B61-E87B-45EC-89B0-9FD8DFD1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FA3BE-E04C-FC36-A829-E1F92923E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339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C166E22-29F1-5A89-E450-2A029FAAE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ORDER BY clause that sorts by three columns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BC4FF2C-1C4F-441D-36DA-FB3640AC3F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062758"/>
            <a:ext cx="77470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',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VendorZipCode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AS Address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Vendors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dirty="0"/>
          </a:p>
        </p:txBody>
      </p:sp>
      <p:pic>
        <p:nvPicPr>
          <p:cNvPr id="13" name="Content Placeholder 12" descr="Title describes slide.">
            <a:extLst>
              <a:ext uri="{FF2B5EF4-FFF2-40B4-BE49-F238E27FC236}">
                <a16:creationId xmlns:a16="http://schemas.microsoft.com/office/drawing/2014/main" id="{C46FD9F9-9D1F-A9AA-2BA5-EC5A3654B41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83085" y="2495666"/>
            <a:ext cx="7355004" cy="253353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E7A74-1C93-824E-722A-6D64209B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DDBB1-C066-B720-509D-8481B5800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4F2F5-3052-CCB9-B65D-3D584D57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51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6871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40EB-44D4-1A36-298E-DD658A28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ORDER BY clause that uses an alias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E33F6-14E9-0EAA-D2BE-9DEA2F205E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066800"/>
            <a:ext cx="83820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',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VendorZipCode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AS Address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Vendors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Address,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dirty="0"/>
          </a:p>
        </p:txBody>
      </p:sp>
      <p:pic>
        <p:nvPicPr>
          <p:cNvPr id="7" name="Picture 6" descr="Title describes slide.">
            <a:extLst>
              <a:ext uri="{FF2B5EF4-FFF2-40B4-BE49-F238E27FC236}">
                <a16:creationId xmlns:a16="http://schemas.microsoft.com/office/drawing/2014/main" id="{D18BF8E7-0298-0FD3-4B4B-E60BCF877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8409"/>
            <a:ext cx="7315200" cy="103958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E4899-2870-FBF8-F313-EB8EB1AD9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C738E-FD8A-9CDD-03A6-6DECF6911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C998A-B9C9-7CE7-AEC8-EB3427D9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7161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40EB-44D4-1A36-298E-DD658A28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ORDER BY clause that uses an expression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E33F6-14E9-0EAA-D2BE-9DEA2F205E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066800"/>
            <a:ext cx="83820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',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VendorZipCode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AS Address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Vendors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VendorContactLName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VendorContactFName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8" name="Picture 7" descr="Title describes slide.">
            <a:extLst>
              <a:ext uri="{FF2B5EF4-FFF2-40B4-BE49-F238E27FC236}">
                <a16:creationId xmlns:a16="http://schemas.microsoft.com/office/drawing/2014/main" id="{2DB5A283-D0C8-119D-9719-8BDF11069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26030"/>
            <a:ext cx="7315200" cy="104011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E4899-2870-FBF8-F313-EB8EB1AD9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C738E-FD8A-9CDD-03A6-6DECF6911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C998A-B9C9-7CE7-AEC8-EB3427D9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4401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40EB-44D4-1A36-298E-DD658A28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ORDER BY clause that uses column positions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E33F6-14E9-0EAA-D2BE-9DEA2F205E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066800"/>
            <a:ext cx="83820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',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' '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VendorZipCode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AS Address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Vendors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2, 1;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7" name="Picture 6" descr="Title describes slide.">
            <a:extLst>
              <a:ext uri="{FF2B5EF4-FFF2-40B4-BE49-F238E27FC236}">
                <a16:creationId xmlns:a16="http://schemas.microsoft.com/office/drawing/2014/main" id="{E4BA6EFF-ED80-8D0F-A4B4-FBBEFBECC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599"/>
            <a:ext cx="7315200" cy="105183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E4899-2870-FBF8-F313-EB8EB1AD9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C738E-FD8A-9CDD-03A6-6DECF6911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C998A-B9C9-7CE7-AEC8-EB3427D9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0656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8AB09C-A5A3-480A-A3AB-F6989B2D7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r>
              <a:rPr lang="en-US" dirty="0"/>
              <a:t>The syntax of the ORDER BY clause </a:t>
            </a:r>
            <a:br>
              <a:rPr lang="en-US" dirty="0"/>
            </a:br>
            <a:r>
              <a:rPr lang="en-US" dirty="0"/>
              <a:t>for retrieving a range of rows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4DA680-434A-94F0-AA61-76B3153956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71600"/>
            <a:ext cx="7391400" cy="4495800"/>
          </a:xfrm>
        </p:spPr>
        <p:txBody>
          <a:bodyPr/>
          <a:lstStyle/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order_by_list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OFFSET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offset_row_count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{ROW|ROWS}</a:t>
            </a:r>
          </a:p>
          <a:p>
            <a:pPr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[FETCH {FIRST|NEXT}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fetch_row_count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{ROW|ROWS} ONLY]</a:t>
            </a:r>
          </a:p>
          <a:p>
            <a:pPr marL="0" marR="0" fontAlgn="base">
              <a:spcBef>
                <a:spcPts val="12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ORDER BY clause that retrieves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first five rows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VendorID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Invoices</a:t>
            </a:r>
          </a:p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InvoiceTotal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DESC</a:t>
            </a:r>
          </a:p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OFFSET 0 ROWS</a:t>
            </a:r>
          </a:p>
          <a:p>
            <a:pPr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FETCH FIRST 5 ROWS ONLY;</a:t>
            </a:r>
          </a:p>
          <a:p>
            <a:endParaRPr lang="en-US" dirty="0"/>
          </a:p>
        </p:txBody>
      </p:sp>
      <p:pic>
        <p:nvPicPr>
          <p:cNvPr id="9" name="Content Placeholder 8" descr="Refer to page 121 in textbook.">
            <a:extLst>
              <a:ext uri="{FF2B5EF4-FFF2-40B4-BE49-F238E27FC236}">
                <a16:creationId xmlns:a16="http://schemas.microsoft.com/office/drawing/2014/main" id="{CBF6EFD3-C0AA-46B7-A0BC-E18724179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4400" y="4543425"/>
            <a:ext cx="6835775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31AED-195F-9598-30B6-4410783B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083292-A180-E818-A969-C475936C4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A3B08-A4B1-5CE8-2B02-F84912D69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5806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14DAA-0E5E-92BB-866F-54FE47C2C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r>
              <a:rPr lang="en-US" dirty="0"/>
              <a:t>An ORDER BY clause that retrieves </a:t>
            </a:r>
            <a:br>
              <a:rPr lang="en-US" dirty="0"/>
            </a:br>
            <a:r>
              <a:rPr lang="en-US" dirty="0"/>
              <a:t>rows 11 through 20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84AB5-542D-1455-D6E8-663812BAE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1584960"/>
          </a:xfrm>
        </p:spPr>
        <p:txBody>
          <a:bodyPr/>
          <a:lstStyle/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VendorZipCode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Vendors</a:t>
            </a:r>
          </a:p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VendorState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'CA'</a:t>
            </a:r>
          </a:p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VendorCity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  <a:tabLst>
                <a:tab pos="1371600" algn="l"/>
                <a:tab pos="1371600" algn="l"/>
                <a:tab pos="203962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OFFSET 10 ROWS</a:t>
            </a:r>
          </a:p>
          <a:p>
            <a:pPr marR="0">
              <a:spcBef>
                <a:spcPts val="0"/>
              </a:spcBef>
              <a:spcAft>
                <a:spcPts val="12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FETCH NEXT 10 ROWS ONLY;</a:t>
            </a:r>
          </a:p>
          <a:p>
            <a:endParaRPr lang="en-US" sz="1800" dirty="0"/>
          </a:p>
        </p:txBody>
      </p:sp>
      <p:pic>
        <p:nvPicPr>
          <p:cNvPr id="7" name="Picture 6" descr="Title describes slide.">
            <a:extLst>
              <a:ext uri="{FF2B5EF4-FFF2-40B4-BE49-F238E27FC236}">
                <a16:creationId xmlns:a16="http://schemas.microsoft.com/office/drawing/2014/main" id="{70464B10-FA34-7265-69FB-15F652E26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4200"/>
            <a:ext cx="6950710" cy="26860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8885B-8A56-A054-C520-21E7F23D1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F3CB8-8328-7A31-2E8D-2BDC77B24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Murach’s SQL Server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59B8D-7069-AF5D-6BB8-76825383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07468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0A271138-EF40-43CF-B1D6-2A17D400D419}" vid="{7BCE82F2-E32A-4E55-A097-B4E12B0256E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 - new format for SQL Server</Template>
  <TotalTime>1536</TotalTime>
  <Words>2576</Words>
  <Application>Microsoft Office PowerPoint</Application>
  <PresentationFormat>On-screen Show (4:3)</PresentationFormat>
  <Paragraphs>510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Arial Narrow</vt:lpstr>
      <vt:lpstr>Courier New</vt:lpstr>
      <vt:lpstr>Symbol</vt:lpstr>
      <vt:lpstr>Times New Roman</vt:lpstr>
      <vt:lpstr>Master slides_with_titles_logo</vt:lpstr>
      <vt:lpstr>Murach’s SQL Server 2022 for Developers</vt:lpstr>
      <vt:lpstr>Objectives</vt:lpstr>
      <vt:lpstr>Objectives (continued)</vt:lpstr>
      <vt:lpstr>The simplified syntax of the SELECT statement</vt:lpstr>
      <vt:lpstr>A simple SELECT statement (114 rows)</vt:lpstr>
      <vt:lpstr>A SELECT statement that retrieves and sorts rows (114 rows)</vt:lpstr>
      <vt:lpstr>A statement that retrieves a calculated value</vt:lpstr>
      <vt:lpstr>A statement that gets the invoices  between given dates (35 rows)</vt:lpstr>
      <vt:lpstr>A statement that returns an empty result set</vt:lpstr>
      <vt:lpstr>The expanded syntax of the SELECT clause</vt:lpstr>
      <vt:lpstr>Five ways to code column specifications</vt:lpstr>
      <vt:lpstr>Column specifications that use base table values</vt:lpstr>
      <vt:lpstr>Column specifications that use calculated values</vt:lpstr>
      <vt:lpstr>Named columns in the result set</vt:lpstr>
      <vt:lpstr>Calculated columns that aren’t named</vt:lpstr>
      <vt:lpstr>How to concatenate string data</vt:lpstr>
      <vt:lpstr>How to format string data using literal values</vt:lpstr>
      <vt:lpstr>How to include apostrophes in literal values</vt:lpstr>
      <vt:lpstr>The arithmetic operators in order of precedence</vt:lpstr>
      <vt:lpstr>A statement that calculates the balance due</vt:lpstr>
      <vt:lpstr>A statement that uses parentheses  to control the order of operations </vt:lpstr>
      <vt:lpstr>A statement that uses the modulo operator</vt:lpstr>
      <vt:lpstr>A statement that uses the LEFT function</vt:lpstr>
      <vt:lpstr>A statement that uses the CONVERT function</vt:lpstr>
      <vt:lpstr>A statement that computes the age of an invoice</vt:lpstr>
      <vt:lpstr>A SELECT statement that returns all rows  (122 rows)</vt:lpstr>
      <vt:lpstr>A statement that eliminates duplicate rows  (53 rows)</vt:lpstr>
      <vt:lpstr>A SELECT statement with a TOP clause</vt:lpstr>
      <vt:lpstr>A SELECT statement with the TOP clause  and PERCENT keyword</vt:lpstr>
      <vt:lpstr>A SELECT statement with a TOP clause  and WITH TIES keyword</vt:lpstr>
      <vt:lpstr>Syntax for a WHERE clause with  comparison operators</vt:lpstr>
      <vt:lpstr>WHERE clauses that retrieve…</vt:lpstr>
      <vt:lpstr>Syntax for a WHERE clause with logical operators</vt:lpstr>
      <vt:lpstr>WHERE clauses that use logical operators</vt:lpstr>
      <vt:lpstr>A compound condition without parentheses  (34 rows)</vt:lpstr>
      <vt:lpstr>The same compound condition with parentheses (11 rows)</vt:lpstr>
      <vt:lpstr>Syntax of the WHERE clause with an IN phrase</vt:lpstr>
      <vt:lpstr>WHERE clauses that use the IN phrase</vt:lpstr>
      <vt:lpstr>The syntax of the WHERE clause  with a BETWEEN phrase</vt:lpstr>
      <vt:lpstr>WHERE clauses that use the BETWEEN phrase</vt:lpstr>
      <vt:lpstr>Syntax of the WHERE clause with a LIKE phrase</vt:lpstr>
      <vt:lpstr>WHERE clauses that use the LIKE phrase</vt:lpstr>
      <vt:lpstr>The syntax of the WHERE clause  with the IS NULL clause</vt:lpstr>
      <vt:lpstr>The NullSample table</vt:lpstr>
      <vt:lpstr>Retrieve rows with zero and non-zero values</vt:lpstr>
      <vt:lpstr>Retrieve rows with and without null values</vt:lpstr>
      <vt:lpstr>The expanded syntax of the ORDER BY clause</vt:lpstr>
      <vt:lpstr>An ORDER BY clause that sorts by one column</vt:lpstr>
      <vt:lpstr>The default sequence for an ascending sort</vt:lpstr>
      <vt:lpstr>An ORDER BY clause that sorts by one column  in descending sequence</vt:lpstr>
      <vt:lpstr>An ORDER BY clause that sorts by three columns</vt:lpstr>
      <vt:lpstr>An ORDER BY clause that uses an alias</vt:lpstr>
      <vt:lpstr>An ORDER BY clause that uses an expression</vt:lpstr>
      <vt:lpstr>An ORDER BY clause that uses column positions</vt:lpstr>
      <vt:lpstr>The syntax of the ORDER BY clause  for retrieving a range of rows</vt:lpstr>
      <vt:lpstr>An ORDER BY clause that retrieves  rows 11 through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Murach’s SQL Server 2022</dc:title>
  <dc:creator>Joel Murach</dc:creator>
  <cp:lastModifiedBy>Joel Murach</cp:lastModifiedBy>
  <cp:revision>48</cp:revision>
  <cp:lastPrinted>2016-01-14T23:03:16Z</cp:lastPrinted>
  <dcterms:created xsi:type="dcterms:W3CDTF">2023-05-24T18:11:30Z</dcterms:created>
  <dcterms:modified xsi:type="dcterms:W3CDTF">2025-01-21T22:46:01Z</dcterms:modified>
</cp:coreProperties>
</file>