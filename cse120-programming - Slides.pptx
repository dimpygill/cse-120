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2" d="100"/>
          <a:sy n="102" d="100"/>
        </p:scale>
        <p:origin x="36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551789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 Module 1. Today we start from absolute zero.
Over this module students will learn what programming is, how Python works, and write real programs with variables, decisions, and loops. By the end they'll have a working Temperature Monitor program.
Take it slow. Every concept is explained before we use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as a roadmap. Refer back between parts so students always know where they are.
Highlight Parts 8 and 9 — Loops is the biggest section today, and the Final Challenge in Debugging pulls everything together.
Functions are NOT in this module — that comes in a future module.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have you ever had to give very exact instructions to someone?
Emphasize "exactly" — computers do exactly what you tell them, no more, no less. They don't guess, they don't infer.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can anyone name a programming language they've heard of?
The key concept is abstraction — we don't need to know machine code.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currently powers ChatGPT, Instagram, Netflix, and thousands of scientific research tools.
The syntax gets out of the way so students can focus on learning to think like a programmer.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Drill these four terms — they come up constantly.
Emphasize "interpreter" — reads and executes one line at a time.
Ask: if the interpreter reads one line at a time, what happens if line 3 has an error?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every character. Don't rush this slide. Let students process each part.
print → built-in command. ( ) → wrap what we want to display. " " → signals text. Hello, world! → text that appears on screen.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30 seconds to write down a prediction. Then ask for a show of hands.
This is very easy — the goal is to build confidence and establish the habit of predicting before running.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2 minutes. Walk around. Common mistakes:
- Students who delete the quotes
- Students who change "print" thinking that's the message
Fix: change the text INSIDE the quotes.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most important mindset shifts.
Professional engineers often spend more time designing the solution than writing code. Planning prevents bugs.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what's your algorithm for making a cup of coffee?
Students will naturally describe steps — that IS an algorithm. Programming makes it precise enough for a computer.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we haven't written a single line of Python yet and we've already solved the problem in English.
Engineers define what they know and what they want before any code.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line of the algorithm maps directly to one line of Python.
Algorithm step = Python line. This direct mapping is why we plan first.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where does Python store variables? In the computer's RAM — temporary memory that exists while the program runs.
Emphasize: the = symbol does NOT mean "equals" in the math sense. It means "store this value."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naming is one of the most important skills in programming.
Professional code gets read by other people. A variable named "x" forces the reader to guess what it stores.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confuses almost every beginner. Spend time here.
Write on the board: count = count + 1. Ask: is this possible in math? No. But in Python it means "update count."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2 minutes. Answer: 10 → 15 → 30. Output: 30.
Make sure students understand x = x + 5 means "old value of x plus 5 stored back."</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 types matter? Python behaves differently based on type.
"5" + "3" = "53" (string join), but 5 + 3 = 8 (math). The value looks the same but the type changes everything.</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common type error for beginners.
Ask: if you add "3" + "3", what do you get? "33" not 6! The quotes make all the difference.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 happens if you type a number but forget to convert with int()?
You get a string! "42" + 10 crashes with TypeError.</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thinking point: students must recognize they need float() before adding.
Give 3 minutes. Then ask: what happens if you skip the conversion?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sure students run each operator in Python to see the result.
Modulo is hardest to grasp — show: 7 % 3 = 1 (7 = 3×2 + 1, remainder is 1). Useful for "is this number even?"</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parentheses in the temperature formula.
Order of operations: Python follows PEMDAS, same as math. Parentheses first.</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 vs == confusion is one of the most common early bugs.
Ask: what happens if you use = inside an if condition? SyntaxError in Python 3.</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levels — introduce them in order.
Ask: what prints if temperature = 85?
Answer: "Warning." because 85 is not &gt; 100, but 85 IS &gt; 80.</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95 &gt; 100? No. 95 &gt; 80? Yes → "Warning."
Key point: conditions are checked in order, top to bottom. The first True one wins.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engineering example: a temperature sensor might produce 1,440 readings per day (one per minute). You can't write 1,440 lines of code — you use a loop.</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every part explicitly. Most students need this broken down.
for = "do this repeatedly". i = loop variable. range(5) = sequence of 5 values.</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on the board: range(5) → 0,1,2,3,4. NOT 1,2,3,4,5.
This is one of the most common loop mistakes. Ask: how many numbers does range(5) produce? Five. What are they? 0,1,2,3,4.</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question: does it print "Message number 1" or "Message number 0" first?
Answer: Message number 0 — i starts at 0.</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range(5) gives 0 through 4. The loop runs 5 times but i goes from 0 to 4, not 1 to 5.</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 two changes do you need for the 5 times table from 1 to 12?
Change 3 to 5, change range(1,11) to range(1,13).</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pattern: always set total = 0 BEFORE the loop, then add to it inside. This is called the accumulation pattern — one of the most useful in programming.</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total = 15 (which is 1+2+3+4+5). The accumulator starts at 0 and grows with each iteration.</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engineering context: temperature sensors, voltage monitors, load cells — all use this pattern.
Emphasize: the average line must be OUTSIDE the loop. Inside = computes 5 averages using partial totals.</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Indentation is the key point on this slide.
The if/else is indented inside the for loop — so it runs once per iteration.
Answer: 95 not &gt; 100 → Safe. 107 &gt; 100 → Danger. 88 not &gt; 100 → Safe.</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danger_count starts at 0 and only increases when a reading is dangerous.
Final output: Dangerous readings: 2</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output: Dangerous readings: 2
Two readings (110 and 102) exceeded the threshold. The counter only increments on the True branch of the if.</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fundamental difference: for = "do this N times". while = "do this until something changes."
Both are loops. Choose based on what you know at the time you write the code.</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parts of every while loop:
1. Initialize the variable before the loop (count = 1)
2. Test the condition (count &lt;= 5)
3. Update the variable inside the loop (count = count + 1)
Without step 3: infinite loop!</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5, 4, 3, 2, 1, Blast off! 🚀
The loop subtracts 1 each time. When countdown reaches 0, the condition countdown &gt; 0 is False, loop ends, Blast off! prints.</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example shows why while loops exist — the number of iterations is unknown in advance.
The loop body must eventually make the condition False. Here the user provides the value that does it.</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many cycles run? 6 cycles (100, 85, 70, 55, 40, 25 all &gt; 20). When battery drops to 10, the condition fails.
Final output: Low battery! 10 %</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loop runs 6 times. Battery: 100 → 85 → 70 → 55 → 40 → 25 → 10.
At 10, the condition "10 &gt; 20" is False. Loop ends. "Low battery!" prints with the final battery level.</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possible, demo an infinite loop (Ctrl+C ready). Students find this memorable.
Rule: always make sure something inside the loop eventually makes the condition False.</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a few quick "for or while?" scenarios:
- "Read temperatures until one exceeds 100" → while
- "Print the 7 times table" → for
- "Ask user to re-enter a positive number" → while</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a story: even senior engineers at Google spend significant time debugging. It's not a beginner problem — it's a programmer problem.
Encourage students: when something breaks, that's learning happening.</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Logic errors are the sneakiest — Python does exactly what you told it, even if it's wrong.
Ask: which is easiest to fix? Syntax (told where). Hardest? Logic (no hint at all).</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Syntax Error. Missing quotation marks around Hello, world!
Without quotes, Python thinks Hello and world are variable names that don't exist.</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Bug #2: IndentationError — print must be inside the for loop (4 spaces in).
Bug #3: SyntaxError — = is assignment, == is comparison. Conditions always need ==.</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answer: it prints "3.33.3" — the string "3.3" duplicated, not 6.6.
input() always returns a string, and string * 2 = string doubled, not number × 2.</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give students the answer immediately. Walk through the decomposition first.
Ask: what's the first thing we need? total = 0. Then the for loop. Inside: get input, check, add to total. After: divide for average.
Give 15-20 minutes.</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structure:
1. total = 0 initialized BEFORE the loop
2. Inside loop: get input → check it → add to total
3. After loop: divide total by readings for average
No functions needed — just variables, loops, and if/else.</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5 minutes on this slide. Ask students: which part was hardest? Which made the most sense?
Note: Functions are coming in a future module.
The knowledge check quiz (15 questions in the tutorial) can be assigned as homework or done in class.</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767"/>
        </a:solidFill>
        <a:effectLst/>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03767"/>
          </a:solidFill>
          <a:ln w="12700">
            <a:solidFill>
              <a:srgbClr val="003767"/>
            </a:solidFill>
            <a:prstDash val="solid"/>
          </a:ln>
        </p:spPr>
        <p:txBody>
          <a:bodyPr/>
          <a:lstStyle/>
          <a:p>
            <a:endParaRPr lang="en-US"/>
          </a:p>
        </p:txBody>
      </p:sp>
      <p:sp>
        <p:nvSpPr>
          <p:cNvPr id="3" name="Shape 1"/>
          <p:cNvSpPr/>
          <p:nvPr/>
        </p:nvSpPr>
        <p:spPr>
          <a:xfrm>
            <a:off x="0" y="5303520"/>
            <a:ext cx="12161520" cy="1554480"/>
          </a:xfrm>
          <a:prstGeom prst="rect">
            <a:avLst/>
          </a:prstGeom>
          <a:solidFill>
            <a:srgbClr val="001F40"/>
          </a:solidFill>
          <a:ln w="12700">
            <a:solidFill>
              <a:srgbClr val="001F40"/>
            </a:solidFill>
            <a:prstDash val="solid"/>
          </a:ln>
        </p:spPr>
        <p:txBody>
          <a:bodyPr/>
          <a:lstStyle/>
          <a:p>
            <a:endParaRPr lang="en-US"/>
          </a:p>
        </p:txBody>
      </p:sp>
      <p:sp>
        <p:nvSpPr>
          <p:cNvPr id="4" name="Text 2"/>
          <p:cNvSpPr txBox="1"/>
          <p:nvPr/>
        </p:nvSpPr>
        <p:spPr>
          <a:xfrm>
            <a:off x="731520" y="1645920"/>
            <a:ext cx="10698480" cy="2286000"/>
          </a:xfrm>
          <a:prstGeom prst="rect">
            <a:avLst/>
          </a:prstGeom>
          <a:noFill/>
          <a:ln/>
        </p:spPr>
        <p:txBody>
          <a:bodyPr wrap="square" rtlCol="0" anchor="ctr"/>
          <a:lstStyle/>
          <a:p>
            <a:pPr marL="0" indent="0" algn="ctr">
              <a:buNone/>
            </a:pPr>
            <a:r>
              <a:rPr lang="en-US" sz="4400" b="1" dirty="0">
                <a:solidFill>
                  <a:srgbClr val="FFFFFF"/>
                </a:solidFill>
              </a:rPr>
              <a:t>Software &amp; Programming</a:t>
            </a:r>
            <a:endParaRPr lang="en-US" sz="4400" dirty="0"/>
          </a:p>
        </p:txBody>
      </p:sp>
      <p:sp>
        <p:nvSpPr>
          <p:cNvPr id="5" name="Text 3"/>
          <p:cNvSpPr txBox="1"/>
          <p:nvPr/>
        </p:nvSpPr>
        <p:spPr>
          <a:xfrm>
            <a:off x="731520" y="4023360"/>
            <a:ext cx="10698480" cy="1097280"/>
          </a:xfrm>
          <a:prstGeom prst="rect">
            <a:avLst/>
          </a:prstGeom>
          <a:noFill/>
          <a:ln/>
        </p:spPr>
        <p:txBody>
          <a:bodyPr wrap="square" rtlCol="0" anchor="ctr"/>
          <a:lstStyle/>
          <a:p>
            <a:pPr marL="0" indent="0" algn="ctr">
              <a:buNone/>
            </a:pPr>
            <a:r>
              <a:rPr lang="en-US" sz="1800" dirty="0">
                <a:solidFill>
                  <a:srgbClr val="A8C8E8"/>
                </a:solidFill>
              </a:rPr>
              <a:t>CSE 120 — Module 1  ·  Your first steps into programming — no experience required.</a:t>
            </a:r>
            <a:endParaRPr lang="en-US" sz="1800" dirty="0"/>
          </a:p>
        </p:txBody>
      </p:sp>
      <p:sp>
        <p:nvSpPr>
          <p:cNvPr id="6" name="Text 4"/>
          <p:cNvSpPr txBox="1"/>
          <p:nvPr/>
        </p:nvSpPr>
        <p:spPr>
          <a:xfrm>
            <a:off x="731520" y="5577840"/>
            <a:ext cx="10698480" cy="731520"/>
          </a:xfrm>
          <a:prstGeom prst="rect">
            <a:avLst/>
          </a:prstGeom>
          <a:noFill/>
          <a:ln/>
        </p:spPr>
        <p:txBody>
          <a:bodyPr wrap="square" rtlCol="0" anchor="ctr"/>
          <a:lstStyle/>
          <a:p>
            <a:pPr marL="0" indent="0" algn="ctr">
              <a:buNone/>
            </a:pPr>
            <a:r>
              <a:rPr lang="en-US" sz="1400" dirty="0">
                <a:solidFill>
                  <a:srgbClr val="6699BB"/>
                </a:solidFill>
              </a:rPr>
              <a:t>CSE 120 — Module 1</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822960"/>
          </a:xfrm>
          <a:prstGeom prst="rect">
            <a:avLst/>
          </a:prstGeom>
          <a:solidFill>
            <a:srgbClr val="003767"/>
          </a:solidFill>
          <a:ln w="12700">
            <a:solidFill>
              <a:srgbClr val="003767"/>
            </a:solidFill>
            <a:prstDash val="solid"/>
          </a:ln>
        </p:spPr>
        <p:txBody>
          <a:bodyPr/>
          <a:lstStyle/>
          <a:p>
            <a:endParaRPr lang="en-US"/>
          </a:p>
        </p:txBody>
      </p:sp>
      <p:sp>
        <p:nvSpPr>
          <p:cNvPr id="3" name="Text 1"/>
          <p:cNvSpPr txBox="1"/>
          <p:nvPr/>
        </p:nvSpPr>
        <p:spPr>
          <a:xfrm>
            <a:off x="274320" y="73152"/>
            <a:ext cx="11612880" cy="685800"/>
          </a:xfrm>
          <a:prstGeom prst="rect">
            <a:avLst/>
          </a:prstGeom>
          <a:noFill/>
          <a:ln/>
        </p:spPr>
        <p:txBody>
          <a:bodyPr wrap="square" rtlCol="0" anchor="ctr"/>
          <a:lstStyle/>
          <a:p>
            <a:pPr marL="0" indent="0">
              <a:buNone/>
            </a:pPr>
            <a:r>
              <a:rPr lang="en-US" sz="2000" b="1" dirty="0">
                <a:solidFill>
                  <a:srgbClr val="FFFFFF"/>
                </a:solidFill>
              </a:rPr>
              <a:t>What We'll Cover in Module 1</a:t>
            </a:r>
            <a:endParaRPr lang="en-US" sz="2000" dirty="0"/>
          </a:p>
        </p:txBody>
      </p:sp>
      <p:sp>
        <p:nvSpPr>
          <p:cNvPr id="4" name="Text 2"/>
          <p:cNvSpPr txBox="1"/>
          <p:nvPr/>
        </p:nvSpPr>
        <p:spPr>
          <a:xfrm>
            <a:off x="914400" y="960120"/>
            <a:ext cx="10332720" cy="5577840"/>
          </a:xfrm>
          <a:prstGeom prst="rect">
            <a:avLst/>
          </a:prstGeom>
          <a:noFill/>
          <a:ln/>
        </p:spPr>
        <p:txBody>
          <a:bodyPr wrap="square" rtlCol="0" anchor="ctr"/>
          <a:lstStyle/>
          <a:p>
            <a:pPr marL="342900" indent="-342900">
              <a:spcAft>
                <a:spcPts val="800"/>
              </a:spcAft>
              <a:buSzPct val="100000"/>
              <a:buChar char="•"/>
            </a:pPr>
            <a:r>
              <a:rPr lang="en-US" sz="1600" dirty="0">
                <a:solidFill>
                  <a:srgbClr val="1A1A2E"/>
                </a:solidFill>
              </a:rPr>
              <a:t>Part 1  — What Is Programming?</a:t>
            </a:r>
            <a:endParaRPr lang="en-US" sz="1600" dirty="0"/>
          </a:p>
          <a:p>
            <a:pPr marL="342900" indent="-342900">
              <a:spcAft>
                <a:spcPts val="800"/>
              </a:spcAft>
              <a:buSzPct val="100000"/>
              <a:buChar char="•"/>
            </a:pPr>
            <a:r>
              <a:rPr lang="en-US" sz="1600" dirty="0">
                <a:solidFill>
                  <a:srgbClr val="1A1A2E"/>
                </a:solidFill>
              </a:rPr>
              <a:t>Part 2  — From a Problem to a Program</a:t>
            </a:r>
            <a:endParaRPr lang="en-US" sz="1600" dirty="0"/>
          </a:p>
          <a:p>
            <a:pPr marL="342900" indent="-342900">
              <a:spcAft>
                <a:spcPts val="800"/>
              </a:spcAft>
              <a:buSzPct val="100000"/>
              <a:buChar char="•"/>
            </a:pPr>
            <a:r>
              <a:rPr lang="en-US" sz="1600" dirty="0">
                <a:solidFill>
                  <a:srgbClr val="1A1A2E"/>
                </a:solidFill>
              </a:rPr>
              <a:t>Part 3  — Variables</a:t>
            </a:r>
            <a:endParaRPr lang="en-US" sz="1600" dirty="0"/>
          </a:p>
          <a:p>
            <a:pPr marL="342900" indent="-342900">
              <a:spcAft>
                <a:spcPts val="800"/>
              </a:spcAft>
              <a:buSzPct val="100000"/>
              <a:buChar char="•"/>
            </a:pPr>
            <a:r>
              <a:rPr lang="en-US" sz="1600" dirty="0">
                <a:solidFill>
                  <a:srgbClr val="1A1A2E"/>
                </a:solidFill>
              </a:rPr>
              <a:t>Part 4  — Data Types</a:t>
            </a:r>
            <a:endParaRPr lang="en-US" sz="1600" dirty="0"/>
          </a:p>
          <a:p>
            <a:pPr marL="342900" indent="-342900">
              <a:spcAft>
                <a:spcPts val="800"/>
              </a:spcAft>
              <a:buSzPct val="100000"/>
              <a:buChar char="•"/>
            </a:pPr>
            <a:r>
              <a:rPr lang="en-US" sz="1600" dirty="0">
                <a:solidFill>
                  <a:srgbClr val="1A1A2E"/>
                </a:solidFill>
              </a:rPr>
              <a:t>Part 5  — Input and Output</a:t>
            </a:r>
            <a:endParaRPr lang="en-US" sz="1600" dirty="0"/>
          </a:p>
          <a:p>
            <a:pPr marL="342900" indent="-342900">
              <a:spcAft>
                <a:spcPts val="800"/>
              </a:spcAft>
              <a:buSzPct val="100000"/>
              <a:buChar char="•"/>
            </a:pPr>
            <a:r>
              <a:rPr lang="en-US" sz="1600" dirty="0">
                <a:solidFill>
                  <a:srgbClr val="1A1A2E"/>
                </a:solidFill>
              </a:rPr>
              <a:t>Part 6  — Expressions and Operators</a:t>
            </a:r>
            <a:endParaRPr lang="en-US" sz="1600" dirty="0"/>
          </a:p>
          <a:p>
            <a:pPr marL="342900" indent="-342900">
              <a:spcAft>
                <a:spcPts val="800"/>
              </a:spcAft>
              <a:buSzPct val="100000"/>
              <a:buChar char="•"/>
            </a:pPr>
            <a:r>
              <a:rPr lang="en-US" sz="1600" dirty="0">
                <a:solidFill>
                  <a:srgbClr val="1A1A2E"/>
                </a:solidFill>
              </a:rPr>
              <a:t>Part 7  — Decisions with if</a:t>
            </a:r>
            <a:endParaRPr lang="en-US" sz="1600" dirty="0"/>
          </a:p>
          <a:p>
            <a:pPr marL="342900" indent="-342900">
              <a:spcAft>
                <a:spcPts val="800"/>
              </a:spcAft>
              <a:buSzPct val="100000"/>
              <a:buChar char="•"/>
            </a:pPr>
            <a:r>
              <a:rPr lang="en-US" sz="1600" dirty="0">
                <a:solidFill>
                  <a:srgbClr val="1A1A2E"/>
                </a:solidFill>
              </a:rPr>
              <a:t>Part 8  — Loops  (for and while)</a:t>
            </a:r>
          </a:p>
          <a:p>
            <a:pPr marL="342900" indent="-342900">
              <a:spcAft>
                <a:spcPts val="800"/>
              </a:spcAft>
              <a:buSzPct val="100000"/>
              <a:buChar char="•"/>
            </a:pPr>
            <a:r>
              <a:rPr lang="en-US" sz="1600" dirty="0">
                <a:solidFill>
                  <a:srgbClr val="1A1A2E"/>
                </a:solidFill>
              </a:rPr>
              <a:t>Part 9  — Debugging + Final Challenge</a:t>
            </a:r>
          </a:p>
        </p:txBody>
      </p:sp>
      <p:sp>
        <p:nvSpPr>
          <p:cNvPr id="5" name="Text 3"/>
          <p:cNvSpPr txBox="1"/>
          <p:nvPr/>
        </p:nvSpPr>
        <p:spPr>
          <a:xfrm>
            <a:off x="274320" y="6537960"/>
            <a:ext cx="11612880" cy="274320"/>
          </a:xfrm>
          <a:prstGeom prst="rect">
            <a:avLst/>
          </a:prstGeom>
          <a:noFill/>
          <a:ln/>
        </p:spPr>
        <p:txBody>
          <a:bodyPr wrap="square" rtlCol="0" anchor="ctr"/>
          <a:lstStyle/>
          <a:p>
            <a:pPr marL="0" indent="0" algn="r">
              <a:buNone/>
            </a:pPr>
            <a:r>
              <a:rPr lang="en-US" sz="1100" dirty="0">
                <a:solidFill>
                  <a:srgbClr val="999999"/>
                </a:solidFill>
              </a:rPr>
              <a:t>CSE 120 · Module 1</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3767"/>
        </a:solidFill>
        <a:effectLst/>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03767"/>
          </a:solidFill>
          <a:ln w="12700">
            <a:solidFill>
              <a:srgbClr val="003767"/>
            </a:solidFill>
            <a:prstDash val="solid"/>
          </a:ln>
        </p:spPr>
        <p:txBody>
          <a:bodyPr/>
          <a:lstStyle/>
          <a:p>
            <a:endParaRPr lang="en-US"/>
          </a:p>
        </p:txBody>
      </p:sp>
      <p:sp>
        <p:nvSpPr>
          <p:cNvPr id="3" name="Shape 1"/>
          <p:cNvSpPr/>
          <p:nvPr/>
        </p:nvSpPr>
        <p:spPr>
          <a:xfrm>
            <a:off x="0" y="5303520"/>
            <a:ext cx="12161520" cy="1554480"/>
          </a:xfrm>
          <a:prstGeom prst="rect">
            <a:avLst/>
          </a:prstGeom>
          <a:solidFill>
            <a:srgbClr val="001F40"/>
          </a:solidFill>
          <a:ln w="12700">
            <a:solidFill>
              <a:srgbClr val="001F40"/>
            </a:solidFill>
            <a:prstDash val="solid"/>
          </a:ln>
        </p:spPr>
        <p:txBody>
          <a:bodyPr/>
          <a:lstStyle/>
          <a:p>
            <a:endParaRPr lang="en-US"/>
          </a:p>
        </p:txBody>
      </p:sp>
      <p:sp>
        <p:nvSpPr>
          <p:cNvPr id="4" name="Text 2"/>
          <p:cNvSpPr txBox="1"/>
          <p:nvPr/>
        </p:nvSpPr>
        <p:spPr>
          <a:xfrm>
            <a:off x="731520" y="914400"/>
            <a:ext cx="10698480" cy="822960"/>
          </a:xfrm>
          <a:prstGeom prst="rect">
            <a:avLst/>
          </a:prstGeom>
          <a:noFill/>
          <a:ln/>
        </p:spPr>
        <p:txBody>
          <a:bodyPr wrap="square" rtlCol="0" anchor="ctr"/>
          <a:lstStyle/>
          <a:p>
            <a:pPr marL="0" indent="0" algn="ctr">
              <a:buNone/>
            </a:pPr>
            <a:r>
              <a:rPr lang="en-US" sz="2000" b="1" dirty="0">
                <a:solidFill>
                  <a:srgbClr val="0074B7"/>
                </a:solidFill>
              </a:rPr>
              <a:t>Part 1</a:t>
            </a:r>
            <a:endParaRPr lang="en-US" sz="2000" dirty="0"/>
          </a:p>
        </p:txBody>
      </p:sp>
      <p:sp>
        <p:nvSpPr>
          <p:cNvPr id="5" name="Text 3"/>
          <p:cNvSpPr txBox="1"/>
          <p:nvPr/>
        </p:nvSpPr>
        <p:spPr>
          <a:xfrm>
            <a:off x="731520" y="1737360"/>
            <a:ext cx="10698480" cy="2286000"/>
          </a:xfrm>
          <a:prstGeom prst="rect">
            <a:avLst/>
          </a:prstGeom>
          <a:noFill/>
          <a:ln/>
        </p:spPr>
        <p:txBody>
          <a:bodyPr wrap="square" rtlCol="0" anchor="ctr"/>
          <a:lstStyle/>
          <a:p>
            <a:pPr marL="0" indent="0" algn="ctr">
              <a:buNone/>
            </a:pPr>
            <a:r>
              <a:rPr lang="en-US" sz="4000" b="1" dirty="0">
                <a:solidFill>
                  <a:srgbClr val="FFFFFF"/>
                </a:solidFill>
              </a:rPr>
              <a:t>What Is</a:t>
            </a:r>
            <a:endParaRPr lang="en-US" sz="4000" dirty="0"/>
          </a:p>
          <a:p>
            <a:pPr marL="0" indent="0" algn="ctr">
              <a:buNone/>
            </a:pPr>
            <a:r>
              <a:rPr lang="en-US" sz="4000" b="1" dirty="0">
                <a:solidFill>
                  <a:srgbClr val="FFFFFF"/>
                </a:solidFill>
              </a:rPr>
              <a:t>Programming?</a:t>
            </a:r>
            <a:endParaRPr lang="en-US" sz="4000" dirty="0"/>
          </a:p>
        </p:txBody>
      </p:sp>
      <p:sp>
        <p:nvSpPr>
          <p:cNvPr id="6" name="Text 4"/>
          <p:cNvSpPr txBox="1"/>
          <p:nvPr/>
        </p:nvSpPr>
        <p:spPr>
          <a:xfrm>
            <a:off x="731520" y="4114800"/>
            <a:ext cx="10698480" cy="1005840"/>
          </a:xfrm>
          <a:prstGeom prst="rect">
            <a:avLst/>
          </a:prstGeom>
          <a:noFill/>
          <a:ln/>
        </p:spPr>
        <p:txBody>
          <a:bodyPr wrap="square" rtlCol="0" anchor="ctr"/>
          <a:lstStyle/>
          <a:p>
            <a:pPr marL="0" indent="0" algn="ctr">
              <a:buNone/>
            </a:pPr>
            <a:r>
              <a:rPr lang="en-US" sz="1500" dirty="0">
                <a:solidFill>
                  <a:srgbClr val="7BAFD4"/>
                </a:solidFill>
              </a:rPr>
              <a:t>Programs · Languages · Python · Source Code · Running Code</a:t>
            </a:r>
            <a:endParaRPr lang="en-US" sz="1500" dirty="0"/>
          </a:p>
        </p:txBody>
      </p:sp>
      <p:sp>
        <p:nvSpPr>
          <p:cNvPr id="7" name="Text 5"/>
          <p:cNvSpPr txBox="1"/>
          <p:nvPr/>
        </p:nvSpPr>
        <p:spPr>
          <a:xfrm>
            <a:off x="731520" y="5577840"/>
            <a:ext cx="10698480" cy="731520"/>
          </a:xfrm>
          <a:prstGeom prst="rect">
            <a:avLst/>
          </a:prstGeom>
          <a:noFill/>
          <a:ln/>
        </p:spPr>
        <p:txBody>
          <a:bodyPr wrap="square" rtlCol="0" anchor="ctr"/>
          <a:lstStyle/>
          <a:p>
            <a:pPr marL="0" indent="0" algn="ctr">
              <a:buNone/>
            </a:pPr>
            <a:r>
              <a:rPr lang="en-US" sz="1300" dirty="0">
                <a:solidFill>
                  <a:srgbClr val="6699BB"/>
                </a:solidFill>
              </a:rPr>
              <a:t>CSE 120 · Module 1</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822960"/>
          </a:xfrm>
          <a:prstGeom prst="rect">
            <a:avLst/>
          </a:prstGeom>
          <a:solidFill>
            <a:srgbClr val="003767"/>
          </a:solidFill>
          <a:ln w="12700">
            <a:solidFill>
              <a:srgbClr val="003767"/>
            </a:solidFill>
            <a:prstDash val="solid"/>
          </a:ln>
        </p:spPr>
        <p:txBody>
          <a:bodyPr/>
          <a:lstStyle/>
          <a:p>
            <a:endParaRPr lang="en-US"/>
          </a:p>
        </p:txBody>
      </p:sp>
      <p:sp>
        <p:nvSpPr>
          <p:cNvPr id="3" name="Text 1"/>
          <p:cNvSpPr txBox="1"/>
          <p:nvPr/>
        </p:nvSpPr>
        <p:spPr>
          <a:xfrm>
            <a:off x="274320" y="73152"/>
            <a:ext cx="11612880" cy="685800"/>
          </a:xfrm>
          <a:prstGeom prst="rect">
            <a:avLst/>
          </a:prstGeom>
          <a:noFill/>
          <a:ln/>
        </p:spPr>
        <p:txBody>
          <a:bodyPr wrap="square" rtlCol="0" anchor="ctr"/>
          <a:lstStyle/>
          <a:p>
            <a:pPr marL="0" indent="0">
              <a:buNone/>
            </a:pPr>
            <a:r>
              <a:rPr lang="en-US" sz="2000" b="1" dirty="0">
                <a:solidFill>
                  <a:srgbClr val="FFFFFF"/>
                </a:solidFill>
              </a:rPr>
              <a:t>A Computer Only Does What It Is Told</a:t>
            </a:r>
            <a:endParaRPr lang="en-US" sz="2000" dirty="0"/>
          </a:p>
        </p:txBody>
      </p:sp>
      <p:sp>
        <p:nvSpPr>
          <p:cNvPr id="4" name="Text 2"/>
          <p:cNvSpPr txBox="1"/>
          <p:nvPr/>
        </p:nvSpPr>
        <p:spPr>
          <a:xfrm>
            <a:off x="365760" y="914400"/>
            <a:ext cx="11430000" cy="5577840"/>
          </a:xfrm>
          <a:prstGeom prst="rect">
            <a:avLst/>
          </a:prstGeom>
          <a:noFill/>
          <a:ln/>
        </p:spPr>
        <p:txBody>
          <a:bodyPr wrap="square" rtlCol="0" anchor="t"/>
          <a:lstStyle/>
          <a:p>
            <a:pPr marL="342900" indent="-342900">
              <a:spcAft>
                <a:spcPts val="1000"/>
              </a:spcAft>
              <a:buSzPct val="100000"/>
              <a:buChar char="•"/>
            </a:pPr>
            <a:r>
              <a:rPr lang="en-US" sz="1500" b="1" dirty="0">
                <a:solidFill>
                  <a:srgbClr val="1A1A2E"/>
                </a:solidFill>
              </a:rPr>
              <a:t>A computer is fast and precise — but it does NOTHING on its own</a:t>
            </a:r>
            <a:endParaRPr lang="en-US" sz="1500" dirty="0"/>
          </a:p>
          <a:p>
            <a:pPr marL="342900" indent="-342900">
              <a:spcAft>
                <a:spcPts val="1000"/>
              </a:spcAft>
              <a:buSzPct val="100000"/>
              <a:buChar char="•"/>
            </a:pPr>
            <a:r>
              <a:rPr lang="en-US" sz="1500" dirty="0">
                <a:solidFill>
                  <a:srgbClr val="1A1A2E"/>
                </a:solidFill>
              </a:rPr>
              <a:t>It needs a list of step-by-step instructions</a:t>
            </a:r>
            <a:endParaRPr lang="en-US" sz="1500" dirty="0"/>
          </a:p>
          <a:p>
            <a:pPr marL="342900" indent="-342900">
              <a:spcAft>
                <a:spcPts val="1800"/>
              </a:spcAft>
              <a:buSzPct val="100000"/>
              <a:buChar char="•"/>
            </a:pPr>
            <a:r>
              <a:rPr lang="en-US" sz="1500" dirty="0">
                <a:solidFill>
                  <a:srgbClr val="1A1A2E"/>
                </a:solidFill>
              </a:rPr>
              <a:t>That list of instructions is called a computer PROGRAM</a:t>
            </a:r>
            <a:endParaRPr lang="en-US" sz="1500" dirty="0"/>
          </a:p>
          <a:p>
            <a:pPr marL="0" indent="0">
              <a:spcAft>
                <a:spcPts val="600"/>
              </a:spcAft>
              <a:buNone/>
            </a:pPr>
            <a:r>
              <a:rPr lang="en-US" sz="1600" b="1" dirty="0">
                <a:solidFill>
                  <a:srgbClr val="1A1A2E"/>
                </a:solidFill>
              </a:rPr>
              <a:t>Analogy: Think of a recipe</a:t>
            </a:r>
            <a:endParaRPr lang="en-US" sz="1500" dirty="0"/>
          </a:p>
          <a:p>
            <a:pPr marL="342900" indent="-342900">
              <a:spcAft>
                <a:spcPts val="600"/>
              </a:spcAft>
              <a:buSzPct val="100000"/>
              <a:buChar char="•"/>
            </a:pPr>
            <a:r>
              <a:rPr lang="en-US" sz="1500" dirty="0">
                <a:solidFill>
                  <a:srgbClr val="1A1A2E"/>
                </a:solidFill>
              </a:rPr>
              <a:t>A recipe tells the cook: first do this, then that, if this happens do this instead</a:t>
            </a:r>
            <a:endParaRPr lang="en-US" sz="1500" dirty="0"/>
          </a:p>
          <a:p>
            <a:pPr marL="342900" indent="-342900">
              <a:spcAft>
                <a:spcPts val="400"/>
              </a:spcAft>
              <a:buSzPct val="100000"/>
              <a:buChar char="•"/>
            </a:pPr>
            <a:r>
              <a:rPr lang="en-US" sz="1500" dirty="0">
                <a:solidFill>
                  <a:srgbClr val="1A1A2E"/>
                </a:solidFill>
              </a:rPr>
              <a:t>A program works exactly the same way — except the "cook" is the computer</a:t>
            </a:r>
            <a:endParaRPr lang="en-US" sz="1500" dirty="0"/>
          </a:p>
        </p:txBody>
      </p:sp>
      <p:sp>
        <p:nvSpPr>
          <p:cNvPr id="5" name="Text 3"/>
          <p:cNvSpPr txBox="1"/>
          <p:nvPr/>
        </p:nvSpPr>
        <p:spPr>
          <a:xfrm>
            <a:off x="274320" y="6537960"/>
            <a:ext cx="11612880" cy="274320"/>
          </a:xfrm>
          <a:prstGeom prst="rect">
            <a:avLst/>
          </a:prstGeom>
          <a:noFill/>
          <a:ln/>
        </p:spPr>
        <p:txBody>
          <a:bodyPr wrap="square" rtlCol="0" anchor="ctr"/>
          <a:lstStyle/>
          <a:p>
            <a:pPr marL="0" indent="0" algn="r">
              <a:buNone/>
            </a:pPr>
            <a:r>
              <a:rPr lang="en-US" sz="1100" dirty="0">
                <a:solidFill>
                  <a:srgbClr val="999999"/>
                </a:solidFill>
              </a:rPr>
              <a:t>CSE 120 · Module 1</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822960"/>
          </a:xfrm>
          <a:prstGeom prst="rect">
            <a:avLst/>
          </a:prstGeom>
          <a:solidFill>
            <a:srgbClr val="003767"/>
          </a:solidFill>
          <a:ln w="12700">
            <a:solidFill>
              <a:srgbClr val="003767"/>
            </a:solidFill>
            <a:prstDash val="solid"/>
          </a:ln>
        </p:spPr>
        <p:txBody>
          <a:bodyPr/>
          <a:lstStyle/>
          <a:p>
            <a:endParaRPr lang="en-US"/>
          </a:p>
        </p:txBody>
      </p:sp>
      <p:sp>
        <p:nvSpPr>
          <p:cNvPr id="3" name="Text 1"/>
          <p:cNvSpPr txBox="1"/>
          <p:nvPr/>
        </p:nvSpPr>
        <p:spPr>
          <a:xfrm>
            <a:off x="274320" y="73152"/>
            <a:ext cx="11612880" cy="685800"/>
          </a:xfrm>
          <a:prstGeom prst="rect">
            <a:avLst/>
          </a:prstGeom>
          <a:noFill/>
          <a:ln/>
        </p:spPr>
        <p:txBody>
          <a:bodyPr wrap="square" rtlCol="0" anchor="ctr"/>
          <a:lstStyle/>
          <a:p>
            <a:pPr marL="0" indent="0">
              <a:buNone/>
            </a:pPr>
            <a:r>
              <a:rPr lang="en-US" sz="2000" b="1" dirty="0">
                <a:solidFill>
                  <a:srgbClr val="FFFFFF"/>
                </a:solidFill>
              </a:rPr>
              <a:t>What Is a Programming Language?</a:t>
            </a:r>
            <a:endParaRPr lang="en-US" sz="2000" dirty="0"/>
          </a:p>
        </p:txBody>
      </p:sp>
      <p:sp>
        <p:nvSpPr>
          <p:cNvPr id="4" name="Text 2"/>
          <p:cNvSpPr txBox="1"/>
          <p:nvPr/>
        </p:nvSpPr>
        <p:spPr>
          <a:xfrm>
            <a:off x="365760" y="914400"/>
            <a:ext cx="11430000" cy="5577840"/>
          </a:xfrm>
          <a:prstGeom prst="rect">
            <a:avLst/>
          </a:prstGeom>
          <a:noFill/>
          <a:ln/>
        </p:spPr>
        <p:txBody>
          <a:bodyPr wrap="square" rtlCol="0" anchor="t"/>
          <a:lstStyle/>
          <a:p>
            <a:pPr marL="342900" indent="-342900">
              <a:spcAft>
                <a:spcPts val="800"/>
              </a:spcAft>
              <a:buSzPct val="100000"/>
              <a:buChar char="•"/>
            </a:pPr>
            <a:r>
              <a:rPr lang="en-US" sz="1500" dirty="0">
                <a:solidFill>
                  <a:srgbClr val="1A1A2E"/>
                </a:solidFill>
              </a:rPr>
              <a:t>Computers don't understand English — they understand 1s and 0s</a:t>
            </a:r>
            <a:endParaRPr lang="en-US" sz="1500" dirty="0"/>
          </a:p>
          <a:p>
            <a:pPr marL="342900" indent="-342900">
              <a:spcAft>
                <a:spcPts val="1800"/>
              </a:spcAft>
              <a:buSzPct val="100000"/>
              <a:buChar char="•"/>
            </a:pPr>
            <a:r>
              <a:rPr lang="en-US" sz="1500" dirty="0">
                <a:solidFill>
                  <a:srgbClr val="1A1A2E"/>
                </a:solidFill>
              </a:rPr>
              <a:t>Writing in 1s and 0s is possible, but exhausting and error-prone</a:t>
            </a:r>
            <a:endParaRPr lang="en-US" sz="1500" dirty="0"/>
          </a:p>
          <a:p>
            <a:pPr marL="0" indent="0">
              <a:spcAft>
                <a:spcPts val="500"/>
              </a:spcAft>
              <a:buNone/>
            </a:pPr>
            <a:r>
              <a:rPr lang="en-US" sz="1500" b="1" dirty="0">
                <a:solidFill>
                  <a:srgbClr val="1A1A2E"/>
                </a:solidFill>
              </a:rPr>
              <a:t>A programming language is a middle ground:</a:t>
            </a:r>
            <a:endParaRPr lang="en-US" sz="1500" dirty="0"/>
          </a:p>
          <a:p>
            <a:pPr marL="342900" indent="-342900">
              <a:spcAft>
                <a:spcPts val="1800"/>
              </a:spcAft>
              <a:buSzPct val="100000"/>
              <a:buChar char="•"/>
            </a:pPr>
            <a:r>
              <a:rPr lang="en-US" sz="1500" dirty="0">
                <a:solidFill>
                  <a:srgbClr val="1A1A2E"/>
                </a:solidFill>
              </a:rPr>
              <a:t>Humans write in a readable form  →  computer converts it to actions</a:t>
            </a:r>
            <a:endParaRPr lang="en-US" sz="1500" dirty="0"/>
          </a:p>
          <a:p>
            <a:pPr marL="0" indent="0">
              <a:spcAft>
                <a:spcPts val="1800"/>
              </a:spcAft>
              <a:buNone/>
            </a:pPr>
            <a:r>
              <a:rPr lang="en-US" sz="1400" dirty="0">
                <a:solidFill>
                  <a:srgbClr val="555555"/>
                </a:solidFill>
              </a:rPr>
              <a:t>Examples: Python, Java, C++, JavaScript</a:t>
            </a:r>
            <a:endParaRPr lang="en-US" sz="1500" dirty="0"/>
          </a:p>
          <a:p>
            <a:pPr marL="0" indent="0">
              <a:spcAft>
                <a:spcPts val="500"/>
              </a:spcAft>
              <a:buNone/>
            </a:pPr>
            <a:r>
              <a:rPr lang="en-US" sz="1500" b="1" dirty="0">
                <a:solidFill>
                  <a:srgbClr val="1A1A2E"/>
                </a:solidFill>
              </a:rPr>
              <a:t>Analogy: A translator between you and the computer</a:t>
            </a:r>
            <a:endParaRPr lang="en-US" sz="1500" dirty="0"/>
          </a:p>
          <a:p>
            <a:pPr marL="342900" indent="-342900">
              <a:spcAft>
                <a:spcPts val="400"/>
              </a:spcAft>
              <a:buSzPct val="100000"/>
              <a:buChar char="•"/>
            </a:pPr>
            <a:r>
              <a:rPr lang="en-US" sz="1500" dirty="0">
                <a:solidFill>
                  <a:srgbClr val="1A1A2E"/>
                </a:solidFill>
              </a:rPr>
              <a:t>You speak English → translator → computer speaks machine code</a:t>
            </a:r>
            <a:endParaRPr lang="en-US" sz="1500" dirty="0"/>
          </a:p>
        </p:txBody>
      </p:sp>
      <p:sp>
        <p:nvSpPr>
          <p:cNvPr id="5" name="Text 3"/>
          <p:cNvSpPr txBox="1"/>
          <p:nvPr/>
        </p:nvSpPr>
        <p:spPr>
          <a:xfrm>
            <a:off x="274320" y="6537960"/>
            <a:ext cx="11612880" cy="274320"/>
          </a:xfrm>
          <a:prstGeom prst="rect">
            <a:avLst/>
          </a:prstGeom>
          <a:noFill/>
          <a:ln/>
        </p:spPr>
        <p:txBody>
          <a:bodyPr wrap="square" rtlCol="0" anchor="ctr"/>
          <a:lstStyle/>
          <a:p>
            <a:pPr marL="0" indent="0" algn="r">
              <a:buNone/>
            </a:pPr>
            <a:r>
              <a:rPr lang="en-US" sz="1100" dirty="0">
                <a:solidFill>
                  <a:srgbClr val="999999"/>
                </a:solidFill>
              </a:rPr>
              <a:t>CSE 120 · Module 1</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822960"/>
          </a:xfrm>
          <a:prstGeom prst="rect">
            <a:avLst/>
          </a:prstGeom>
          <a:solidFill>
            <a:srgbClr val="003767"/>
          </a:solidFill>
          <a:ln w="12700">
            <a:solidFill>
              <a:srgbClr val="003767"/>
            </a:solidFill>
            <a:prstDash val="solid"/>
          </a:ln>
        </p:spPr>
        <p:txBody>
          <a:bodyPr/>
          <a:lstStyle/>
          <a:p>
            <a:endParaRPr lang="en-US"/>
          </a:p>
        </p:txBody>
      </p:sp>
      <p:sp>
        <p:nvSpPr>
          <p:cNvPr id="3" name="Text 1"/>
          <p:cNvSpPr txBox="1"/>
          <p:nvPr/>
        </p:nvSpPr>
        <p:spPr>
          <a:xfrm>
            <a:off x="274320" y="73152"/>
            <a:ext cx="11612880" cy="685800"/>
          </a:xfrm>
          <a:prstGeom prst="rect">
            <a:avLst/>
          </a:prstGeom>
          <a:noFill/>
          <a:ln/>
        </p:spPr>
        <p:txBody>
          <a:bodyPr wrap="square" rtlCol="0" anchor="ctr"/>
          <a:lstStyle/>
          <a:p>
            <a:pPr marL="0" indent="0">
              <a:buNone/>
            </a:pPr>
            <a:r>
              <a:rPr lang="en-US" sz="2000" b="1" dirty="0">
                <a:solidFill>
                  <a:srgbClr val="FFFFFF"/>
                </a:solidFill>
              </a:rPr>
              <a:t>What Is Python?</a:t>
            </a:r>
            <a:endParaRPr lang="en-US" sz="2000" dirty="0"/>
          </a:p>
        </p:txBody>
      </p:sp>
      <p:sp>
        <p:nvSpPr>
          <p:cNvPr id="4" name="Text 2"/>
          <p:cNvSpPr txBox="1"/>
          <p:nvPr/>
        </p:nvSpPr>
        <p:spPr>
          <a:xfrm>
            <a:off x="365760" y="914400"/>
            <a:ext cx="11430000" cy="5577840"/>
          </a:xfrm>
          <a:prstGeom prst="rect">
            <a:avLst/>
          </a:prstGeom>
          <a:noFill/>
          <a:ln/>
        </p:spPr>
        <p:txBody>
          <a:bodyPr wrap="square" rtlCol="0" anchor="t"/>
          <a:lstStyle/>
          <a:p>
            <a:pPr marL="342900" indent="-342900">
              <a:spcAft>
                <a:spcPts val="600"/>
              </a:spcAft>
              <a:buSzPct val="100000"/>
              <a:buChar char="•"/>
            </a:pPr>
            <a:r>
              <a:rPr lang="en-US" sz="1500" dirty="0">
                <a:solidFill>
                  <a:srgbClr val="1A1A2E"/>
                </a:solidFill>
              </a:rPr>
              <a:t>Created in 1991 — designed to be as readable as possible</a:t>
            </a:r>
            <a:endParaRPr lang="en-US" sz="1500" dirty="0"/>
          </a:p>
          <a:p>
            <a:pPr marL="342900" indent="-342900">
              <a:spcAft>
                <a:spcPts val="600"/>
              </a:spcAft>
              <a:buSzPct val="100000"/>
              <a:buChar char="•"/>
            </a:pPr>
            <a:r>
              <a:rPr lang="en-US" sz="1500" dirty="0">
                <a:solidFill>
                  <a:srgbClr val="1A1A2E"/>
                </a:solidFill>
              </a:rPr>
              <a:t>Python code looks a lot like plain English</a:t>
            </a:r>
            <a:endParaRPr lang="en-US" sz="1500" dirty="0"/>
          </a:p>
          <a:p>
            <a:pPr marL="342900" indent="-342900">
              <a:spcAft>
                <a:spcPts val="1600"/>
              </a:spcAft>
              <a:buSzPct val="100000"/>
              <a:buChar char="•"/>
            </a:pPr>
            <a:r>
              <a:rPr lang="en-US" sz="1500" dirty="0">
                <a:solidFill>
                  <a:srgbClr val="1A1A2E"/>
                </a:solidFill>
              </a:rPr>
              <a:t>One of the most popular first languages to learn worldwide</a:t>
            </a:r>
            <a:endParaRPr lang="en-US" sz="1500" dirty="0"/>
          </a:p>
          <a:p>
            <a:pPr marL="0" indent="0">
              <a:spcAft>
                <a:spcPts val="500"/>
              </a:spcAft>
              <a:buNone/>
            </a:pPr>
            <a:r>
              <a:rPr lang="en-US" sz="1500" b="1" dirty="0">
                <a:solidFill>
                  <a:srgbClr val="1A1A2E"/>
                </a:solidFill>
              </a:rPr>
              <a:t>Who uses Python?</a:t>
            </a:r>
            <a:endParaRPr lang="en-US" sz="1500" dirty="0"/>
          </a:p>
          <a:p>
            <a:pPr marL="342900" indent="-342900">
              <a:spcAft>
                <a:spcPts val="1600"/>
              </a:spcAft>
              <a:buSzPct val="100000"/>
              <a:buChar char="•"/>
            </a:pPr>
            <a:r>
              <a:rPr lang="en-US" sz="1500" dirty="0">
                <a:solidFill>
                  <a:srgbClr val="1A1A2E"/>
                </a:solidFill>
              </a:rPr>
              <a:t>Engineers  ·  Scientists  ·  Data analysts  ·  AI researchers  ·  Web developers  ·  Students</a:t>
            </a:r>
            <a:endParaRPr lang="en-US" sz="1500" dirty="0"/>
          </a:p>
          <a:p>
            <a:pPr marL="0" indent="0">
              <a:spcAft>
                <a:spcPts val="500"/>
              </a:spcAft>
              <a:buNone/>
            </a:pPr>
            <a:r>
              <a:rPr lang="en-US" sz="1500" b="1" dirty="0">
                <a:solidFill>
                  <a:srgbClr val="1A1A2E"/>
                </a:solidFill>
              </a:rPr>
              <a:t>Why Python for this course?</a:t>
            </a:r>
            <a:endParaRPr lang="en-US" sz="1500" dirty="0"/>
          </a:p>
          <a:p>
            <a:pPr marL="342900" indent="-342900">
              <a:spcAft>
                <a:spcPts val="400"/>
              </a:spcAft>
              <a:buSzPct val="100000"/>
              <a:buChar char="•"/>
            </a:pPr>
            <a:r>
              <a:rPr lang="en-US" sz="1500" dirty="0">
                <a:solidFill>
                  <a:srgbClr val="1A1A2E"/>
                </a:solidFill>
              </a:rPr>
              <a:t>Free  ·  Works on Windows, Mac, Linux  ·  Readable syntax  ·  Industry relevant</a:t>
            </a:r>
            <a:endParaRPr lang="en-US" sz="1500" dirty="0"/>
          </a:p>
        </p:txBody>
      </p:sp>
      <p:sp>
        <p:nvSpPr>
          <p:cNvPr id="5" name="Text 3"/>
          <p:cNvSpPr txBox="1"/>
          <p:nvPr/>
        </p:nvSpPr>
        <p:spPr>
          <a:xfrm>
            <a:off x="274320" y="6537960"/>
            <a:ext cx="11612880" cy="274320"/>
          </a:xfrm>
          <a:prstGeom prst="rect">
            <a:avLst/>
          </a:prstGeom>
          <a:noFill/>
          <a:ln/>
        </p:spPr>
        <p:txBody>
          <a:bodyPr wrap="square" rtlCol="0" anchor="ctr"/>
          <a:lstStyle/>
          <a:p>
            <a:pPr marL="0" indent="0" algn="r">
              <a:buNone/>
            </a:pPr>
            <a:r>
              <a:rPr lang="en-US" sz="1100" dirty="0">
                <a:solidFill>
                  <a:srgbClr val="999999"/>
                </a:solidFill>
              </a:rPr>
              <a:t>CSE 120 · Module 1</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822960"/>
          </a:xfrm>
          <a:prstGeom prst="rect">
            <a:avLst/>
          </a:prstGeom>
          <a:solidFill>
            <a:srgbClr val="003767"/>
          </a:solidFill>
          <a:ln w="12700">
            <a:solidFill>
              <a:srgbClr val="003767"/>
            </a:solidFill>
            <a:prstDash val="solid"/>
          </a:ln>
        </p:spPr>
        <p:txBody>
          <a:bodyPr/>
          <a:lstStyle/>
          <a:p>
            <a:endParaRPr lang="en-US"/>
          </a:p>
        </p:txBody>
      </p:sp>
      <p:sp>
        <p:nvSpPr>
          <p:cNvPr id="3" name="Text 1"/>
          <p:cNvSpPr txBox="1"/>
          <p:nvPr/>
        </p:nvSpPr>
        <p:spPr>
          <a:xfrm>
            <a:off x="274320" y="73152"/>
            <a:ext cx="11612880" cy="685800"/>
          </a:xfrm>
          <a:prstGeom prst="rect">
            <a:avLst/>
          </a:prstGeom>
          <a:noFill/>
          <a:ln/>
        </p:spPr>
        <p:txBody>
          <a:bodyPr wrap="square" rtlCol="0" anchor="ctr"/>
          <a:lstStyle/>
          <a:p>
            <a:pPr marL="0" indent="0">
              <a:buNone/>
            </a:pPr>
            <a:r>
              <a:rPr lang="en-US" sz="2000" b="1" dirty="0">
                <a:solidFill>
                  <a:srgbClr val="FFFFFF"/>
                </a:solidFill>
              </a:rPr>
              <a:t>Key Vocabulary — Four Terms to Know</a:t>
            </a:r>
            <a:endParaRPr lang="en-US" sz="2000" dirty="0"/>
          </a:p>
        </p:txBody>
      </p:sp>
      <p:sp>
        <p:nvSpPr>
          <p:cNvPr id="4" name="Text 2"/>
          <p:cNvSpPr txBox="1"/>
          <p:nvPr/>
        </p:nvSpPr>
        <p:spPr>
          <a:xfrm>
            <a:off x="365760" y="914400"/>
            <a:ext cx="11430000" cy="5577840"/>
          </a:xfrm>
          <a:prstGeom prst="rect">
            <a:avLst/>
          </a:prstGeom>
          <a:noFill/>
          <a:ln/>
        </p:spPr>
        <p:txBody>
          <a:bodyPr wrap="square" rtlCol="0" anchor="t"/>
          <a:lstStyle/>
          <a:p>
            <a:pPr marL="0" indent="0">
              <a:spcAft>
                <a:spcPts val="300"/>
              </a:spcAft>
              <a:buNone/>
            </a:pPr>
            <a:r>
              <a:rPr lang="en-US" sz="1600" b="1" dirty="0">
                <a:solidFill>
                  <a:srgbClr val="1A1A2E"/>
                </a:solidFill>
              </a:rPr>
              <a:t>Source Code</a:t>
            </a:r>
            <a:endParaRPr lang="en-US" sz="1600" dirty="0"/>
          </a:p>
          <a:p>
            <a:pPr marL="342900" indent="-342900">
              <a:spcAft>
                <a:spcPts val="1200"/>
              </a:spcAft>
              <a:buSzPct val="100000"/>
              <a:buChar char="•"/>
            </a:pPr>
            <a:r>
              <a:rPr lang="en-US" sz="1500" dirty="0">
                <a:solidFill>
                  <a:srgbClr val="1A1A2E"/>
                </a:solidFill>
              </a:rPr>
              <a:t>The human-readable instructions you write in Python</a:t>
            </a:r>
            <a:endParaRPr lang="en-US" sz="1600" dirty="0"/>
          </a:p>
          <a:p>
            <a:pPr marL="0" indent="0">
              <a:spcAft>
                <a:spcPts val="300"/>
              </a:spcAft>
              <a:buNone/>
            </a:pPr>
            <a:r>
              <a:rPr lang="en-US" sz="1600" b="1" dirty="0">
                <a:solidFill>
                  <a:srgbClr val="1A1A2E"/>
                </a:solidFill>
              </a:rPr>
              <a:t>Run (or Execute)</a:t>
            </a:r>
            <a:endParaRPr lang="en-US" sz="1600" dirty="0"/>
          </a:p>
          <a:p>
            <a:pPr marL="342900" indent="-342900">
              <a:spcAft>
                <a:spcPts val="1200"/>
              </a:spcAft>
              <a:buSzPct val="100000"/>
              <a:buChar char="•"/>
            </a:pPr>
            <a:r>
              <a:rPr lang="en-US" sz="1500" dirty="0">
                <a:solidFill>
                  <a:srgbClr val="1A1A2E"/>
                </a:solidFill>
              </a:rPr>
              <a:t>Tell the computer to read your code and carry out the instructions</a:t>
            </a:r>
            <a:endParaRPr lang="en-US" sz="1600" dirty="0"/>
          </a:p>
          <a:p>
            <a:pPr marL="0" indent="0">
              <a:spcAft>
                <a:spcPts val="300"/>
              </a:spcAft>
              <a:buNone/>
            </a:pPr>
            <a:r>
              <a:rPr lang="en-US" sz="1600" b="1" dirty="0">
                <a:solidFill>
                  <a:srgbClr val="1A1A2E"/>
                </a:solidFill>
              </a:rPr>
              <a:t>Interpreter</a:t>
            </a:r>
            <a:endParaRPr lang="en-US" sz="1600" dirty="0"/>
          </a:p>
          <a:p>
            <a:pPr marL="342900" indent="-342900">
              <a:spcAft>
                <a:spcPts val="1200"/>
              </a:spcAft>
              <a:buSzPct val="100000"/>
              <a:buChar char="•"/>
            </a:pPr>
            <a:r>
              <a:rPr lang="en-US" sz="1500" dirty="0">
                <a:solidFill>
                  <a:srgbClr val="1A1A2E"/>
                </a:solidFill>
              </a:rPr>
              <a:t>Python reads your code ONE LINE AT A TIME, top to bottom — runs each line before moving to the next</a:t>
            </a:r>
            <a:endParaRPr lang="en-US" sz="1600" dirty="0"/>
          </a:p>
          <a:p>
            <a:pPr marL="0" indent="0">
              <a:spcAft>
                <a:spcPts val="300"/>
              </a:spcAft>
              <a:buNone/>
            </a:pPr>
            <a:r>
              <a:rPr lang="en-US" sz="1600" b="1" dirty="0">
                <a:solidFill>
                  <a:srgbClr val="1A1A2E"/>
                </a:solidFill>
              </a:rPr>
              <a:t>Program</a:t>
            </a:r>
            <a:endParaRPr lang="en-US" sz="1600" dirty="0"/>
          </a:p>
          <a:p>
            <a:pPr marL="342900" indent="-342900">
              <a:spcAft>
                <a:spcPts val="400"/>
              </a:spcAft>
              <a:buSzPct val="100000"/>
              <a:buChar char="•"/>
            </a:pPr>
            <a:r>
              <a:rPr lang="en-US" sz="1500" dirty="0">
                <a:solidFill>
                  <a:srgbClr val="1A1A2E"/>
                </a:solidFill>
              </a:rPr>
              <a:t>A complete set of instructions that the computer can execute</a:t>
            </a:r>
            <a:endParaRPr lang="en-US" sz="1600" dirty="0"/>
          </a:p>
        </p:txBody>
      </p:sp>
      <p:sp>
        <p:nvSpPr>
          <p:cNvPr id="5" name="Text 3"/>
          <p:cNvSpPr txBox="1"/>
          <p:nvPr/>
        </p:nvSpPr>
        <p:spPr>
          <a:xfrm>
            <a:off x="274320" y="6537960"/>
            <a:ext cx="11612880" cy="274320"/>
          </a:xfrm>
          <a:prstGeom prst="rect">
            <a:avLst/>
          </a:prstGeom>
          <a:noFill/>
          <a:ln/>
        </p:spPr>
        <p:txBody>
          <a:bodyPr wrap="square" rtlCol="0" anchor="ctr"/>
          <a:lstStyle/>
          <a:p>
            <a:pPr marL="0" indent="0" algn="r">
              <a:buNone/>
            </a:pPr>
            <a:r>
              <a:rPr lang="en-US" sz="1100" dirty="0">
                <a:solidFill>
                  <a:srgbClr val="999999"/>
                </a:solidFill>
              </a:rPr>
              <a:t>CSE 120 · Module 1</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822960"/>
          </a:xfrm>
          <a:prstGeom prst="rect">
            <a:avLst/>
          </a:prstGeom>
          <a:solidFill>
            <a:srgbClr val="003767"/>
          </a:solidFill>
          <a:ln w="12700">
            <a:solidFill>
              <a:srgbClr val="003767"/>
            </a:solidFill>
            <a:prstDash val="solid"/>
          </a:ln>
        </p:spPr>
        <p:txBody>
          <a:bodyPr/>
          <a:lstStyle/>
          <a:p>
            <a:endParaRPr lang="en-US"/>
          </a:p>
        </p:txBody>
      </p:sp>
      <p:sp>
        <p:nvSpPr>
          <p:cNvPr id="3" name="Text 1"/>
          <p:cNvSpPr txBox="1"/>
          <p:nvPr/>
        </p:nvSpPr>
        <p:spPr>
          <a:xfrm>
            <a:off x="274320" y="73152"/>
            <a:ext cx="11612880" cy="685800"/>
          </a:xfrm>
          <a:prstGeom prst="rect">
            <a:avLst/>
          </a:prstGeom>
          <a:noFill/>
          <a:ln/>
        </p:spPr>
        <p:txBody>
          <a:bodyPr wrap="square" rtlCol="0" anchor="ctr"/>
          <a:lstStyle/>
          <a:p>
            <a:pPr marL="0" indent="0">
              <a:buNone/>
            </a:pPr>
            <a:r>
              <a:rPr lang="en-US" sz="2000" b="1" dirty="0">
                <a:solidFill>
                  <a:srgbClr val="FFFFFF"/>
                </a:solidFill>
              </a:rPr>
              <a:t>Your First Python Program</a:t>
            </a:r>
            <a:endParaRPr lang="en-US" sz="2000" dirty="0"/>
          </a:p>
        </p:txBody>
      </p:sp>
      <p:sp>
        <p:nvSpPr>
          <p:cNvPr id="4" name="Shape 2"/>
          <p:cNvSpPr/>
          <p:nvPr/>
        </p:nvSpPr>
        <p:spPr>
          <a:xfrm>
            <a:off x="274320" y="914400"/>
            <a:ext cx="6400800" cy="5394960"/>
          </a:xfrm>
          <a:prstGeom prst="rect">
            <a:avLst/>
          </a:prstGeom>
          <a:solidFill>
            <a:srgbClr val="1E2D40"/>
          </a:solidFill>
          <a:ln w="12700">
            <a:solidFill>
              <a:srgbClr val="2A4060"/>
            </a:solidFill>
            <a:prstDash val="solid"/>
          </a:ln>
        </p:spPr>
        <p:txBody>
          <a:bodyPr/>
          <a:lstStyle/>
          <a:p>
            <a:endParaRPr lang="en-US"/>
          </a:p>
        </p:txBody>
      </p:sp>
      <p:sp>
        <p:nvSpPr>
          <p:cNvPr id="5" name="Text 3"/>
          <p:cNvSpPr txBox="1"/>
          <p:nvPr/>
        </p:nvSpPr>
        <p:spPr>
          <a:xfrm>
            <a:off x="365760" y="960120"/>
            <a:ext cx="6217920" cy="320040"/>
          </a:xfrm>
          <a:prstGeom prst="rect">
            <a:avLst/>
          </a:prstGeom>
          <a:noFill/>
          <a:ln/>
        </p:spPr>
        <p:txBody>
          <a:bodyPr wrap="square" rtlCol="0" anchor="ctr"/>
          <a:lstStyle/>
          <a:p>
            <a:pPr marL="0" indent="0">
              <a:buNone/>
            </a:pPr>
            <a:r>
              <a:rPr lang="en-US" sz="1100" b="1" dirty="0">
                <a:solidFill>
                  <a:srgbClr val="88AACC"/>
                </a:solidFill>
              </a:rPr>
              <a:t>python</a:t>
            </a:r>
            <a:endParaRPr lang="en-US" sz="1100" dirty="0"/>
          </a:p>
        </p:txBody>
      </p:sp>
      <p:sp>
        <p:nvSpPr>
          <p:cNvPr id="6" name="Text 4"/>
          <p:cNvSpPr txBox="1"/>
          <p:nvPr/>
        </p:nvSpPr>
        <p:spPr>
          <a:xfrm>
            <a:off x="365760" y="1325880"/>
            <a:ext cx="6217920" cy="4846320"/>
          </a:xfrm>
          <a:prstGeom prst="rect">
            <a:avLst/>
          </a:prstGeom>
          <a:noFill/>
          <a:ln/>
        </p:spPr>
        <p:txBody>
          <a:bodyPr wrap="square" rtlCol="0" anchor="t"/>
          <a:lstStyle/>
          <a:p>
            <a:pPr marL="0" indent="0">
              <a:buNone/>
            </a:pPr>
            <a:r>
              <a:rPr lang="en-US" sz="1300" dirty="0">
                <a:solidFill>
                  <a:srgbClr val="E8F4FD"/>
                </a:solidFill>
                <a:latin typeface="Courier New" pitchFamily="34" charset="0"/>
                <a:ea typeface="Courier New" pitchFamily="34" charset="-122"/>
                <a:cs typeface="Courier New" pitchFamily="34" charset="-120"/>
              </a:rPr>
              <a:t>print("Hello, world!")</a:t>
            </a:r>
            <a:endParaRPr lang="en-US" sz="1300" dirty="0"/>
          </a:p>
        </p:txBody>
      </p:sp>
      <p:sp>
        <p:nvSpPr>
          <p:cNvPr id="7" name="Text 5"/>
          <p:cNvSpPr txBox="1"/>
          <p:nvPr/>
        </p:nvSpPr>
        <p:spPr>
          <a:xfrm>
            <a:off x="6949440" y="914400"/>
            <a:ext cx="4937760" cy="5394960"/>
          </a:xfrm>
          <a:prstGeom prst="rect">
            <a:avLst/>
          </a:prstGeom>
          <a:noFill/>
          <a:ln/>
        </p:spPr>
        <p:txBody>
          <a:bodyPr wrap="square" rtlCol="0" anchor="t"/>
          <a:lstStyle/>
          <a:p>
            <a:pPr marL="0" indent="0">
              <a:spcAft>
                <a:spcPts val="800"/>
              </a:spcAft>
              <a:buNone/>
            </a:pPr>
            <a:r>
              <a:rPr lang="en-US" sz="1500" b="1" dirty="0">
                <a:solidFill>
                  <a:srgbClr val="1A1A2E"/>
                </a:solidFill>
              </a:rPr>
              <a:t>What this does:</a:t>
            </a:r>
            <a:endParaRPr lang="en-US" sz="1500" dirty="0"/>
          </a:p>
          <a:p>
            <a:pPr marL="0" indent="0">
              <a:spcAft>
                <a:spcPts val="200"/>
              </a:spcAft>
              <a:buNone/>
            </a:pPr>
            <a:r>
              <a:rPr lang="en-US" sz="1400" b="1" dirty="0">
                <a:solidFill>
                  <a:srgbClr val="1A1A2E"/>
                </a:solidFill>
              </a:rPr>
              <a:t>print</a:t>
            </a:r>
            <a:endParaRPr lang="en-US" sz="1500" dirty="0"/>
          </a:p>
          <a:p>
            <a:pPr marL="0" lvl="1" indent="0">
              <a:spcAft>
                <a:spcPts val="1000"/>
              </a:spcAft>
              <a:buNone/>
            </a:pPr>
            <a:r>
              <a:rPr lang="en-US" sz="1400" dirty="0">
                <a:solidFill>
                  <a:srgbClr val="1A1A2E"/>
                </a:solidFill>
              </a:rPr>
              <a:t>— tells Python to display something on screen</a:t>
            </a:r>
            <a:endParaRPr lang="en-US" sz="1500" dirty="0"/>
          </a:p>
          <a:p>
            <a:pPr marL="0" indent="0">
              <a:spcAft>
                <a:spcPts val="200"/>
              </a:spcAft>
              <a:buNone/>
            </a:pPr>
            <a:r>
              <a:rPr lang="en-US" sz="1400" b="1" dirty="0">
                <a:solidFill>
                  <a:srgbClr val="1A1A2E"/>
                </a:solidFill>
              </a:rPr>
              <a:t>( )</a:t>
            </a:r>
            <a:endParaRPr lang="en-US" sz="1500" dirty="0"/>
          </a:p>
          <a:p>
            <a:pPr marL="0" lvl="1" indent="0">
              <a:spcAft>
                <a:spcPts val="1000"/>
              </a:spcAft>
              <a:buNone/>
            </a:pPr>
            <a:r>
              <a:rPr lang="en-US" sz="1400" dirty="0">
                <a:solidFill>
                  <a:srgbClr val="1A1A2E"/>
                </a:solidFill>
              </a:rPr>
              <a:t>— parentheses contain what to display</a:t>
            </a:r>
            <a:endParaRPr lang="en-US" sz="1500" dirty="0"/>
          </a:p>
          <a:p>
            <a:pPr marL="0" indent="0">
              <a:spcAft>
                <a:spcPts val="200"/>
              </a:spcAft>
              <a:buNone/>
            </a:pPr>
            <a:r>
              <a:rPr lang="en-US" sz="1400" b="1" dirty="0">
                <a:solidFill>
                  <a:srgbClr val="1A1A2E"/>
                </a:solidFill>
              </a:rPr>
              <a:t>"Hello, world!"</a:t>
            </a:r>
            <a:endParaRPr lang="en-US" sz="1500" dirty="0"/>
          </a:p>
          <a:p>
            <a:pPr marL="0" lvl="1" indent="0">
              <a:spcAft>
                <a:spcPts val="1600"/>
              </a:spcAft>
              <a:buNone/>
            </a:pPr>
            <a:r>
              <a:rPr lang="en-US" sz="1400" dirty="0">
                <a:solidFill>
                  <a:srgbClr val="1A1A2E"/>
                </a:solidFill>
              </a:rPr>
              <a:t>— text in quotes is displayed exactly as-is</a:t>
            </a:r>
            <a:endParaRPr lang="en-US" sz="1500" dirty="0"/>
          </a:p>
          <a:p>
            <a:pPr marL="0" indent="0">
              <a:spcAft>
                <a:spcPts val="500"/>
              </a:spcAft>
              <a:buNone/>
            </a:pPr>
            <a:r>
              <a:rPr lang="en-US" sz="1400" b="1" dirty="0">
                <a:solidFill>
                  <a:srgbClr val="0074B7"/>
                </a:solidFill>
              </a:rPr>
              <a:t>This one line is a complete, runnable Python program</a:t>
            </a:r>
            <a:endParaRPr lang="en-US" sz="1500" dirty="0"/>
          </a:p>
        </p:txBody>
      </p:sp>
      <p:sp>
        <p:nvSpPr>
          <p:cNvPr id="8" name="Text 6"/>
          <p:cNvSpPr txBox="1"/>
          <p:nvPr/>
        </p:nvSpPr>
        <p:spPr>
          <a:xfrm>
            <a:off x="274320" y="6537960"/>
            <a:ext cx="11612880" cy="274320"/>
          </a:xfrm>
          <a:prstGeom prst="rect">
            <a:avLst/>
          </a:prstGeom>
          <a:noFill/>
          <a:ln/>
        </p:spPr>
        <p:txBody>
          <a:bodyPr wrap="square" rtlCol="0" anchor="ctr"/>
          <a:lstStyle/>
          <a:p>
            <a:pPr marL="0" indent="0" algn="r">
              <a:buNone/>
            </a:pPr>
            <a:r>
              <a:rPr lang="en-US" sz="1100" dirty="0">
                <a:solidFill>
                  <a:srgbClr val="999999"/>
                </a:solidFill>
              </a:rPr>
              <a:t>CSE 120 · Module 1</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0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5B21B6"/>
          </a:solidFill>
          <a:ln w="12700">
            <a:solidFill>
              <a:srgbClr val="5B21B6"/>
            </a:solidFill>
            <a:prstDash val="solid"/>
          </a:ln>
        </p:spPr>
        <p:txBody>
          <a:bodyPr/>
          <a:lstStyle/>
          <a:p>
            <a:endParaRPr lang="en-US"/>
          </a:p>
        </p:txBody>
      </p:sp>
      <p:sp>
        <p:nvSpPr>
          <p:cNvPr id="3" name="Text 1"/>
          <p:cNvSpPr txBox="1"/>
          <p:nvPr/>
        </p:nvSpPr>
        <p:spPr>
          <a:xfrm>
            <a:off x="274320" y="91440"/>
            <a:ext cx="11612880" cy="777240"/>
          </a:xfrm>
          <a:prstGeom prst="rect">
            <a:avLst/>
          </a:prstGeom>
          <a:noFill/>
          <a:ln/>
        </p:spPr>
        <p:txBody>
          <a:bodyPr wrap="square" rtlCol="0" anchor="ctr"/>
          <a:lstStyle/>
          <a:p>
            <a:pPr marL="0" indent="0">
              <a:buNone/>
            </a:pPr>
            <a:r>
              <a:rPr lang="en-US" sz="2200" b="1" dirty="0">
                <a:solidFill>
                  <a:srgbClr val="FFFFFF"/>
                </a:solidFill>
              </a:rPr>
              <a:t>🤔  Predict — What Will This Print?</a:t>
            </a:r>
            <a:endParaRPr lang="en-US" sz="2200" dirty="0"/>
          </a:p>
        </p:txBody>
      </p:sp>
      <p:sp>
        <p:nvSpPr>
          <p:cNvPr id="4" name="Text 2"/>
          <p:cNvSpPr txBox="1"/>
          <p:nvPr/>
        </p:nvSpPr>
        <p:spPr>
          <a:xfrm>
            <a:off x="457200" y="1097280"/>
            <a:ext cx="11247120" cy="5394960"/>
          </a:xfrm>
          <a:prstGeom prst="rect">
            <a:avLst/>
          </a:prstGeom>
          <a:noFill/>
          <a:ln/>
        </p:spPr>
        <p:txBody>
          <a:bodyPr wrap="square" rtlCol="0" anchor="t"/>
          <a:lstStyle/>
          <a:p>
            <a:pPr marL="0" indent="0">
              <a:spcAft>
                <a:spcPts val="1200"/>
              </a:spcAft>
              <a:buNone/>
            </a:pPr>
            <a:r>
              <a:rPr lang="en-US" sz="1500" dirty="0">
                <a:solidFill>
                  <a:srgbClr val="1A1A2E"/>
                </a:solidFill>
              </a:rPr>
              <a:t>Look at the code below. Before running anything — what will Python display on screen?</a:t>
            </a:r>
            <a:endParaRPr lang="en-US" sz="1500" dirty="0"/>
          </a:p>
          <a:p>
            <a:pPr marL="0" indent="0">
              <a:spcAft>
                <a:spcPts val="1600"/>
              </a:spcAft>
              <a:buNone/>
            </a:pPr>
            <a:r>
              <a:rPr lang="en-US" sz="2000" b="1" dirty="0">
                <a:solidFill>
                  <a:srgbClr val="1E2D40"/>
                </a:solidFill>
                <a:latin typeface="Courier New" pitchFamily="34" charset="0"/>
                <a:ea typeface="Courier New" pitchFamily="34" charset="-122"/>
                <a:cs typeface="Courier New" pitchFamily="34" charset="-120"/>
              </a:rPr>
              <a:t>print("Hello, world!")</a:t>
            </a:r>
            <a:endParaRPr lang="en-US" sz="1500" dirty="0"/>
          </a:p>
          <a:p>
            <a:pPr marL="0" indent="0">
              <a:spcAft>
                <a:spcPts val="500"/>
              </a:spcAft>
              <a:buNone/>
            </a:pPr>
            <a:r>
              <a:rPr lang="en-US" sz="1500" dirty="0">
                <a:solidFill>
                  <a:srgbClr val="666666"/>
                </a:solidFill>
              </a:rPr>
              <a:t>Write your answer down before looking at the next slide.</a:t>
            </a:r>
            <a:endParaRPr lang="en-US" sz="1500" dirty="0"/>
          </a:p>
        </p:txBody>
      </p:sp>
      <p:sp>
        <p:nvSpPr>
          <p:cNvPr id="5" name="Text 3"/>
          <p:cNvSpPr txBox="1"/>
          <p:nvPr/>
        </p:nvSpPr>
        <p:spPr>
          <a:xfrm>
            <a:off x="274320" y="6537960"/>
            <a:ext cx="11612880" cy="274320"/>
          </a:xfrm>
          <a:prstGeom prst="rect">
            <a:avLst/>
          </a:prstGeom>
          <a:noFill/>
          <a:ln/>
        </p:spPr>
        <p:txBody>
          <a:bodyPr wrap="square" rtlCol="0" anchor="ctr"/>
          <a:lstStyle/>
          <a:p>
            <a:pPr marL="0" indent="0" algn="r">
              <a:buNone/>
            </a:pPr>
            <a:r>
              <a:rPr lang="en-US" sz="1100" dirty="0">
                <a:solidFill>
                  <a:srgbClr val="888888"/>
                </a:solidFill>
              </a:rPr>
              <a:t>CSE 120 · Module 1  ·  Try it first — answer on next slide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FF4"/>
        </a:solidFill>
        <a:effectLst/>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2D6A4F"/>
          </a:solidFill>
          <a:ln w="12700">
            <a:solidFill>
              <a:srgbClr val="2D6A4F"/>
            </a:solidFill>
            <a:prstDash val="solid"/>
          </a:ln>
        </p:spPr>
        <p:txBody>
          <a:bodyPr/>
          <a:lstStyle/>
          <a:p>
            <a:endParaRPr lang="en-US"/>
          </a:p>
        </p:txBody>
      </p:sp>
      <p:sp>
        <p:nvSpPr>
          <p:cNvPr id="3" name="Text 1"/>
          <p:cNvSpPr txBox="1"/>
          <p:nvPr/>
        </p:nvSpPr>
        <p:spPr>
          <a:xfrm>
            <a:off x="274320" y="91440"/>
            <a:ext cx="11612880" cy="777240"/>
          </a:xfrm>
          <a:prstGeom prst="rect">
            <a:avLst/>
          </a:prstGeom>
          <a:noFill/>
          <a:ln/>
        </p:spPr>
        <p:txBody>
          <a:bodyPr wrap="square" rtlCol="0" anchor="ctr"/>
          <a:lstStyle/>
          <a:p>
            <a:pPr marL="0" indent="0">
              <a:buNone/>
            </a:pPr>
            <a:r>
              <a:rPr lang="en-US" sz="2200" b="1" dirty="0">
                <a:solidFill>
                  <a:srgbClr val="FFFFFF"/>
                </a:solidFill>
              </a:rPr>
              <a:t>✅  Answer — Hello, world!</a:t>
            </a:r>
            <a:endParaRPr lang="en-US" sz="2200" dirty="0"/>
          </a:p>
        </p:txBody>
      </p:sp>
      <p:sp>
        <p:nvSpPr>
          <p:cNvPr id="4" name="Text 2"/>
          <p:cNvSpPr txBox="1"/>
          <p:nvPr/>
        </p:nvSpPr>
        <p:spPr>
          <a:xfrm>
            <a:off x="457200" y="1097280"/>
            <a:ext cx="11247120" cy="5394960"/>
          </a:xfrm>
          <a:prstGeom prst="rect">
            <a:avLst/>
          </a:prstGeom>
          <a:noFill/>
          <a:ln/>
        </p:spPr>
        <p:txBody>
          <a:bodyPr wrap="square" rtlCol="0" anchor="t"/>
          <a:lstStyle/>
          <a:p>
            <a:pPr marL="342900" indent="-342900">
              <a:spcAft>
                <a:spcPts val="800"/>
              </a:spcAft>
              <a:buSzPct val="100000"/>
              <a:buChar char="•"/>
            </a:pPr>
            <a:r>
              <a:rPr lang="en-US" sz="1400" dirty="0">
                <a:solidFill>
                  <a:srgbClr val="1A1A2E"/>
                </a:solidFill>
              </a:rPr>
              <a:t>Python displays exactly what is between the quotation marks</a:t>
            </a:r>
            <a:endParaRPr lang="en-US" sz="1400" dirty="0"/>
          </a:p>
          <a:p>
            <a:pPr marL="0" indent="0">
              <a:spcAft>
                <a:spcPts val="300"/>
              </a:spcAft>
              <a:buNone/>
            </a:pPr>
            <a:r>
              <a:rPr lang="en-US" sz="1600" b="1" dirty="0">
                <a:solidFill>
                  <a:srgbClr val="1A1A2E"/>
                </a:solidFill>
              </a:rPr>
              <a:t>Output:</a:t>
            </a:r>
            <a:endParaRPr lang="en-US" sz="1400" dirty="0"/>
          </a:p>
          <a:p>
            <a:pPr marL="0" indent="0">
              <a:spcAft>
                <a:spcPts val="1600"/>
              </a:spcAft>
              <a:buNone/>
            </a:pPr>
            <a:r>
              <a:rPr lang="en-US" sz="2000" b="1" dirty="0">
                <a:solidFill>
                  <a:srgbClr val="1E2D40"/>
                </a:solidFill>
                <a:latin typeface="Courier New" pitchFamily="34" charset="0"/>
                <a:ea typeface="Courier New" pitchFamily="34" charset="-122"/>
                <a:cs typeface="Courier New" pitchFamily="34" charset="-120"/>
              </a:rPr>
              <a:t>Hello, world!</a:t>
            </a:r>
            <a:endParaRPr lang="en-US" sz="1400" dirty="0"/>
          </a:p>
          <a:p>
            <a:pPr marL="342900" indent="-342900">
              <a:spcAft>
                <a:spcPts val="600"/>
              </a:spcAft>
              <a:buSzPct val="100000"/>
              <a:buChar char="•"/>
            </a:pPr>
            <a:r>
              <a:rPr lang="en-US" sz="1400" dirty="0">
                <a:solidFill>
                  <a:srgbClr val="1A1A2E"/>
                </a:solidFill>
              </a:rPr>
              <a:t>Nothing more, nothing less — Python is very literal</a:t>
            </a:r>
            <a:endParaRPr lang="en-US" sz="1400" dirty="0"/>
          </a:p>
          <a:p>
            <a:pPr marL="342900" indent="-342900">
              <a:spcAft>
                <a:spcPts val="500"/>
              </a:spcAft>
              <a:buSzPct val="100000"/>
              <a:buChar char="•"/>
            </a:pPr>
            <a:r>
              <a:rPr lang="en-US" sz="1400" dirty="0">
                <a:solidFill>
                  <a:srgbClr val="1A1A2E"/>
                </a:solidFill>
              </a:rPr>
              <a:t>Change the text in the quotes and the output changes</a:t>
            </a:r>
            <a:endParaRPr lang="en-US" sz="1400" dirty="0"/>
          </a:p>
        </p:txBody>
      </p:sp>
      <p:sp>
        <p:nvSpPr>
          <p:cNvPr id="5" name="Text 3"/>
          <p:cNvSpPr txBox="1"/>
          <p:nvPr/>
        </p:nvSpPr>
        <p:spPr>
          <a:xfrm>
            <a:off x="274320" y="6537960"/>
            <a:ext cx="11612880" cy="274320"/>
          </a:xfrm>
          <a:prstGeom prst="rect">
            <a:avLst/>
          </a:prstGeom>
          <a:noFill/>
          <a:ln/>
        </p:spPr>
        <p:txBody>
          <a:bodyPr wrap="square" rtlCol="0" anchor="ctr"/>
          <a:lstStyle/>
          <a:p>
            <a:pPr marL="0" indent="0" algn="r">
              <a:buNone/>
            </a:pPr>
            <a:r>
              <a:rPr lang="en-US" sz="1100" dirty="0">
                <a:solidFill>
                  <a:srgbClr val="888888"/>
                </a:solidFill>
              </a:rPr>
              <a:t>CSE 120 · Module 1</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E7490"/>
          </a:solidFill>
          <a:ln w="12700">
            <a:solidFill>
              <a:srgbClr val="0E7490"/>
            </a:solidFill>
            <a:prstDash val="solid"/>
          </a:ln>
        </p:spPr>
        <p:txBody>
          <a:bodyPr/>
          <a:lstStyle/>
          <a:p>
            <a:endParaRPr lang="en-US"/>
          </a:p>
        </p:txBody>
      </p:sp>
      <p:sp>
        <p:nvSpPr>
          <p:cNvPr id="3" name="Text 1"/>
          <p:cNvSpPr txBox="1"/>
          <p:nvPr/>
        </p:nvSpPr>
        <p:spPr>
          <a:xfrm>
            <a:off x="274320" y="91440"/>
            <a:ext cx="11612880" cy="777240"/>
          </a:xfrm>
          <a:prstGeom prst="rect">
            <a:avLst/>
          </a:prstGeom>
          <a:noFill/>
          <a:ln/>
        </p:spPr>
        <p:txBody>
          <a:bodyPr wrap="square" rtlCol="0" anchor="ctr"/>
          <a:lstStyle/>
          <a:p>
            <a:pPr marL="0" indent="0">
              <a:buNone/>
            </a:pPr>
            <a:r>
              <a:rPr lang="en-US" sz="2200" b="1" dirty="0">
                <a:solidFill>
                  <a:srgbClr val="FFFFFF"/>
                </a:solidFill>
              </a:rPr>
              <a:t>✏️  Try It — Modify the Program</a:t>
            </a:r>
            <a:endParaRPr lang="en-US" sz="2200" dirty="0"/>
          </a:p>
        </p:txBody>
      </p:sp>
      <p:sp>
        <p:nvSpPr>
          <p:cNvPr id="4" name="Text 2"/>
          <p:cNvSpPr txBox="1"/>
          <p:nvPr/>
        </p:nvSpPr>
        <p:spPr>
          <a:xfrm>
            <a:off x="457200" y="1097280"/>
            <a:ext cx="11247120" cy="5394960"/>
          </a:xfrm>
          <a:prstGeom prst="rect">
            <a:avLst/>
          </a:prstGeom>
          <a:noFill/>
          <a:ln/>
        </p:spPr>
        <p:txBody>
          <a:bodyPr wrap="square" rtlCol="0" anchor="t"/>
          <a:lstStyle/>
          <a:p>
            <a:pPr marL="0" indent="0">
              <a:spcAft>
                <a:spcPts val="1000"/>
              </a:spcAft>
              <a:buNone/>
            </a:pPr>
            <a:r>
              <a:rPr lang="en-US" sz="1500" dirty="0">
                <a:solidFill>
                  <a:srgbClr val="1A1A2E"/>
                </a:solidFill>
              </a:rPr>
              <a:t>Change the program so it prints your own name.</a:t>
            </a:r>
            <a:endParaRPr lang="en-US" sz="1500" dirty="0"/>
          </a:p>
          <a:p>
            <a:pPr marL="0" indent="0">
              <a:spcAft>
                <a:spcPts val="1800"/>
              </a:spcAft>
              <a:buNone/>
            </a:pPr>
            <a:r>
              <a:rPr lang="en-US" sz="1500" dirty="0">
                <a:solidFill>
                  <a:srgbClr val="1A1A2E"/>
                </a:solidFill>
              </a:rPr>
              <a:t>For example, if your name is Maria, output should be:  Hello, Maria!</a:t>
            </a:r>
            <a:endParaRPr lang="en-US" sz="1500" dirty="0"/>
          </a:p>
          <a:p>
            <a:pPr marL="0" indent="0">
              <a:spcAft>
                <a:spcPts val="600"/>
              </a:spcAft>
              <a:buNone/>
            </a:pPr>
            <a:r>
              <a:rPr lang="en-US" sz="1800" dirty="0">
                <a:solidFill>
                  <a:srgbClr val="1E2D40"/>
                </a:solidFill>
                <a:latin typeface="Courier New" pitchFamily="34" charset="0"/>
                <a:ea typeface="Courier New" pitchFamily="34" charset="-122"/>
                <a:cs typeface="Courier New" pitchFamily="34" charset="-120"/>
              </a:rPr>
              <a:t>print("Hello, world!")</a:t>
            </a:r>
            <a:endParaRPr lang="en-US" sz="1500" dirty="0"/>
          </a:p>
          <a:p>
            <a:pPr marL="0" indent="0">
              <a:spcAft>
                <a:spcPts val="500"/>
              </a:spcAft>
              <a:buNone/>
            </a:pPr>
            <a:r>
              <a:rPr lang="en-US" sz="1400" dirty="0">
                <a:solidFill>
                  <a:srgbClr val="777777"/>
                </a:solidFill>
                <a:latin typeface="Courier New" pitchFamily="34" charset="0"/>
                <a:ea typeface="Courier New" pitchFamily="34" charset="-122"/>
                <a:cs typeface="Courier New" pitchFamily="34" charset="-120"/>
              </a:rPr>
              <a:t># Change this to print your name</a:t>
            </a:r>
            <a:endParaRPr lang="en-US" sz="1500" dirty="0"/>
          </a:p>
        </p:txBody>
      </p:sp>
      <p:sp>
        <p:nvSpPr>
          <p:cNvPr id="5" name="Text 3"/>
          <p:cNvSpPr txBox="1"/>
          <p:nvPr/>
        </p:nvSpPr>
        <p:spPr>
          <a:xfrm>
            <a:off x="274320" y="6537960"/>
            <a:ext cx="11612880" cy="274320"/>
          </a:xfrm>
          <a:prstGeom prst="rect">
            <a:avLst/>
          </a:prstGeom>
          <a:noFill/>
          <a:ln/>
        </p:spPr>
        <p:txBody>
          <a:bodyPr wrap="square" rtlCol="0" anchor="ctr"/>
          <a:lstStyle/>
          <a:p>
            <a:pPr marL="0" indent="0" algn="r">
              <a:buNone/>
            </a:pPr>
            <a:r>
              <a:rPr lang="en-US" sz="1100" dirty="0">
                <a:solidFill>
                  <a:srgbClr val="888888"/>
                </a:solidFill>
              </a:rPr>
              <a:t>CSE 120 · Module 1  ·  Try it first — answer on next slide</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FF4"/>
        </a:solidFill>
        <a:effectLst/>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2D6A4F"/>
          </a:solidFill>
          <a:ln w="12700">
            <a:solidFill>
              <a:srgbClr val="2D6A4F"/>
            </a:solidFill>
            <a:prstDash val="solid"/>
          </a:ln>
        </p:spPr>
        <p:txBody>
          <a:bodyPr/>
          <a:lstStyle/>
          <a:p>
            <a:endParaRPr lang="en-US"/>
          </a:p>
        </p:txBody>
      </p:sp>
      <p:sp>
        <p:nvSpPr>
          <p:cNvPr id="3" name="Text 1"/>
          <p:cNvSpPr txBox="1"/>
          <p:nvPr/>
        </p:nvSpPr>
        <p:spPr>
          <a:xfrm>
            <a:off x="274320" y="91440"/>
            <a:ext cx="11612880" cy="777240"/>
          </a:xfrm>
          <a:prstGeom prst="rect">
            <a:avLst/>
          </a:prstGeom>
          <a:noFill/>
          <a:ln/>
        </p:spPr>
        <p:txBody>
          <a:bodyPr wrap="square" rtlCol="0" anchor="ctr"/>
          <a:lstStyle/>
          <a:p>
            <a:pPr marL="0" indent="0">
              <a:buNone/>
            </a:pPr>
            <a:r>
              <a:rPr lang="en-US" sz="2200" b="1" dirty="0">
                <a:solidFill>
                  <a:srgbClr val="FFFFFF"/>
                </a:solidFill>
              </a:rPr>
              <a:t>✅  Answer — Print Your Name</a:t>
            </a:r>
            <a:endParaRPr lang="en-US" sz="2200" dirty="0"/>
          </a:p>
        </p:txBody>
      </p:sp>
      <p:sp>
        <p:nvSpPr>
          <p:cNvPr id="4" name="Text 2"/>
          <p:cNvSpPr txBox="1"/>
          <p:nvPr/>
        </p:nvSpPr>
        <p:spPr>
          <a:xfrm>
            <a:off x="457200" y="1097280"/>
            <a:ext cx="11247120" cy="5394960"/>
          </a:xfrm>
          <a:prstGeom prst="rect">
            <a:avLst/>
          </a:prstGeom>
          <a:noFill/>
          <a:ln/>
        </p:spPr>
        <p:txBody>
          <a:bodyPr wrap="square" rtlCol="0" anchor="t"/>
          <a:lstStyle/>
          <a:p>
            <a:pPr marL="0" indent="0">
              <a:spcAft>
                <a:spcPts val="1600"/>
              </a:spcAft>
              <a:buNone/>
            </a:pPr>
            <a:r>
              <a:rPr lang="en-US" sz="2000" b="1" dirty="0">
                <a:solidFill>
                  <a:srgbClr val="1E2D40"/>
                </a:solidFill>
                <a:latin typeface="Courier New" pitchFamily="34" charset="0"/>
                <a:ea typeface="Courier New" pitchFamily="34" charset="-122"/>
                <a:cs typeface="Courier New" pitchFamily="34" charset="-120"/>
              </a:rPr>
              <a:t>print("Hello, Maria!")</a:t>
            </a:r>
            <a:endParaRPr lang="en-US" sz="2000" dirty="0"/>
          </a:p>
          <a:p>
            <a:pPr marL="342900" indent="-342900">
              <a:spcAft>
                <a:spcPts val="600"/>
              </a:spcAft>
              <a:buSzPct val="100000"/>
              <a:buChar char="•"/>
            </a:pPr>
            <a:r>
              <a:rPr lang="en-US" sz="1400" dirty="0">
                <a:solidFill>
                  <a:srgbClr val="1A1A2E"/>
                </a:solidFill>
              </a:rPr>
              <a:t>Change ONLY the text inside the quotation marks</a:t>
            </a:r>
            <a:endParaRPr lang="en-US" sz="2000" dirty="0"/>
          </a:p>
          <a:p>
            <a:pPr marL="342900" indent="-342900">
              <a:spcAft>
                <a:spcPts val="600"/>
              </a:spcAft>
              <a:buSzPct val="100000"/>
              <a:buChar char="•"/>
            </a:pPr>
            <a:r>
              <a:rPr lang="en-US" sz="1400" dirty="0">
                <a:solidFill>
                  <a:srgbClr val="1A1A2E"/>
                </a:solidFill>
              </a:rPr>
              <a:t>Keep print( and the quotes — only the message changes</a:t>
            </a:r>
            <a:endParaRPr lang="en-US" sz="2000" dirty="0"/>
          </a:p>
          <a:p>
            <a:pPr marL="342900" indent="-342900">
              <a:spcAft>
                <a:spcPts val="500"/>
              </a:spcAft>
              <a:buSzPct val="100000"/>
              <a:buChar char="•"/>
            </a:pPr>
            <a:r>
              <a:rPr lang="en-US" sz="1400" dirty="0">
                <a:solidFill>
                  <a:srgbClr val="1A1A2E"/>
                </a:solidFill>
              </a:rPr>
              <a:t>Python will print whatever text you put between the quotes</a:t>
            </a:r>
            <a:endParaRPr lang="en-US" sz="2000" dirty="0"/>
          </a:p>
        </p:txBody>
      </p:sp>
      <p:sp>
        <p:nvSpPr>
          <p:cNvPr id="5" name="Text 3"/>
          <p:cNvSpPr txBox="1"/>
          <p:nvPr/>
        </p:nvSpPr>
        <p:spPr>
          <a:xfrm>
            <a:off x="274320" y="6537960"/>
            <a:ext cx="11612880" cy="274320"/>
          </a:xfrm>
          <a:prstGeom prst="rect">
            <a:avLst/>
          </a:prstGeom>
          <a:noFill/>
          <a:ln/>
        </p:spPr>
        <p:txBody>
          <a:bodyPr wrap="square" rtlCol="0" anchor="ctr"/>
          <a:lstStyle/>
          <a:p>
            <a:pPr marL="0" indent="0" algn="r">
              <a:buNone/>
            </a:pPr>
            <a:r>
              <a:rPr lang="en-US" sz="1100" dirty="0">
                <a:solidFill>
                  <a:srgbClr val="888888"/>
                </a:solidFill>
              </a:rPr>
              <a:t>CSE 120 · Module 1</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3767"/>
        </a:solidFill>
        <a:effectLst/>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03767"/>
          </a:solidFill>
          <a:ln w="12700">
            <a:solidFill>
              <a:srgbClr val="003767"/>
            </a:solidFill>
            <a:prstDash val="solid"/>
          </a:ln>
        </p:spPr>
        <p:txBody>
          <a:bodyPr/>
          <a:lstStyle/>
          <a:p>
            <a:endParaRPr lang="en-US"/>
          </a:p>
        </p:txBody>
      </p:sp>
      <p:sp>
        <p:nvSpPr>
          <p:cNvPr id="3" name="Shape 1"/>
          <p:cNvSpPr/>
          <p:nvPr/>
        </p:nvSpPr>
        <p:spPr>
          <a:xfrm>
            <a:off x="0" y="5303520"/>
            <a:ext cx="12161520" cy="1554480"/>
          </a:xfrm>
          <a:prstGeom prst="rect">
            <a:avLst/>
          </a:prstGeom>
          <a:solidFill>
            <a:srgbClr val="001F40"/>
          </a:solidFill>
          <a:ln w="12700">
            <a:solidFill>
              <a:srgbClr val="001F40"/>
            </a:solidFill>
            <a:prstDash val="solid"/>
          </a:ln>
        </p:spPr>
        <p:txBody>
          <a:bodyPr/>
          <a:lstStyle/>
          <a:p>
            <a:endParaRPr lang="en-US"/>
          </a:p>
        </p:txBody>
      </p:sp>
      <p:sp>
        <p:nvSpPr>
          <p:cNvPr id="4" name="Text 2"/>
          <p:cNvSpPr txBox="1"/>
          <p:nvPr/>
        </p:nvSpPr>
        <p:spPr>
          <a:xfrm>
            <a:off x="731520" y="914400"/>
            <a:ext cx="10698480" cy="822960"/>
          </a:xfrm>
          <a:prstGeom prst="rect">
            <a:avLst/>
          </a:prstGeom>
          <a:noFill/>
          <a:ln/>
        </p:spPr>
        <p:txBody>
          <a:bodyPr wrap="square" rtlCol="0" anchor="ctr"/>
          <a:lstStyle/>
          <a:p>
            <a:pPr marL="0" indent="0" algn="ctr">
              <a:buNone/>
            </a:pPr>
            <a:r>
              <a:rPr lang="en-US" sz="2000" b="1" dirty="0">
                <a:solidFill>
                  <a:srgbClr val="0074B7"/>
                </a:solidFill>
              </a:rPr>
              <a:t>Part 2</a:t>
            </a:r>
            <a:endParaRPr lang="en-US" sz="2000" dirty="0"/>
          </a:p>
        </p:txBody>
      </p:sp>
      <p:sp>
        <p:nvSpPr>
          <p:cNvPr id="5" name="Text 3"/>
          <p:cNvSpPr txBox="1"/>
          <p:nvPr/>
        </p:nvSpPr>
        <p:spPr>
          <a:xfrm>
            <a:off x="731520" y="1737360"/>
            <a:ext cx="10698480" cy="2286000"/>
          </a:xfrm>
          <a:prstGeom prst="rect">
            <a:avLst/>
          </a:prstGeom>
          <a:noFill/>
          <a:ln/>
        </p:spPr>
        <p:txBody>
          <a:bodyPr wrap="square" rtlCol="0" anchor="ctr"/>
          <a:lstStyle/>
          <a:p>
            <a:pPr marL="0" indent="0" algn="ctr">
              <a:buNone/>
            </a:pPr>
            <a:r>
              <a:rPr lang="en-US" sz="4000" b="1" dirty="0">
                <a:solidFill>
                  <a:srgbClr val="FFFFFF"/>
                </a:solidFill>
              </a:rPr>
              <a:t>From a Problem</a:t>
            </a:r>
            <a:endParaRPr lang="en-US" sz="4000" dirty="0"/>
          </a:p>
          <a:p>
            <a:pPr marL="0" indent="0" algn="ctr">
              <a:buNone/>
            </a:pPr>
            <a:r>
              <a:rPr lang="en-US" sz="4000" b="1" dirty="0">
                <a:solidFill>
                  <a:srgbClr val="FFFFFF"/>
                </a:solidFill>
              </a:rPr>
              <a:t>to a Program</a:t>
            </a:r>
            <a:endParaRPr lang="en-US" sz="4000" dirty="0"/>
          </a:p>
        </p:txBody>
      </p:sp>
      <p:sp>
        <p:nvSpPr>
          <p:cNvPr id="6" name="Text 4"/>
          <p:cNvSpPr txBox="1"/>
          <p:nvPr/>
        </p:nvSpPr>
        <p:spPr>
          <a:xfrm>
            <a:off x="731520" y="4114800"/>
            <a:ext cx="10698480" cy="1005840"/>
          </a:xfrm>
          <a:prstGeom prst="rect">
            <a:avLst/>
          </a:prstGeom>
          <a:noFill/>
          <a:ln/>
        </p:spPr>
        <p:txBody>
          <a:bodyPr wrap="square" rtlCol="0" anchor="ctr"/>
          <a:lstStyle/>
          <a:p>
            <a:pPr marL="0" indent="0" algn="ctr">
              <a:buNone/>
            </a:pPr>
            <a:r>
              <a:rPr lang="en-US" sz="1500" dirty="0">
                <a:solidFill>
                  <a:srgbClr val="7BAFD4"/>
                </a:solidFill>
              </a:rPr>
              <a:t>Algorithms · Problem Decomposition · The Beginner Workflow</a:t>
            </a:r>
            <a:endParaRPr lang="en-US" sz="1500" dirty="0"/>
          </a:p>
        </p:txBody>
      </p:sp>
      <p:sp>
        <p:nvSpPr>
          <p:cNvPr id="7" name="Text 5"/>
          <p:cNvSpPr txBox="1"/>
          <p:nvPr/>
        </p:nvSpPr>
        <p:spPr>
          <a:xfrm>
            <a:off x="731520" y="5577840"/>
            <a:ext cx="10698480" cy="731520"/>
          </a:xfrm>
          <a:prstGeom prst="rect">
            <a:avLst/>
          </a:prstGeom>
          <a:noFill/>
          <a:ln/>
        </p:spPr>
        <p:txBody>
          <a:bodyPr wrap="square" rtlCol="0" anchor="ctr"/>
          <a:lstStyle/>
          <a:p>
            <a:pPr marL="0" indent="0" algn="ctr">
              <a:buNone/>
            </a:pPr>
            <a:r>
              <a:rPr lang="en-US" sz="1300" dirty="0">
                <a:solidFill>
                  <a:srgbClr val="6699BB"/>
                </a:solidFill>
              </a:rPr>
              <a:t>CSE 120 · Module 1</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822960"/>
          </a:xfrm>
          <a:prstGeom prst="rect">
            <a:avLst/>
          </a:prstGeom>
          <a:solidFill>
            <a:srgbClr val="003767"/>
          </a:solidFill>
          <a:ln w="12700">
            <a:solidFill>
              <a:srgbClr val="003767"/>
            </a:solidFill>
            <a:prstDash val="solid"/>
          </a:ln>
        </p:spPr>
        <p:txBody>
          <a:bodyPr/>
          <a:lstStyle/>
          <a:p>
            <a:endParaRPr lang="en-US"/>
          </a:p>
        </p:txBody>
      </p:sp>
      <p:sp>
        <p:nvSpPr>
          <p:cNvPr id="3" name="Text 1"/>
          <p:cNvSpPr txBox="1"/>
          <p:nvPr/>
        </p:nvSpPr>
        <p:spPr>
          <a:xfrm>
            <a:off x="274320" y="73152"/>
            <a:ext cx="11612880" cy="685800"/>
          </a:xfrm>
          <a:prstGeom prst="rect">
            <a:avLst/>
          </a:prstGeom>
          <a:noFill/>
          <a:ln/>
        </p:spPr>
        <p:txBody>
          <a:bodyPr wrap="square" rtlCol="0" anchor="ctr"/>
          <a:lstStyle/>
          <a:p>
            <a:pPr marL="0" indent="0">
              <a:buNone/>
            </a:pPr>
            <a:r>
              <a:rPr lang="en-US" sz="2000" b="1" dirty="0">
                <a:solidFill>
                  <a:srgbClr val="FFFFFF"/>
                </a:solidFill>
              </a:rPr>
              <a:t>Programming Is Problem Solving First</a:t>
            </a:r>
            <a:endParaRPr lang="en-US" sz="2000" dirty="0"/>
          </a:p>
        </p:txBody>
      </p:sp>
      <p:sp>
        <p:nvSpPr>
          <p:cNvPr id="4" name="Text 2"/>
          <p:cNvSpPr txBox="1"/>
          <p:nvPr/>
        </p:nvSpPr>
        <p:spPr>
          <a:xfrm>
            <a:off x="365760" y="914400"/>
            <a:ext cx="11430000" cy="5577840"/>
          </a:xfrm>
          <a:prstGeom prst="rect">
            <a:avLst/>
          </a:prstGeom>
          <a:noFill/>
          <a:ln/>
        </p:spPr>
        <p:txBody>
          <a:bodyPr wrap="square" rtlCol="0" anchor="t"/>
          <a:lstStyle/>
          <a:p>
            <a:pPr marL="342900" indent="-342900">
              <a:spcAft>
                <a:spcPts val="800"/>
              </a:spcAft>
              <a:buSzPct val="100000"/>
              <a:buChar char="•"/>
            </a:pPr>
            <a:r>
              <a:rPr lang="en-US" sz="1500" dirty="0">
                <a:solidFill>
                  <a:srgbClr val="1A1A2E"/>
                </a:solidFill>
              </a:rPr>
              <a:t>Most beginners think programming = typing code</a:t>
            </a:r>
            <a:endParaRPr lang="en-US" sz="1500" dirty="0"/>
          </a:p>
          <a:p>
            <a:pPr marL="342900" indent="-342900">
              <a:spcAft>
                <a:spcPts val="1800"/>
              </a:spcAft>
              <a:buSzPct val="100000"/>
              <a:buChar char="•"/>
            </a:pPr>
            <a:r>
              <a:rPr lang="en-US" sz="1500" b="1" dirty="0">
                <a:solidFill>
                  <a:srgbClr val="1A1A2E"/>
                </a:solidFill>
              </a:rPr>
              <a:t>Reality: the hard part is figuring out WHAT STEPS TO TAKE</a:t>
            </a:r>
            <a:endParaRPr lang="en-US" sz="1500" dirty="0"/>
          </a:p>
          <a:p>
            <a:pPr marL="0" indent="0">
              <a:spcAft>
                <a:spcPts val="600"/>
              </a:spcAft>
              <a:buNone/>
            </a:pPr>
            <a:r>
              <a:rPr lang="en-US" sz="1500" b="1" dirty="0">
                <a:solidFill>
                  <a:srgbClr val="1A1A2E"/>
                </a:solidFill>
              </a:rPr>
              <a:t>Before writing a single line of Python, ask:</a:t>
            </a:r>
            <a:endParaRPr lang="en-US" sz="1500" dirty="0"/>
          </a:p>
          <a:p>
            <a:pPr marL="685800" lvl="1" indent="-342900">
              <a:spcAft>
                <a:spcPts val="400"/>
              </a:spcAft>
              <a:buSzPct val="100000"/>
              <a:buChar char="•"/>
            </a:pPr>
            <a:r>
              <a:rPr lang="en-US" sz="1500" dirty="0">
                <a:solidFill>
                  <a:srgbClr val="1A1A2E"/>
                </a:solidFill>
              </a:rPr>
              <a:t>What is the problem I'm trying to solve?</a:t>
            </a:r>
            <a:endParaRPr lang="en-US" sz="1500" dirty="0"/>
          </a:p>
          <a:p>
            <a:pPr marL="685800" lvl="1" indent="-342900">
              <a:spcAft>
                <a:spcPts val="400"/>
              </a:spcAft>
              <a:buSzPct val="100000"/>
              <a:buChar char="•"/>
            </a:pPr>
            <a:r>
              <a:rPr lang="en-US" sz="1500" dirty="0">
                <a:solidFill>
                  <a:srgbClr val="1A1A2E"/>
                </a:solidFill>
              </a:rPr>
              <a:t>What information do I start with?  (Inputs)</a:t>
            </a:r>
            <a:endParaRPr lang="en-US" sz="1500" dirty="0"/>
          </a:p>
          <a:p>
            <a:pPr marL="685800" lvl="1" indent="-342900">
              <a:spcAft>
                <a:spcPts val="400"/>
              </a:spcAft>
              <a:buSzPct val="100000"/>
              <a:buChar char="•"/>
            </a:pPr>
            <a:r>
              <a:rPr lang="en-US" sz="1500" dirty="0">
                <a:solidFill>
                  <a:srgbClr val="1A1A2E"/>
                </a:solidFill>
              </a:rPr>
              <a:t>What do I need to produce?  (Outputs)</a:t>
            </a:r>
            <a:endParaRPr lang="en-US" sz="1500" dirty="0"/>
          </a:p>
          <a:p>
            <a:pPr marL="685800" lvl="1" indent="-342900">
              <a:spcAft>
                <a:spcPts val="1600"/>
              </a:spcAft>
              <a:buSzPct val="100000"/>
              <a:buChar char="•"/>
            </a:pPr>
            <a:r>
              <a:rPr lang="en-US" sz="1500" dirty="0">
                <a:solidFill>
                  <a:srgbClr val="1A1A2E"/>
                </a:solidFill>
              </a:rPr>
              <a:t>What steps transform inputs into outputs?  (Process)</a:t>
            </a:r>
            <a:endParaRPr lang="en-US" sz="1500" dirty="0"/>
          </a:p>
          <a:p>
            <a:pPr marL="0" indent="0">
              <a:spcAft>
                <a:spcPts val="400"/>
              </a:spcAft>
              <a:buNone/>
            </a:pPr>
            <a:r>
              <a:rPr lang="en-US" sz="1500" b="1" dirty="0">
                <a:solidFill>
                  <a:srgbClr val="0074B7"/>
                </a:solidFill>
              </a:rPr>
              <a:t>The code comes last — after the thinking</a:t>
            </a:r>
            <a:endParaRPr lang="en-US" sz="1500" dirty="0"/>
          </a:p>
        </p:txBody>
      </p:sp>
      <p:sp>
        <p:nvSpPr>
          <p:cNvPr id="5" name="Text 3"/>
          <p:cNvSpPr txBox="1"/>
          <p:nvPr/>
        </p:nvSpPr>
        <p:spPr>
          <a:xfrm>
            <a:off x="274320" y="6537960"/>
            <a:ext cx="11612880" cy="274320"/>
          </a:xfrm>
          <a:prstGeom prst="rect">
            <a:avLst/>
          </a:prstGeom>
          <a:noFill/>
          <a:ln/>
        </p:spPr>
        <p:txBody>
          <a:bodyPr wrap="square" rtlCol="0" anchor="ctr"/>
          <a:lstStyle/>
          <a:p>
            <a:pPr marL="0" indent="0" algn="r">
              <a:buNone/>
            </a:pPr>
            <a:r>
              <a:rPr lang="en-US" sz="1100" dirty="0">
                <a:solidFill>
                  <a:srgbClr val="999999"/>
                </a:solidFill>
              </a:rPr>
              <a:t>CSE 120 · Module 1</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822960"/>
          </a:xfrm>
          <a:prstGeom prst="rect">
            <a:avLst/>
          </a:prstGeom>
          <a:solidFill>
            <a:srgbClr val="003767"/>
          </a:solidFill>
          <a:ln w="12700">
            <a:solidFill>
              <a:srgbClr val="003767"/>
            </a:solidFill>
            <a:prstDash val="solid"/>
          </a:ln>
        </p:spPr>
        <p:txBody>
          <a:bodyPr/>
          <a:lstStyle/>
          <a:p>
            <a:endParaRPr lang="en-US"/>
          </a:p>
        </p:txBody>
      </p:sp>
      <p:sp>
        <p:nvSpPr>
          <p:cNvPr id="3" name="Text 1"/>
          <p:cNvSpPr txBox="1"/>
          <p:nvPr/>
        </p:nvSpPr>
        <p:spPr>
          <a:xfrm>
            <a:off x="274320" y="73152"/>
            <a:ext cx="11612880" cy="685800"/>
          </a:xfrm>
          <a:prstGeom prst="rect">
            <a:avLst/>
          </a:prstGeom>
          <a:noFill/>
          <a:ln/>
        </p:spPr>
        <p:txBody>
          <a:bodyPr wrap="square" rtlCol="0" anchor="ctr"/>
          <a:lstStyle/>
          <a:p>
            <a:pPr marL="0" indent="0">
              <a:buNone/>
            </a:pPr>
            <a:r>
              <a:rPr lang="en-US" sz="2000" b="1" dirty="0">
                <a:solidFill>
                  <a:srgbClr val="FFFFFF"/>
                </a:solidFill>
              </a:rPr>
              <a:t>What Is an Algorithm? + The Beginner Workflow</a:t>
            </a:r>
            <a:endParaRPr lang="en-US" sz="2000" dirty="0"/>
          </a:p>
        </p:txBody>
      </p:sp>
      <p:sp>
        <p:nvSpPr>
          <p:cNvPr id="4" name="Text 2"/>
          <p:cNvSpPr txBox="1"/>
          <p:nvPr/>
        </p:nvSpPr>
        <p:spPr>
          <a:xfrm>
            <a:off x="365760" y="914400"/>
            <a:ext cx="11430000" cy="5577840"/>
          </a:xfrm>
          <a:prstGeom prst="rect">
            <a:avLst/>
          </a:prstGeom>
          <a:noFill/>
          <a:ln/>
        </p:spPr>
        <p:txBody>
          <a:bodyPr wrap="square" rtlCol="0" anchor="t"/>
          <a:lstStyle/>
          <a:p>
            <a:pPr marL="0" indent="0">
              <a:spcAft>
                <a:spcPts val="400"/>
              </a:spcAft>
              <a:buNone/>
            </a:pPr>
            <a:r>
              <a:rPr lang="en-US" sz="1600" b="1" dirty="0">
                <a:solidFill>
                  <a:srgbClr val="003767"/>
                </a:solidFill>
              </a:rPr>
              <a:t>Problem  →  Inputs  →  Process  →  Outputs</a:t>
            </a:r>
            <a:endParaRPr lang="en-US" sz="1600" dirty="0"/>
          </a:p>
          <a:p>
            <a:pPr marL="0" indent="0">
              <a:spcAft>
                <a:spcPts val="1800"/>
              </a:spcAft>
              <a:buNone/>
            </a:pPr>
            <a:r>
              <a:rPr lang="en-US" sz="1600" b="1" dirty="0">
                <a:solidFill>
                  <a:srgbClr val="003767"/>
                </a:solidFill>
              </a:rPr>
              <a:t>Algorithm (plain English)  →  Code  →  Test  →  Debug</a:t>
            </a:r>
            <a:endParaRPr lang="en-US" sz="1600" dirty="0"/>
          </a:p>
          <a:p>
            <a:pPr marL="0" indent="0">
              <a:spcAft>
                <a:spcPts val="600"/>
              </a:spcAft>
              <a:buNone/>
            </a:pPr>
            <a:r>
              <a:rPr lang="en-US" sz="1600" b="1" dirty="0">
                <a:solidFill>
                  <a:srgbClr val="1A1A2E"/>
                </a:solidFill>
              </a:rPr>
              <a:t>📖  Algorithm</a:t>
            </a:r>
            <a:endParaRPr lang="en-US" sz="1600" dirty="0"/>
          </a:p>
          <a:p>
            <a:pPr marL="342900" indent="-342900">
              <a:spcAft>
                <a:spcPts val="600"/>
              </a:spcAft>
              <a:buSzPct val="100000"/>
              <a:buChar char="•"/>
            </a:pPr>
            <a:r>
              <a:rPr lang="en-US" sz="1500" dirty="0">
                <a:solidFill>
                  <a:srgbClr val="1A1A2E"/>
                </a:solidFill>
              </a:rPr>
              <a:t>A step-by-step plan for solving a problem. You already use algorithms every day — recipes, GPS directions, morning routines.</a:t>
            </a:r>
            <a:endParaRPr lang="en-US" sz="1600" dirty="0"/>
          </a:p>
          <a:p>
            <a:pPr marL="342900" indent="-342900">
              <a:spcAft>
                <a:spcPts val="400"/>
              </a:spcAft>
              <a:buSzPct val="100000"/>
              <a:buChar char="•"/>
            </a:pPr>
            <a:r>
              <a:rPr lang="en-US" sz="1500" dirty="0">
                <a:solidFill>
                  <a:srgbClr val="1A1A2E"/>
                </a:solidFill>
              </a:rPr>
              <a:t>In programming, we write algorithms in plain English FIRST, then translate them to code.</a:t>
            </a:r>
            <a:endParaRPr lang="en-US" sz="1600" dirty="0"/>
          </a:p>
        </p:txBody>
      </p:sp>
      <p:sp>
        <p:nvSpPr>
          <p:cNvPr id="5" name="Text 3"/>
          <p:cNvSpPr txBox="1"/>
          <p:nvPr/>
        </p:nvSpPr>
        <p:spPr>
          <a:xfrm>
            <a:off x="274320" y="6537960"/>
            <a:ext cx="11612880" cy="274320"/>
          </a:xfrm>
          <a:prstGeom prst="rect">
            <a:avLst/>
          </a:prstGeom>
          <a:noFill/>
          <a:ln/>
        </p:spPr>
        <p:txBody>
          <a:bodyPr wrap="square" rtlCol="0" anchor="ctr"/>
          <a:lstStyle/>
          <a:p>
            <a:pPr marL="0" indent="0" algn="r">
              <a:buNone/>
            </a:pPr>
            <a:r>
              <a:rPr lang="en-US" sz="1100" dirty="0">
                <a:solidFill>
                  <a:srgbClr val="999999"/>
                </a:solidFill>
              </a:rPr>
              <a:t>CSE 120 · Module 1</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822960"/>
          </a:xfrm>
          <a:prstGeom prst="rect">
            <a:avLst/>
          </a:prstGeom>
          <a:solidFill>
            <a:srgbClr val="003767"/>
          </a:solidFill>
          <a:ln w="12700">
            <a:solidFill>
              <a:srgbClr val="003767"/>
            </a:solidFill>
            <a:prstDash val="solid"/>
          </a:ln>
        </p:spPr>
        <p:txBody>
          <a:bodyPr/>
          <a:lstStyle/>
          <a:p>
            <a:endParaRPr lang="en-US"/>
          </a:p>
        </p:txBody>
      </p:sp>
      <p:sp>
        <p:nvSpPr>
          <p:cNvPr id="3" name="Text 1"/>
          <p:cNvSpPr txBox="1"/>
          <p:nvPr/>
        </p:nvSpPr>
        <p:spPr>
          <a:xfrm>
            <a:off x="274320" y="73152"/>
            <a:ext cx="11612880" cy="685800"/>
          </a:xfrm>
          <a:prstGeom prst="rect">
            <a:avLst/>
          </a:prstGeom>
          <a:noFill/>
          <a:ln/>
        </p:spPr>
        <p:txBody>
          <a:bodyPr wrap="square" rtlCol="0" anchor="ctr"/>
          <a:lstStyle/>
          <a:p>
            <a:pPr marL="0" indent="0">
              <a:buNone/>
            </a:pPr>
            <a:r>
              <a:rPr lang="en-US" sz="2000" b="1" dirty="0">
                <a:solidFill>
                  <a:srgbClr val="FFFFFF"/>
                </a:solidFill>
              </a:rPr>
              <a:t>Engineering Example: Component Cost</a:t>
            </a:r>
            <a:endParaRPr lang="en-US" sz="2000" dirty="0"/>
          </a:p>
        </p:txBody>
      </p:sp>
      <p:sp>
        <p:nvSpPr>
          <p:cNvPr id="4" name="Text 2"/>
          <p:cNvSpPr txBox="1"/>
          <p:nvPr/>
        </p:nvSpPr>
        <p:spPr>
          <a:xfrm>
            <a:off x="365760" y="914400"/>
            <a:ext cx="11430000" cy="5577840"/>
          </a:xfrm>
          <a:prstGeom prst="rect">
            <a:avLst/>
          </a:prstGeom>
          <a:noFill/>
          <a:ln/>
        </p:spPr>
        <p:txBody>
          <a:bodyPr wrap="square" rtlCol="0" anchor="t"/>
          <a:lstStyle/>
          <a:p>
            <a:pPr marL="0" indent="0">
              <a:spcAft>
                <a:spcPts val="600"/>
              </a:spcAft>
              <a:buNone/>
            </a:pPr>
            <a:r>
              <a:rPr lang="en-US" sz="1500" b="1" dirty="0">
                <a:solidFill>
                  <a:srgbClr val="1A1A2E"/>
                </a:solidFill>
              </a:rPr>
              <a:t>Problem: Calculate total cost of electronic components</a:t>
            </a:r>
            <a:endParaRPr lang="en-US" sz="1500" dirty="0"/>
          </a:p>
          <a:p>
            <a:pPr marL="342900" indent="-342900">
              <a:spcAft>
                <a:spcPts val="1600"/>
              </a:spcAft>
              <a:buSzPct val="100000"/>
              <a:buChar char="•"/>
            </a:pPr>
            <a:r>
              <a:rPr lang="en-US" sz="1500" dirty="0">
                <a:solidFill>
                  <a:srgbClr val="1A1A2E"/>
                </a:solidFill>
              </a:rPr>
              <a:t>Each resistor costs $0.15. You order 40 resistors. What is the total cost?</a:t>
            </a:r>
            <a:endParaRPr lang="en-US" sz="1500" dirty="0"/>
          </a:p>
          <a:p>
            <a:pPr marL="0" indent="0">
              <a:spcAft>
                <a:spcPts val="400"/>
              </a:spcAft>
              <a:buNone/>
            </a:pPr>
            <a:r>
              <a:rPr lang="en-US" sz="1500" b="1" dirty="0">
                <a:solidFill>
                  <a:srgbClr val="1A1A2E"/>
                </a:solidFill>
              </a:rPr>
              <a:t>Step 1 — Identify Inputs &amp; Output</a:t>
            </a:r>
            <a:endParaRPr lang="en-US" sz="1500" dirty="0"/>
          </a:p>
          <a:p>
            <a:pPr marL="342900" indent="-342900">
              <a:spcAft>
                <a:spcPts val="1400"/>
              </a:spcAft>
              <a:buSzPct val="100000"/>
              <a:buChar char="•"/>
            </a:pPr>
            <a:r>
              <a:rPr lang="en-US" sz="1500" dirty="0">
                <a:solidFill>
                  <a:srgbClr val="1A1A2E"/>
                </a:solidFill>
              </a:rPr>
              <a:t>Input 1: price per resistor = $0.15    |    Input 2: quantity = 40    |    Output: total cost = ?</a:t>
            </a:r>
            <a:endParaRPr lang="en-US" sz="1500" dirty="0"/>
          </a:p>
          <a:p>
            <a:pPr marL="0" indent="0">
              <a:spcAft>
                <a:spcPts val="400"/>
              </a:spcAft>
              <a:buNone/>
            </a:pPr>
            <a:r>
              <a:rPr lang="en-US" sz="1500" b="1" dirty="0">
                <a:solidFill>
                  <a:srgbClr val="1A1A2E"/>
                </a:solidFill>
              </a:rPr>
              <a:t>Step 2 — Write the Algorithm in Plain English</a:t>
            </a:r>
            <a:endParaRPr lang="en-US" sz="1500" dirty="0"/>
          </a:p>
          <a:p>
            <a:pPr marL="342900" indent="-342900">
              <a:spcAft>
                <a:spcPts val="400"/>
              </a:spcAft>
              <a:buSzPct val="100000"/>
              <a:buChar char="•"/>
            </a:pPr>
            <a:r>
              <a:rPr lang="en-US" sz="1500" dirty="0">
                <a:solidFill>
                  <a:srgbClr val="1A1A2E"/>
                </a:solidFill>
              </a:rPr>
              <a:t>1. Set the price   2. Set the quantity   3. Multiply   4. Display</a:t>
            </a:r>
            <a:endParaRPr lang="en-US" sz="1500" dirty="0"/>
          </a:p>
        </p:txBody>
      </p:sp>
      <p:sp>
        <p:nvSpPr>
          <p:cNvPr id="5" name="Text 3"/>
          <p:cNvSpPr txBox="1"/>
          <p:nvPr/>
        </p:nvSpPr>
        <p:spPr>
          <a:xfrm>
            <a:off x="274320" y="6537960"/>
            <a:ext cx="11612880" cy="274320"/>
          </a:xfrm>
          <a:prstGeom prst="rect">
            <a:avLst/>
          </a:prstGeom>
          <a:noFill/>
          <a:ln/>
        </p:spPr>
        <p:txBody>
          <a:bodyPr wrap="square" rtlCol="0" anchor="ctr"/>
          <a:lstStyle/>
          <a:p>
            <a:pPr marL="0" indent="0" algn="r">
              <a:buNone/>
            </a:pPr>
            <a:r>
              <a:rPr lang="en-US" sz="1100" dirty="0">
                <a:solidFill>
                  <a:srgbClr val="999999"/>
                </a:solidFill>
              </a:rPr>
              <a:t>CSE 120 · Module 1</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822960"/>
          </a:xfrm>
          <a:prstGeom prst="rect">
            <a:avLst/>
          </a:prstGeom>
          <a:solidFill>
            <a:srgbClr val="003767"/>
          </a:solidFill>
          <a:ln w="12700">
            <a:solidFill>
              <a:srgbClr val="003767"/>
            </a:solidFill>
            <a:prstDash val="solid"/>
          </a:ln>
        </p:spPr>
        <p:txBody>
          <a:bodyPr/>
          <a:lstStyle/>
          <a:p>
            <a:endParaRPr lang="en-US"/>
          </a:p>
        </p:txBody>
      </p:sp>
      <p:sp>
        <p:nvSpPr>
          <p:cNvPr id="3" name="Text 1"/>
          <p:cNvSpPr txBox="1"/>
          <p:nvPr/>
        </p:nvSpPr>
        <p:spPr>
          <a:xfrm>
            <a:off x="274320" y="73152"/>
            <a:ext cx="11612880" cy="685800"/>
          </a:xfrm>
          <a:prstGeom prst="rect">
            <a:avLst/>
          </a:prstGeom>
          <a:noFill/>
          <a:ln/>
        </p:spPr>
        <p:txBody>
          <a:bodyPr wrap="square" rtlCol="0" anchor="ctr"/>
          <a:lstStyle/>
          <a:p>
            <a:pPr marL="0" indent="0">
              <a:buNone/>
            </a:pPr>
            <a:r>
              <a:rPr lang="en-US" sz="2000" b="1" dirty="0">
                <a:solidFill>
                  <a:srgbClr val="FFFFFF"/>
                </a:solidFill>
              </a:rPr>
              <a:t>Translating the Algorithm to Python</a:t>
            </a:r>
            <a:endParaRPr lang="en-US" sz="2000" dirty="0"/>
          </a:p>
        </p:txBody>
      </p:sp>
      <p:sp>
        <p:nvSpPr>
          <p:cNvPr id="4" name="Shape 2"/>
          <p:cNvSpPr/>
          <p:nvPr/>
        </p:nvSpPr>
        <p:spPr>
          <a:xfrm>
            <a:off x="274320" y="914400"/>
            <a:ext cx="6400800" cy="5394960"/>
          </a:xfrm>
          <a:prstGeom prst="rect">
            <a:avLst/>
          </a:prstGeom>
          <a:solidFill>
            <a:srgbClr val="1E2D40"/>
          </a:solidFill>
          <a:ln w="12700">
            <a:solidFill>
              <a:srgbClr val="2A4060"/>
            </a:solidFill>
            <a:prstDash val="solid"/>
          </a:ln>
        </p:spPr>
        <p:txBody>
          <a:bodyPr/>
          <a:lstStyle/>
          <a:p>
            <a:endParaRPr lang="en-US"/>
          </a:p>
        </p:txBody>
      </p:sp>
      <p:sp>
        <p:nvSpPr>
          <p:cNvPr id="5" name="Text 3"/>
          <p:cNvSpPr txBox="1"/>
          <p:nvPr/>
        </p:nvSpPr>
        <p:spPr>
          <a:xfrm>
            <a:off x="365760" y="960120"/>
            <a:ext cx="6217920" cy="320040"/>
          </a:xfrm>
          <a:prstGeom prst="rect">
            <a:avLst/>
          </a:prstGeom>
          <a:noFill/>
          <a:ln/>
        </p:spPr>
        <p:txBody>
          <a:bodyPr wrap="square" rtlCol="0" anchor="ctr"/>
          <a:lstStyle/>
          <a:p>
            <a:pPr marL="0" indent="0">
              <a:buNone/>
            </a:pPr>
            <a:r>
              <a:rPr lang="en-US" sz="1100" b="1" dirty="0">
                <a:solidFill>
                  <a:srgbClr val="88AACC"/>
                </a:solidFill>
              </a:rPr>
              <a:t>python</a:t>
            </a:r>
            <a:endParaRPr lang="en-US" sz="1100" dirty="0"/>
          </a:p>
        </p:txBody>
      </p:sp>
      <p:sp>
        <p:nvSpPr>
          <p:cNvPr id="6" name="Text 4"/>
          <p:cNvSpPr txBox="1"/>
          <p:nvPr/>
        </p:nvSpPr>
        <p:spPr>
          <a:xfrm>
            <a:off x="365760" y="1325880"/>
            <a:ext cx="6217920" cy="4846320"/>
          </a:xfrm>
          <a:prstGeom prst="rect">
            <a:avLst/>
          </a:prstGeom>
          <a:noFill/>
          <a:ln/>
        </p:spPr>
        <p:txBody>
          <a:bodyPr wrap="square" rtlCol="0" anchor="t"/>
          <a:lstStyle/>
          <a:p>
            <a:pPr marL="0" indent="0">
              <a:buNone/>
            </a:pPr>
            <a:r>
              <a:rPr lang="en-US" sz="1300" dirty="0">
                <a:solidFill>
                  <a:srgbClr val="E8F4FD"/>
                </a:solidFill>
                <a:latin typeface="Courier New" pitchFamily="34" charset="0"/>
                <a:ea typeface="Courier New" pitchFamily="34" charset="-122"/>
                <a:cs typeface="Courier New" pitchFamily="34" charset="-120"/>
              </a:rPr>
              <a:t>price    = 0.15</a:t>
            </a:r>
            <a:endParaRPr lang="en-US" sz="1300" dirty="0"/>
          </a:p>
          <a:p>
            <a:pPr marL="0" indent="0">
              <a:buNone/>
            </a:pPr>
            <a:r>
              <a:rPr lang="en-US" sz="1300" dirty="0">
                <a:solidFill>
                  <a:srgbClr val="E8F4FD"/>
                </a:solidFill>
                <a:latin typeface="Courier New" pitchFamily="34" charset="0"/>
                <a:ea typeface="Courier New" pitchFamily="34" charset="-122"/>
                <a:cs typeface="Courier New" pitchFamily="34" charset="-120"/>
              </a:rPr>
              <a:t>quantity = 40</a:t>
            </a:r>
            <a:endParaRPr lang="en-US" sz="1300" dirty="0"/>
          </a:p>
          <a:p>
            <a:pPr marL="0" indent="0">
              <a:buNone/>
            </a:pPr>
            <a:r>
              <a:rPr lang="en-US" sz="1300" dirty="0">
                <a:solidFill>
                  <a:srgbClr val="E8F4FD"/>
                </a:solidFill>
                <a:latin typeface="Courier New" pitchFamily="34" charset="0"/>
                <a:ea typeface="Courier New" pitchFamily="34" charset="-122"/>
                <a:cs typeface="Courier New" pitchFamily="34" charset="-120"/>
              </a:rPr>
              <a:t>total    = price * quantity</a:t>
            </a:r>
            <a:endParaRPr lang="en-US" sz="1300" dirty="0"/>
          </a:p>
          <a:p>
            <a:pPr marL="0" indent="0">
              <a:buNone/>
            </a:pPr>
            <a:r>
              <a:rPr lang="en-US" sz="1300" dirty="0">
                <a:solidFill>
                  <a:srgbClr val="E8F4FD"/>
                </a:solidFill>
                <a:latin typeface="Courier New" pitchFamily="34" charset="0"/>
                <a:ea typeface="Courier New" pitchFamily="34" charset="-122"/>
                <a:cs typeface="Courier New" pitchFamily="34" charset="-120"/>
              </a:rPr>
              <a:t>print("Total cost: $", total)</a:t>
            </a:r>
            <a:endParaRPr lang="en-US" sz="1300" dirty="0"/>
          </a:p>
        </p:txBody>
      </p:sp>
      <p:sp>
        <p:nvSpPr>
          <p:cNvPr id="7" name="Text 5"/>
          <p:cNvSpPr txBox="1"/>
          <p:nvPr/>
        </p:nvSpPr>
        <p:spPr>
          <a:xfrm>
            <a:off x="6949440" y="914400"/>
            <a:ext cx="4937760" cy="5394960"/>
          </a:xfrm>
          <a:prstGeom prst="rect">
            <a:avLst/>
          </a:prstGeom>
          <a:noFill/>
          <a:ln/>
        </p:spPr>
        <p:txBody>
          <a:bodyPr wrap="square" rtlCol="0" anchor="t"/>
          <a:lstStyle/>
          <a:p>
            <a:pPr marL="0" indent="0">
              <a:spcAft>
                <a:spcPts val="400"/>
              </a:spcAft>
              <a:buNone/>
            </a:pPr>
            <a:r>
              <a:rPr lang="en-US" sz="1400" b="1" dirty="0">
                <a:solidFill>
                  <a:srgbClr val="1A1A2E"/>
                </a:solidFill>
              </a:rPr>
              <a:t>Step 1: Set the inputs</a:t>
            </a:r>
            <a:endParaRPr lang="en-US" sz="1400" dirty="0"/>
          </a:p>
          <a:p>
            <a:pPr marL="0" indent="0">
              <a:spcAft>
                <a:spcPts val="1200"/>
              </a:spcAft>
              <a:buNone/>
            </a:pPr>
            <a:r>
              <a:rPr lang="en-US" sz="1300" dirty="0">
                <a:solidFill>
                  <a:srgbClr val="1A1A2E"/>
                </a:solidFill>
              </a:rPr>
              <a:t>price = 0.15   and   quantity = 40</a:t>
            </a:r>
            <a:endParaRPr lang="en-US" sz="1400" dirty="0"/>
          </a:p>
          <a:p>
            <a:pPr marL="0" indent="0">
              <a:spcAft>
                <a:spcPts val="400"/>
              </a:spcAft>
              <a:buNone/>
            </a:pPr>
            <a:r>
              <a:rPr lang="en-US" sz="1400" b="1" dirty="0">
                <a:solidFill>
                  <a:srgbClr val="1A1A2E"/>
                </a:solidFill>
              </a:rPr>
              <a:t>Step 2: Calculate</a:t>
            </a:r>
            <a:endParaRPr lang="en-US" sz="1400" dirty="0"/>
          </a:p>
          <a:p>
            <a:pPr marL="0" indent="0">
              <a:spcAft>
                <a:spcPts val="1200"/>
              </a:spcAft>
              <a:buNone/>
            </a:pPr>
            <a:r>
              <a:rPr lang="en-US" sz="1300" dirty="0">
                <a:solidFill>
                  <a:srgbClr val="1A1A2E"/>
                </a:solidFill>
              </a:rPr>
              <a:t>total = price * quantity</a:t>
            </a:r>
            <a:endParaRPr lang="en-US" sz="1400" dirty="0"/>
          </a:p>
          <a:p>
            <a:pPr marL="0" indent="0">
              <a:spcAft>
                <a:spcPts val="400"/>
              </a:spcAft>
              <a:buNone/>
            </a:pPr>
            <a:r>
              <a:rPr lang="en-US" sz="1400" b="1" dirty="0">
                <a:solidFill>
                  <a:srgbClr val="1A1A2E"/>
                </a:solidFill>
              </a:rPr>
              <a:t>Step 3: Display the result</a:t>
            </a:r>
            <a:endParaRPr lang="en-US" sz="1400" dirty="0"/>
          </a:p>
          <a:p>
            <a:pPr marL="0" indent="0">
              <a:spcAft>
                <a:spcPts val="1600"/>
              </a:spcAft>
              <a:buNone/>
            </a:pPr>
            <a:r>
              <a:rPr lang="en-US" sz="1300" dirty="0">
                <a:solidFill>
                  <a:srgbClr val="1A1A2E"/>
                </a:solidFill>
              </a:rPr>
              <a:t>print("Total cost: $", total)</a:t>
            </a:r>
            <a:endParaRPr lang="en-US" sz="1400" dirty="0"/>
          </a:p>
          <a:p>
            <a:pPr marL="0" indent="0">
              <a:spcAft>
                <a:spcPts val="500"/>
              </a:spcAft>
              <a:buNone/>
            </a:pPr>
            <a:r>
              <a:rPr lang="en-US" sz="1400" b="1" dirty="0">
                <a:solidFill>
                  <a:srgbClr val="0074B7"/>
                </a:solidFill>
              </a:rPr>
              <a:t>Output: Total cost: $ 6.0</a:t>
            </a:r>
            <a:endParaRPr lang="en-US" sz="1400" dirty="0"/>
          </a:p>
        </p:txBody>
      </p:sp>
      <p:sp>
        <p:nvSpPr>
          <p:cNvPr id="8" name="Text 6"/>
          <p:cNvSpPr txBox="1"/>
          <p:nvPr/>
        </p:nvSpPr>
        <p:spPr>
          <a:xfrm>
            <a:off x="274320" y="6537960"/>
            <a:ext cx="11612880" cy="274320"/>
          </a:xfrm>
          <a:prstGeom prst="rect">
            <a:avLst/>
          </a:prstGeom>
          <a:noFill/>
          <a:ln/>
        </p:spPr>
        <p:txBody>
          <a:bodyPr wrap="square" rtlCol="0" anchor="ctr"/>
          <a:lstStyle/>
          <a:p>
            <a:pPr marL="0" indent="0" algn="r">
              <a:buNone/>
            </a:pPr>
            <a:r>
              <a:rPr lang="en-US" sz="1100" dirty="0">
                <a:solidFill>
                  <a:srgbClr val="999999"/>
                </a:solidFill>
              </a:rPr>
              <a:t>CSE 120 · Module 1</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03767"/>
        </a:solidFill>
        <a:effectLst/>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03767"/>
          </a:solidFill>
          <a:ln w="12700">
            <a:solidFill>
              <a:srgbClr val="003767"/>
            </a:solidFill>
            <a:prstDash val="solid"/>
          </a:ln>
        </p:spPr>
        <p:txBody>
          <a:bodyPr/>
          <a:lstStyle/>
          <a:p>
            <a:endParaRPr lang="en-US"/>
          </a:p>
        </p:txBody>
      </p:sp>
      <p:sp>
        <p:nvSpPr>
          <p:cNvPr id="3" name="Shape 1"/>
          <p:cNvSpPr/>
          <p:nvPr/>
        </p:nvSpPr>
        <p:spPr>
          <a:xfrm>
            <a:off x="0" y="5303520"/>
            <a:ext cx="12161520" cy="1554480"/>
          </a:xfrm>
          <a:prstGeom prst="rect">
            <a:avLst/>
          </a:prstGeom>
          <a:solidFill>
            <a:srgbClr val="001F40"/>
          </a:solidFill>
          <a:ln w="12700">
            <a:solidFill>
              <a:srgbClr val="001F40"/>
            </a:solidFill>
            <a:prstDash val="solid"/>
          </a:ln>
        </p:spPr>
        <p:txBody>
          <a:bodyPr/>
          <a:lstStyle/>
          <a:p>
            <a:endParaRPr lang="en-US"/>
          </a:p>
        </p:txBody>
      </p:sp>
      <p:sp>
        <p:nvSpPr>
          <p:cNvPr id="4" name="Text 2"/>
          <p:cNvSpPr txBox="1"/>
          <p:nvPr/>
        </p:nvSpPr>
        <p:spPr>
          <a:xfrm>
            <a:off x="731520" y="914400"/>
            <a:ext cx="10698480" cy="822960"/>
          </a:xfrm>
          <a:prstGeom prst="rect">
            <a:avLst/>
          </a:prstGeom>
          <a:noFill/>
          <a:ln/>
        </p:spPr>
        <p:txBody>
          <a:bodyPr wrap="square" rtlCol="0" anchor="ctr"/>
          <a:lstStyle/>
          <a:p>
            <a:pPr marL="0" indent="0" algn="ctr">
              <a:buNone/>
            </a:pPr>
            <a:r>
              <a:rPr lang="en-US" sz="2000" b="1" dirty="0">
                <a:solidFill>
                  <a:srgbClr val="0074B7"/>
                </a:solidFill>
              </a:rPr>
              <a:t>Part 3</a:t>
            </a:r>
            <a:endParaRPr lang="en-US" sz="2000" dirty="0"/>
          </a:p>
        </p:txBody>
      </p:sp>
      <p:sp>
        <p:nvSpPr>
          <p:cNvPr id="5" name="Text 3"/>
          <p:cNvSpPr txBox="1"/>
          <p:nvPr/>
        </p:nvSpPr>
        <p:spPr>
          <a:xfrm>
            <a:off x="731520" y="1737360"/>
            <a:ext cx="10698480" cy="2286000"/>
          </a:xfrm>
          <a:prstGeom prst="rect">
            <a:avLst/>
          </a:prstGeom>
          <a:noFill/>
          <a:ln/>
        </p:spPr>
        <p:txBody>
          <a:bodyPr wrap="square" rtlCol="0" anchor="ctr"/>
          <a:lstStyle/>
          <a:p>
            <a:pPr marL="0" indent="0" algn="ctr">
              <a:buNone/>
            </a:pPr>
            <a:r>
              <a:rPr lang="en-US" sz="4000" b="1" dirty="0">
                <a:solidFill>
                  <a:srgbClr val="FFFFFF"/>
                </a:solidFill>
              </a:rPr>
              <a:t>Variables</a:t>
            </a:r>
            <a:endParaRPr lang="en-US" sz="4000" dirty="0"/>
          </a:p>
        </p:txBody>
      </p:sp>
      <p:sp>
        <p:nvSpPr>
          <p:cNvPr id="6" name="Text 4"/>
          <p:cNvSpPr txBox="1"/>
          <p:nvPr/>
        </p:nvSpPr>
        <p:spPr>
          <a:xfrm>
            <a:off x="731520" y="4114800"/>
            <a:ext cx="10698480" cy="1005840"/>
          </a:xfrm>
          <a:prstGeom prst="rect">
            <a:avLst/>
          </a:prstGeom>
          <a:noFill/>
          <a:ln/>
        </p:spPr>
        <p:txBody>
          <a:bodyPr wrap="square" rtlCol="0" anchor="ctr"/>
          <a:lstStyle/>
          <a:p>
            <a:pPr marL="0" indent="0" algn="ctr">
              <a:buNone/>
            </a:pPr>
            <a:r>
              <a:rPr lang="en-US" sz="1500" dirty="0">
                <a:solidFill>
                  <a:srgbClr val="7BAFD4"/>
                </a:solidFill>
              </a:rPr>
              <a:t>Storing Values · Assignment · Naming · Tracing</a:t>
            </a:r>
            <a:endParaRPr lang="en-US" sz="1500" dirty="0"/>
          </a:p>
        </p:txBody>
      </p:sp>
      <p:sp>
        <p:nvSpPr>
          <p:cNvPr id="7" name="Text 5"/>
          <p:cNvSpPr txBox="1"/>
          <p:nvPr/>
        </p:nvSpPr>
        <p:spPr>
          <a:xfrm>
            <a:off x="731520" y="5577840"/>
            <a:ext cx="10698480" cy="731520"/>
          </a:xfrm>
          <a:prstGeom prst="rect">
            <a:avLst/>
          </a:prstGeom>
          <a:noFill/>
          <a:ln/>
        </p:spPr>
        <p:txBody>
          <a:bodyPr wrap="square" rtlCol="0" anchor="ctr"/>
          <a:lstStyle/>
          <a:p>
            <a:pPr marL="0" indent="0" algn="ctr">
              <a:buNone/>
            </a:pPr>
            <a:r>
              <a:rPr lang="en-US" sz="1300" dirty="0">
                <a:solidFill>
                  <a:srgbClr val="6699BB"/>
                </a:solidFill>
              </a:rPr>
              <a:t>CSE 120 · Module 1</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822960"/>
          </a:xfrm>
          <a:prstGeom prst="rect">
            <a:avLst/>
          </a:prstGeom>
          <a:solidFill>
            <a:srgbClr val="003767"/>
          </a:solidFill>
          <a:ln w="12700">
            <a:solidFill>
              <a:srgbClr val="003767"/>
            </a:solidFill>
            <a:prstDash val="solid"/>
          </a:ln>
        </p:spPr>
        <p:txBody>
          <a:bodyPr/>
          <a:lstStyle/>
          <a:p>
            <a:endParaRPr lang="en-US"/>
          </a:p>
        </p:txBody>
      </p:sp>
      <p:sp>
        <p:nvSpPr>
          <p:cNvPr id="3" name="Text 1"/>
          <p:cNvSpPr txBox="1"/>
          <p:nvPr/>
        </p:nvSpPr>
        <p:spPr>
          <a:xfrm>
            <a:off x="274320" y="73152"/>
            <a:ext cx="11612880" cy="685800"/>
          </a:xfrm>
          <a:prstGeom prst="rect">
            <a:avLst/>
          </a:prstGeom>
          <a:noFill/>
          <a:ln/>
        </p:spPr>
        <p:txBody>
          <a:bodyPr wrap="square" rtlCol="0" anchor="ctr"/>
          <a:lstStyle/>
          <a:p>
            <a:pPr marL="0" indent="0">
              <a:buNone/>
            </a:pPr>
            <a:r>
              <a:rPr lang="en-US" sz="2000" b="1" dirty="0">
                <a:solidFill>
                  <a:srgbClr val="FFFFFF"/>
                </a:solidFill>
              </a:rPr>
              <a:t>What Is a Variable?</a:t>
            </a:r>
            <a:endParaRPr lang="en-US" sz="2000" dirty="0"/>
          </a:p>
        </p:txBody>
      </p:sp>
      <p:sp>
        <p:nvSpPr>
          <p:cNvPr id="4" name="Text 2"/>
          <p:cNvSpPr txBox="1"/>
          <p:nvPr/>
        </p:nvSpPr>
        <p:spPr>
          <a:xfrm>
            <a:off x="365760" y="914400"/>
            <a:ext cx="11430000" cy="5577840"/>
          </a:xfrm>
          <a:prstGeom prst="rect">
            <a:avLst/>
          </a:prstGeom>
          <a:noFill/>
          <a:ln/>
        </p:spPr>
        <p:txBody>
          <a:bodyPr wrap="square" rtlCol="0" anchor="t"/>
          <a:lstStyle/>
          <a:p>
            <a:pPr marL="342900" indent="-342900">
              <a:spcAft>
                <a:spcPts val="1000"/>
              </a:spcAft>
              <a:buSzPct val="100000"/>
              <a:buChar char="•"/>
            </a:pPr>
            <a:r>
              <a:rPr lang="en-US" sz="1500" b="1" dirty="0">
                <a:solidFill>
                  <a:srgbClr val="1A1A2E"/>
                </a:solidFill>
              </a:rPr>
              <a:t>A variable is a named storage location in the computer's memory</a:t>
            </a:r>
            <a:endParaRPr lang="en-US" sz="1500" dirty="0"/>
          </a:p>
          <a:p>
            <a:pPr marL="342900" indent="-342900">
              <a:spcAft>
                <a:spcPts val="1800"/>
              </a:spcAft>
              <a:buSzPct val="100000"/>
              <a:buChar char="•"/>
            </a:pPr>
            <a:r>
              <a:rPr lang="en-US" sz="1500" dirty="0">
                <a:solidFill>
                  <a:srgbClr val="1A1A2E"/>
                </a:solidFill>
              </a:rPr>
              <a:t>Think of it like a labeled box — you put a value in, and you can look it up by name later</a:t>
            </a:r>
            <a:endParaRPr lang="en-US" sz="1500" dirty="0"/>
          </a:p>
          <a:p>
            <a:pPr marL="0" indent="0">
              <a:spcAft>
                <a:spcPts val="800"/>
              </a:spcAft>
              <a:buNone/>
            </a:pPr>
            <a:r>
              <a:rPr lang="en-US" sz="1500" b="1" dirty="0">
                <a:solidFill>
                  <a:srgbClr val="1A1A2E"/>
                </a:solidFill>
              </a:rPr>
              <a:t>In Python, you create a variable with the = symbol:</a:t>
            </a:r>
            <a:endParaRPr lang="en-US" sz="1500" dirty="0"/>
          </a:p>
          <a:p>
            <a:pPr marL="0" indent="0">
              <a:spcAft>
                <a:spcPts val="1600"/>
              </a:spcAft>
              <a:buNone/>
            </a:pPr>
            <a:r>
              <a:rPr lang="en-US" sz="2000" b="1" dirty="0">
                <a:solidFill>
                  <a:srgbClr val="1E2D40"/>
                </a:solidFill>
              </a:rPr>
              <a:t>temperature = 98.6</a:t>
            </a:r>
            <a:endParaRPr lang="en-US" sz="1500" dirty="0"/>
          </a:p>
          <a:p>
            <a:pPr marL="342900" indent="-342900">
              <a:spcAft>
                <a:spcPts val="500"/>
              </a:spcAft>
              <a:buSzPct val="100000"/>
              <a:buChar char="•"/>
            </a:pPr>
            <a:r>
              <a:rPr lang="en-US" sz="1500" dirty="0">
                <a:solidFill>
                  <a:srgbClr val="1A1A2E"/>
                </a:solidFill>
              </a:rPr>
              <a:t>"temperature" — the variable's name (label on the box)</a:t>
            </a:r>
            <a:endParaRPr lang="en-US" sz="1500" dirty="0"/>
          </a:p>
          <a:p>
            <a:pPr marL="342900" indent="-342900">
              <a:spcAft>
                <a:spcPts val="500"/>
              </a:spcAft>
              <a:buSzPct val="100000"/>
              <a:buChar char="•"/>
            </a:pPr>
            <a:r>
              <a:rPr lang="en-US" sz="1500" dirty="0">
                <a:solidFill>
                  <a:srgbClr val="1A1A2E"/>
                </a:solidFill>
              </a:rPr>
              <a:t>"=" — the assignment operator: "store this value in this variable"</a:t>
            </a:r>
            <a:endParaRPr lang="en-US" sz="1500" dirty="0"/>
          </a:p>
          <a:p>
            <a:pPr marL="342900" indent="-342900">
              <a:spcAft>
                <a:spcPts val="400"/>
              </a:spcAft>
              <a:buSzPct val="100000"/>
              <a:buChar char="•"/>
            </a:pPr>
            <a:r>
              <a:rPr lang="en-US" sz="1500" dirty="0">
                <a:solidFill>
                  <a:srgbClr val="1A1A2E"/>
                </a:solidFill>
              </a:rPr>
              <a:t>"98.6" — the value being stored</a:t>
            </a:r>
            <a:endParaRPr lang="en-US" sz="1500" dirty="0"/>
          </a:p>
        </p:txBody>
      </p:sp>
      <p:sp>
        <p:nvSpPr>
          <p:cNvPr id="5" name="Text 3"/>
          <p:cNvSpPr txBox="1"/>
          <p:nvPr/>
        </p:nvSpPr>
        <p:spPr>
          <a:xfrm>
            <a:off x="274320" y="6537960"/>
            <a:ext cx="11612880" cy="274320"/>
          </a:xfrm>
          <a:prstGeom prst="rect">
            <a:avLst/>
          </a:prstGeom>
          <a:noFill/>
          <a:ln/>
        </p:spPr>
        <p:txBody>
          <a:bodyPr wrap="square" rtlCol="0" anchor="ctr"/>
          <a:lstStyle/>
          <a:p>
            <a:pPr marL="0" indent="0" algn="r">
              <a:buNone/>
            </a:pPr>
            <a:r>
              <a:rPr lang="en-US" sz="1100" dirty="0">
                <a:solidFill>
                  <a:srgbClr val="999999"/>
                </a:solidFill>
              </a:rPr>
              <a:t>CSE 120 · Module 1</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822960"/>
          </a:xfrm>
          <a:prstGeom prst="rect">
            <a:avLst/>
          </a:prstGeom>
          <a:solidFill>
            <a:srgbClr val="003767"/>
          </a:solidFill>
          <a:ln w="12700">
            <a:solidFill>
              <a:srgbClr val="003767"/>
            </a:solidFill>
            <a:prstDash val="solid"/>
          </a:ln>
        </p:spPr>
        <p:txBody>
          <a:bodyPr/>
          <a:lstStyle/>
          <a:p>
            <a:endParaRPr lang="en-US"/>
          </a:p>
        </p:txBody>
      </p:sp>
      <p:sp>
        <p:nvSpPr>
          <p:cNvPr id="3" name="Text 1"/>
          <p:cNvSpPr txBox="1"/>
          <p:nvPr/>
        </p:nvSpPr>
        <p:spPr>
          <a:xfrm>
            <a:off x="274320" y="73152"/>
            <a:ext cx="11612880" cy="685800"/>
          </a:xfrm>
          <a:prstGeom prst="rect">
            <a:avLst/>
          </a:prstGeom>
          <a:noFill/>
          <a:ln/>
        </p:spPr>
        <p:txBody>
          <a:bodyPr wrap="square" rtlCol="0" anchor="ctr"/>
          <a:lstStyle/>
          <a:p>
            <a:pPr marL="0" indent="0">
              <a:buNone/>
            </a:pPr>
            <a:r>
              <a:rPr lang="en-US" sz="2000" b="1" dirty="0">
                <a:solidFill>
                  <a:srgbClr val="FFFFFF"/>
                </a:solidFill>
              </a:rPr>
              <a:t>Naming Variables — The Rules</a:t>
            </a:r>
            <a:endParaRPr lang="en-US" sz="2000" dirty="0"/>
          </a:p>
        </p:txBody>
      </p:sp>
      <p:sp>
        <p:nvSpPr>
          <p:cNvPr id="4" name="Text 2"/>
          <p:cNvSpPr txBox="1"/>
          <p:nvPr/>
        </p:nvSpPr>
        <p:spPr>
          <a:xfrm>
            <a:off x="365760" y="914400"/>
            <a:ext cx="11430000" cy="5577840"/>
          </a:xfrm>
          <a:prstGeom prst="rect">
            <a:avLst/>
          </a:prstGeom>
          <a:noFill/>
          <a:ln/>
        </p:spPr>
        <p:txBody>
          <a:bodyPr wrap="square" rtlCol="0" anchor="t"/>
          <a:lstStyle/>
          <a:p>
            <a:pPr marL="0" indent="0">
              <a:spcAft>
                <a:spcPts val="800"/>
              </a:spcAft>
              <a:buNone/>
            </a:pPr>
            <a:r>
              <a:rPr lang="en-US" sz="1500" b="1" dirty="0">
                <a:solidFill>
                  <a:srgbClr val="1A1A2E"/>
                </a:solidFill>
              </a:rPr>
              <a:t>Rules (Python enforces these — break them and you get an error):</a:t>
            </a:r>
            <a:endParaRPr lang="en-US" sz="1500" dirty="0"/>
          </a:p>
          <a:p>
            <a:pPr marL="342900" indent="-342900">
              <a:spcAft>
                <a:spcPts val="500"/>
              </a:spcAft>
              <a:buSzPct val="100000"/>
              <a:buChar char="•"/>
            </a:pPr>
            <a:r>
              <a:rPr lang="en-US" sz="1500" dirty="0">
                <a:solidFill>
                  <a:srgbClr val="1A1A2E"/>
                </a:solidFill>
              </a:rPr>
              <a:t>Can only use letters, digits, and underscore ( _ )</a:t>
            </a:r>
            <a:endParaRPr lang="en-US" sz="1500" dirty="0"/>
          </a:p>
          <a:p>
            <a:pPr marL="342900" indent="-342900">
              <a:spcAft>
                <a:spcPts val="500"/>
              </a:spcAft>
              <a:buSzPct val="100000"/>
              <a:buChar char="•"/>
            </a:pPr>
            <a:r>
              <a:rPr lang="en-US" sz="1500" dirty="0">
                <a:solidFill>
                  <a:srgbClr val="1A1A2E"/>
                </a:solidFill>
              </a:rPr>
              <a:t>Must start with a letter or underscore — NOT a digit</a:t>
            </a:r>
            <a:endParaRPr lang="en-US" sz="1500" dirty="0"/>
          </a:p>
          <a:p>
            <a:pPr marL="342900" indent="-342900">
              <a:spcAft>
                <a:spcPts val="500"/>
              </a:spcAft>
              <a:buSzPct val="100000"/>
              <a:buChar char="•"/>
            </a:pPr>
            <a:r>
              <a:rPr lang="en-US" sz="1500" dirty="0">
                <a:solidFill>
                  <a:srgbClr val="1A1A2E"/>
                </a:solidFill>
              </a:rPr>
              <a:t>No spaces in variable names</a:t>
            </a:r>
            <a:endParaRPr lang="en-US" sz="1500" dirty="0"/>
          </a:p>
          <a:p>
            <a:pPr marL="342900" indent="-342900">
              <a:spcAft>
                <a:spcPts val="1600"/>
              </a:spcAft>
              <a:buSzPct val="100000"/>
              <a:buChar char="•"/>
            </a:pPr>
            <a:r>
              <a:rPr lang="en-US" sz="1500" dirty="0">
                <a:solidFill>
                  <a:srgbClr val="1A1A2E"/>
                </a:solidFill>
              </a:rPr>
              <a:t>Case-sensitive: temperature and Temperature are two different variables</a:t>
            </a:r>
            <a:endParaRPr lang="en-US" sz="1500" dirty="0"/>
          </a:p>
          <a:p>
            <a:pPr marL="0" indent="0">
              <a:spcAft>
                <a:spcPts val="500"/>
              </a:spcAft>
              <a:buNone/>
            </a:pPr>
            <a:r>
              <a:rPr lang="en-US" sz="1500" b="1" dirty="0">
                <a:solidFill>
                  <a:srgbClr val="1A1A2E"/>
                </a:solidFill>
              </a:rPr>
              <a:t>Good names (clear, descriptive):</a:t>
            </a:r>
            <a:endParaRPr lang="en-US" sz="1500" dirty="0"/>
          </a:p>
          <a:p>
            <a:pPr marL="0" indent="0">
              <a:spcAft>
                <a:spcPts val="1200"/>
              </a:spcAft>
              <a:buNone/>
            </a:pPr>
            <a:r>
              <a:rPr lang="en-US" sz="1400" dirty="0">
                <a:solidFill>
                  <a:srgbClr val="2D6A4F"/>
                </a:solidFill>
              </a:rPr>
              <a:t>temperature   sensor_reading   total_cost   is_safe</a:t>
            </a:r>
            <a:endParaRPr lang="en-US" sz="1500" dirty="0"/>
          </a:p>
          <a:p>
            <a:pPr marL="0" indent="0">
              <a:spcAft>
                <a:spcPts val="500"/>
              </a:spcAft>
              <a:buNone/>
            </a:pPr>
            <a:r>
              <a:rPr lang="en-US" sz="1500" b="1" dirty="0">
                <a:solidFill>
                  <a:srgbClr val="1A1A2E"/>
                </a:solidFill>
              </a:rPr>
              <a:t>Poor names (avoid):</a:t>
            </a:r>
            <a:endParaRPr lang="en-US" sz="1500" dirty="0"/>
          </a:p>
          <a:p>
            <a:pPr marL="0" indent="0">
              <a:spcAft>
                <a:spcPts val="400"/>
              </a:spcAft>
              <a:buNone/>
            </a:pPr>
            <a:r>
              <a:rPr lang="en-US" sz="1400" dirty="0">
                <a:solidFill>
                  <a:srgbClr val="991B1B"/>
                </a:solidFill>
              </a:rPr>
              <a:t>x   t   asdf   my variable   1temp</a:t>
            </a:r>
            <a:endParaRPr lang="en-US" sz="1500" dirty="0"/>
          </a:p>
        </p:txBody>
      </p:sp>
      <p:sp>
        <p:nvSpPr>
          <p:cNvPr id="5" name="Text 3"/>
          <p:cNvSpPr txBox="1"/>
          <p:nvPr/>
        </p:nvSpPr>
        <p:spPr>
          <a:xfrm>
            <a:off x="274320" y="6537960"/>
            <a:ext cx="11612880" cy="274320"/>
          </a:xfrm>
          <a:prstGeom prst="rect">
            <a:avLst/>
          </a:prstGeom>
          <a:noFill/>
          <a:ln/>
        </p:spPr>
        <p:txBody>
          <a:bodyPr wrap="square" rtlCol="0" anchor="ctr"/>
          <a:lstStyle/>
          <a:p>
            <a:pPr marL="0" indent="0" algn="r">
              <a:buNone/>
            </a:pPr>
            <a:r>
              <a:rPr lang="en-US" sz="1100" dirty="0">
                <a:solidFill>
                  <a:srgbClr val="999999"/>
                </a:solidFill>
              </a:rPr>
              <a:t>CSE 120 · Module 1</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822960"/>
          </a:xfrm>
          <a:prstGeom prst="rect">
            <a:avLst/>
          </a:prstGeom>
          <a:solidFill>
            <a:srgbClr val="003767"/>
          </a:solidFill>
          <a:ln w="12700">
            <a:solidFill>
              <a:srgbClr val="003767"/>
            </a:solidFill>
            <a:prstDash val="solid"/>
          </a:ln>
        </p:spPr>
        <p:txBody>
          <a:bodyPr/>
          <a:lstStyle/>
          <a:p>
            <a:endParaRPr lang="en-US"/>
          </a:p>
        </p:txBody>
      </p:sp>
      <p:sp>
        <p:nvSpPr>
          <p:cNvPr id="3" name="Text 1"/>
          <p:cNvSpPr txBox="1"/>
          <p:nvPr/>
        </p:nvSpPr>
        <p:spPr>
          <a:xfrm>
            <a:off x="274320" y="73152"/>
            <a:ext cx="11612880" cy="685800"/>
          </a:xfrm>
          <a:prstGeom prst="rect">
            <a:avLst/>
          </a:prstGeom>
          <a:noFill/>
          <a:ln/>
        </p:spPr>
        <p:txBody>
          <a:bodyPr wrap="square" rtlCol="0" anchor="ctr"/>
          <a:lstStyle/>
          <a:p>
            <a:pPr marL="0" indent="0">
              <a:buNone/>
            </a:pPr>
            <a:r>
              <a:rPr lang="en-US" sz="2000" b="1" dirty="0">
                <a:solidFill>
                  <a:srgbClr val="FFFFFF"/>
                </a:solidFill>
              </a:rPr>
              <a:t>= Is Assignment, Not Equality</a:t>
            </a:r>
            <a:endParaRPr lang="en-US" sz="2000" dirty="0"/>
          </a:p>
        </p:txBody>
      </p:sp>
      <p:sp>
        <p:nvSpPr>
          <p:cNvPr id="4" name="Text 2"/>
          <p:cNvSpPr txBox="1"/>
          <p:nvPr/>
        </p:nvSpPr>
        <p:spPr>
          <a:xfrm>
            <a:off x="365760" y="914400"/>
            <a:ext cx="11430000" cy="5577840"/>
          </a:xfrm>
          <a:prstGeom prst="rect">
            <a:avLst/>
          </a:prstGeom>
          <a:noFill/>
          <a:ln/>
        </p:spPr>
        <p:txBody>
          <a:bodyPr wrap="square" rtlCol="0" anchor="t"/>
          <a:lstStyle/>
          <a:p>
            <a:pPr marL="342900" indent="-342900">
              <a:spcAft>
                <a:spcPts val="600"/>
              </a:spcAft>
              <a:buSzPct val="100000"/>
              <a:buChar char="•"/>
            </a:pPr>
            <a:r>
              <a:rPr lang="en-US" sz="1500" dirty="0">
                <a:solidFill>
                  <a:srgbClr val="1A1A2E"/>
                </a:solidFill>
              </a:rPr>
              <a:t>In math, = means "these two things are equal"</a:t>
            </a:r>
            <a:endParaRPr lang="en-US" sz="1500" dirty="0"/>
          </a:p>
          <a:p>
            <a:pPr marL="342900" indent="-342900">
              <a:spcAft>
                <a:spcPts val="1800"/>
              </a:spcAft>
              <a:buSzPct val="100000"/>
              <a:buChar char="•"/>
            </a:pPr>
            <a:r>
              <a:rPr lang="en-US" sz="1500" b="1" dirty="0">
                <a:solidFill>
                  <a:srgbClr val="1A1A2E"/>
                </a:solidFill>
              </a:rPr>
              <a:t>In Python, = means "store this value in this variable"</a:t>
            </a:r>
            <a:endParaRPr lang="en-US" sz="1500" dirty="0"/>
          </a:p>
          <a:p>
            <a:pPr marL="0" indent="0">
              <a:spcAft>
                <a:spcPts val="1000"/>
              </a:spcAft>
              <a:buNone/>
            </a:pPr>
            <a:r>
              <a:rPr lang="en-US" sz="1500" dirty="0">
                <a:solidFill>
                  <a:srgbClr val="1A1A2E"/>
                </a:solidFill>
              </a:rPr>
              <a:t>This is legal in Python — it would be impossible in math:</a:t>
            </a:r>
            <a:endParaRPr lang="en-US" sz="1500" dirty="0"/>
          </a:p>
          <a:p>
            <a:pPr marL="0" indent="0">
              <a:spcAft>
                <a:spcPts val="1000"/>
              </a:spcAft>
              <a:buNone/>
            </a:pPr>
            <a:r>
              <a:rPr lang="en-US" sz="2000" b="1" dirty="0">
                <a:solidFill>
                  <a:srgbClr val="1E2D40"/>
                </a:solidFill>
              </a:rPr>
              <a:t>count = count + 1</a:t>
            </a:r>
            <a:endParaRPr lang="en-US" sz="1500" dirty="0"/>
          </a:p>
          <a:p>
            <a:pPr marL="342900" indent="-342900">
              <a:spcAft>
                <a:spcPts val="1600"/>
              </a:spcAft>
              <a:buSzPct val="100000"/>
              <a:buChar char="•"/>
            </a:pPr>
            <a:r>
              <a:rPr lang="en-US" sz="1500" dirty="0">
                <a:solidFill>
                  <a:srgbClr val="1A1A2E"/>
                </a:solidFill>
              </a:rPr>
              <a:t>Read it as: "take the current value of count, add 1, and store the result back in count"</a:t>
            </a:r>
            <a:endParaRPr lang="en-US" sz="1500" dirty="0"/>
          </a:p>
          <a:p>
            <a:pPr marL="0" indent="0">
              <a:spcAft>
                <a:spcPts val="400"/>
              </a:spcAft>
              <a:buNone/>
            </a:pPr>
            <a:r>
              <a:rPr lang="en-US" sz="1500" b="1" dirty="0">
                <a:solidFill>
                  <a:srgbClr val="0074B7"/>
                </a:solidFill>
              </a:rPr>
              <a:t>To CHECK equality in Python, use double equals:  ==</a:t>
            </a:r>
            <a:endParaRPr lang="en-US" sz="1500" dirty="0"/>
          </a:p>
          <a:p>
            <a:pPr marL="0" indent="0">
              <a:spcAft>
                <a:spcPts val="400"/>
              </a:spcAft>
              <a:buNone/>
            </a:pPr>
            <a:r>
              <a:rPr lang="en-US" sz="1400" dirty="0">
                <a:solidFill>
                  <a:srgbClr val="1A1A2E"/>
                </a:solidFill>
              </a:rPr>
              <a:t>temperature == 98.6   ← this CHECKS if temperature equals 98.6</a:t>
            </a:r>
            <a:endParaRPr lang="en-US" sz="1500" dirty="0"/>
          </a:p>
        </p:txBody>
      </p:sp>
      <p:sp>
        <p:nvSpPr>
          <p:cNvPr id="5" name="Text 3"/>
          <p:cNvSpPr txBox="1"/>
          <p:nvPr/>
        </p:nvSpPr>
        <p:spPr>
          <a:xfrm>
            <a:off x="274320" y="6537960"/>
            <a:ext cx="11612880" cy="274320"/>
          </a:xfrm>
          <a:prstGeom prst="rect">
            <a:avLst/>
          </a:prstGeom>
          <a:noFill/>
          <a:ln/>
        </p:spPr>
        <p:txBody>
          <a:bodyPr wrap="square" rtlCol="0" anchor="ctr"/>
          <a:lstStyle/>
          <a:p>
            <a:pPr marL="0" indent="0" algn="r">
              <a:buNone/>
            </a:pPr>
            <a:r>
              <a:rPr lang="en-US" sz="1100" dirty="0">
                <a:solidFill>
                  <a:srgbClr val="999999"/>
                </a:solidFill>
              </a:rPr>
              <a:t>CSE 120 · Module 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0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4C1D95"/>
          </a:solidFill>
          <a:ln w="12700">
            <a:solidFill>
              <a:srgbClr val="4C1D95"/>
            </a:solidFill>
            <a:prstDash val="solid"/>
          </a:ln>
        </p:spPr>
        <p:txBody>
          <a:bodyPr/>
          <a:lstStyle/>
          <a:p>
            <a:endParaRPr lang="en-US"/>
          </a:p>
        </p:txBody>
      </p:sp>
      <p:sp>
        <p:nvSpPr>
          <p:cNvPr id="3" name="Text 1"/>
          <p:cNvSpPr txBox="1"/>
          <p:nvPr/>
        </p:nvSpPr>
        <p:spPr>
          <a:xfrm>
            <a:off x="274320" y="91440"/>
            <a:ext cx="11612880" cy="777240"/>
          </a:xfrm>
          <a:prstGeom prst="rect">
            <a:avLst/>
          </a:prstGeom>
          <a:noFill/>
          <a:ln/>
        </p:spPr>
        <p:txBody>
          <a:bodyPr wrap="square" rtlCol="0" anchor="ctr"/>
          <a:lstStyle/>
          <a:p>
            <a:pPr marL="0" indent="0">
              <a:buNone/>
            </a:pPr>
            <a:r>
              <a:rPr lang="en-US" sz="2200" b="1" dirty="0">
                <a:solidFill>
                  <a:srgbClr val="FFFFFF"/>
                </a:solidFill>
              </a:rPr>
              <a:t>🔍  Trace It — Track the Variable</a:t>
            </a:r>
            <a:endParaRPr lang="en-US" sz="2200" dirty="0"/>
          </a:p>
        </p:txBody>
      </p:sp>
      <p:sp>
        <p:nvSpPr>
          <p:cNvPr id="4" name="Text 2"/>
          <p:cNvSpPr txBox="1"/>
          <p:nvPr/>
        </p:nvSpPr>
        <p:spPr>
          <a:xfrm>
            <a:off x="457200" y="1097280"/>
            <a:ext cx="11247120" cy="5394960"/>
          </a:xfrm>
          <a:prstGeom prst="rect">
            <a:avLst/>
          </a:prstGeom>
          <a:noFill/>
          <a:ln/>
        </p:spPr>
        <p:txBody>
          <a:bodyPr wrap="square" rtlCol="0" anchor="t"/>
          <a:lstStyle/>
          <a:p>
            <a:pPr marL="0" indent="0">
              <a:spcAft>
                <a:spcPts val="1200"/>
              </a:spcAft>
              <a:buNone/>
            </a:pPr>
            <a:r>
              <a:rPr lang="en-US" sz="1500" dirty="0">
                <a:solidFill>
                  <a:srgbClr val="1A1A2E"/>
                </a:solidFill>
              </a:rPr>
              <a:t>What is the value of x after each line? Fill in the table.</a:t>
            </a:r>
            <a:endParaRPr lang="en-US" sz="1500" dirty="0"/>
          </a:p>
          <a:p>
            <a:pPr marL="0" indent="0">
              <a:spcAft>
                <a:spcPts val="400"/>
              </a:spcAft>
              <a:buNone/>
            </a:pPr>
            <a:r>
              <a:rPr lang="en-US" sz="1600" dirty="0">
                <a:solidFill>
                  <a:srgbClr val="1E2D40"/>
                </a:solidFill>
                <a:latin typeface="Courier New" pitchFamily="34" charset="0"/>
                <a:ea typeface="Courier New" pitchFamily="34" charset="-122"/>
                <a:cs typeface="Courier New" pitchFamily="34" charset="-120"/>
              </a:rPr>
              <a:t>x = 10</a:t>
            </a:r>
            <a:endParaRPr lang="en-US" sz="1500" dirty="0"/>
          </a:p>
          <a:p>
            <a:pPr marL="0" indent="0">
              <a:spcAft>
                <a:spcPts val="400"/>
              </a:spcAft>
              <a:buNone/>
            </a:pPr>
            <a:r>
              <a:rPr lang="en-US" sz="1600" dirty="0">
                <a:solidFill>
                  <a:srgbClr val="1E2D40"/>
                </a:solidFill>
                <a:latin typeface="Courier New" pitchFamily="34" charset="0"/>
                <a:ea typeface="Courier New" pitchFamily="34" charset="-122"/>
                <a:cs typeface="Courier New" pitchFamily="34" charset="-120"/>
              </a:rPr>
              <a:t>x = x + 5</a:t>
            </a:r>
            <a:endParaRPr lang="en-US" sz="1500" dirty="0"/>
          </a:p>
          <a:p>
            <a:pPr marL="0" indent="0">
              <a:spcAft>
                <a:spcPts val="400"/>
              </a:spcAft>
              <a:buNone/>
            </a:pPr>
            <a:r>
              <a:rPr lang="en-US" sz="1600" dirty="0">
                <a:solidFill>
                  <a:srgbClr val="1E2D40"/>
                </a:solidFill>
                <a:latin typeface="Courier New" pitchFamily="34" charset="0"/>
                <a:ea typeface="Courier New" pitchFamily="34" charset="-122"/>
                <a:cs typeface="Courier New" pitchFamily="34" charset="-120"/>
              </a:rPr>
              <a:t>x = x * 2</a:t>
            </a:r>
            <a:endParaRPr lang="en-US" sz="1500" dirty="0"/>
          </a:p>
          <a:p>
            <a:pPr marL="0" indent="0">
              <a:spcAft>
                <a:spcPts val="1600"/>
              </a:spcAft>
              <a:buNone/>
            </a:pPr>
            <a:r>
              <a:rPr lang="en-US" sz="1600" dirty="0">
                <a:solidFill>
                  <a:srgbClr val="1E2D40"/>
                </a:solidFill>
                <a:latin typeface="Courier New" pitchFamily="34" charset="0"/>
                <a:ea typeface="Courier New" pitchFamily="34" charset="-122"/>
                <a:cs typeface="Courier New" pitchFamily="34" charset="-120"/>
              </a:rPr>
              <a:t>print(x)</a:t>
            </a:r>
            <a:endParaRPr lang="en-US" sz="1500" dirty="0"/>
          </a:p>
          <a:p>
            <a:pPr marL="0" indent="0">
              <a:spcAft>
                <a:spcPts val="500"/>
              </a:spcAft>
              <a:buNone/>
            </a:pPr>
            <a:r>
              <a:rPr lang="en-US" sz="1400" dirty="0">
                <a:solidFill>
                  <a:srgbClr val="555555"/>
                </a:solidFill>
              </a:rPr>
              <a:t>Line 1: x = ?    Line 2: x = ?    Line 3: x = ?    Output: ?</a:t>
            </a:r>
            <a:endParaRPr lang="en-US" sz="1500" dirty="0"/>
          </a:p>
        </p:txBody>
      </p:sp>
      <p:sp>
        <p:nvSpPr>
          <p:cNvPr id="5" name="Text 3"/>
          <p:cNvSpPr txBox="1"/>
          <p:nvPr/>
        </p:nvSpPr>
        <p:spPr>
          <a:xfrm>
            <a:off x="274320" y="6537960"/>
            <a:ext cx="11612880" cy="274320"/>
          </a:xfrm>
          <a:prstGeom prst="rect">
            <a:avLst/>
          </a:prstGeom>
          <a:noFill/>
          <a:ln/>
        </p:spPr>
        <p:txBody>
          <a:bodyPr wrap="square" rtlCol="0" anchor="ctr"/>
          <a:lstStyle/>
          <a:p>
            <a:pPr marL="0" indent="0" algn="r">
              <a:buNone/>
            </a:pPr>
            <a:r>
              <a:rPr lang="en-US" sz="1100" dirty="0">
                <a:solidFill>
                  <a:srgbClr val="888888"/>
                </a:solidFill>
              </a:rPr>
              <a:t>CSE 120 · Module 1  ·  Try it first — answer on next slide</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0FFF4"/>
        </a:solidFill>
        <a:effectLst/>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2D6A4F"/>
          </a:solidFill>
          <a:ln w="12700">
            <a:solidFill>
              <a:srgbClr val="2D6A4F"/>
            </a:solidFill>
            <a:prstDash val="solid"/>
          </a:ln>
        </p:spPr>
        <p:txBody>
          <a:bodyPr/>
          <a:lstStyle/>
          <a:p>
            <a:endParaRPr lang="en-US"/>
          </a:p>
        </p:txBody>
      </p:sp>
      <p:sp>
        <p:nvSpPr>
          <p:cNvPr id="3" name="Text 1"/>
          <p:cNvSpPr txBox="1"/>
          <p:nvPr/>
        </p:nvSpPr>
        <p:spPr>
          <a:xfrm>
            <a:off x="274320" y="91440"/>
            <a:ext cx="11612880" cy="777240"/>
          </a:xfrm>
          <a:prstGeom prst="rect">
            <a:avLst/>
          </a:prstGeom>
          <a:noFill/>
          <a:ln/>
        </p:spPr>
        <p:txBody>
          <a:bodyPr wrap="square" rtlCol="0" anchor="ctr"/>
          <a:lstStyle/>
          <a:p>
            <a:pPr marL="0" indent="0">
              <a:buNone/>
            </a:pPr>
            <a:r>
              <a:rPr lang="en-US" sz="2200" b="1" dirty="0">
                <a:solidFill>
                  <a:srgbClr val="FFFFFF"/>
                </a:solidFill>
              </a:rPr>
              <a:t>✅  Answer — Variable Trace</a:t>
            </a:r>
            <a:endParaRPr lang="en-US" sz="2200" dirty="0"/>
          </a:p>
        </p:txBody>
      </p:sp>
      <p:sp>
        <p:nvSpPr>
          <p:cNvPr id="4" name="Text 2"/>
          <p:cNvSpPr txBox="1"/>
          <p:nvPr/>
        </p:nvSpPr>
        <p:spPr>
          <a:xfrm>
            <a:off x="457200" y="1097280"/>
            <a:ext cx="11247120" cy="5394960"/>
          </a:xfrm>
          <a:prstGeom prst="rect">
            <a:avLst/>
          </a:prstGeom>
          <a:noFill/>
          <a:ln/>
        </p:spPr>
        <p:txBody>
          <a:bodyPr wrap="square" rtlCol="0" anchor="t"/>
          <a:lstStyle/>
          <a:p>
            <a:pPr marL="0" indent="0">
              <a:spcAft>
                <a:spcPts val="400"/>
              </a:spcAft>
              <a:buNone/>
            </a:pPr>
            <a:r>
              <a:rPr lang="en-US" sz="1600" dirty="0">
                <a:solidFill>
                  <a:srgbClr val="1E2D40"/>
                </a:solidFill>
                <a:latin typeface="Courier New" pitchFamily="34" charset="0"/>
                <a:ea typeface="Courier New" pitchFamily="34" charset="-122"/>
                <a:cs typeface="Courier New" pitchFamily="34" charset="-120"/>
              </a:rPr>
              <a:t>x = 10</a:t>
            </a:r>
            <a:endParaRPr lang="en-US" sz="1600" dirty="0"/>
          </a:p>
          <a:p>
            <a:pPr marL="0" lvl="1" indent="0">
              <a:spcAft>
                <a:spcPts val="1000"/>
              </a:spcAft>
              <a:buNone/>
            </a:pPr>
            <a:r>
              <a:rPr lang="en-US" sz="1400" dirty="0">
                <a:solidFill>
                  <a:srgbClr val="1A1A2E"/>
                </a:solidFill>
              </a:rPr>
              <a:t>→  x is now 10</a:t>
            </a:r>
            <a:endParaRPr lang="en-US" sz="1600" dirty="0"/>
          </a:p>
          <a:p>
            <a:pPr marL="0" indent="0">
              <a:spcAft>
                <a:spcPts val="400"/>
              </a:spcAft>
              <a:buNone/>
            </a:pPr>
            <a:r>
              <a:rPr lang="en-US" sz="1600" dirty="0">
                <a:solidFill>
                  <a:srgbClr val="1E2D40"/>
                </a:solidFill>
                <a:latin typeface="Courier New" pitchFamily="34" charset="0"/>
                <a:ea typeface="Courier New" pitchFamily="34" charset="-122"/>
                <a:cs typeface="Courier New" pitchFamily="34" charset="-120"/>
              </a:rPr>
              <a:t>x = x + 5</a:t>
            </a:r>
            <a:endParaRPr lang="en-US" sz="1600" dirty="0"/>
          </a:p>
          <a:p>
            <a:pPr marL="0" lvl="1" indent="0">
              <a:spcAft>
                <a:spcPts val="1000"/>
              </a:spcAft>
              <a:buNone/>
            </a:pPr>
            <a:r>
              <a:rPr lang="en-US" sz="1400" dirty="0">
                <a:solidFill>
                  <a:srgbClr val="1A1A2E"/>
                </a:solidFill>
              </a:rPr>
              <a:t>→  10 + 5 = 15   →  x is now 15</a:t>
            </a:r>
            <a:endParaRPr lang="en-US" sz="1600" dirty="0"/>
          </a:p>
          <a:p>
            <a:pPr marL="0" indent="0">
              <a:spcAft>
                <a:spcPts val="400"/>
              </a:spcAft>
              <a:buNone/>
            </a:pPr>
            <a:r>
              <a:rPr lang="en-US" sz="1600" dirty="0">
                <a:solidFill>
                  <a:srgbClr val="1E2D40"/>
                </a:solidFill>
                <a:latin typeface="Courier New" pitchFamily="34" charset="0"/>
                <a:ea typeface="Courier New" pitchFamily="34" charset="-122"/>
                <a:cs typeface="Courier New" pitchFamily="34" charset="-120"/>
              </a:rPr>
              <a:t>x = x * 2</a:t>
            </a:r>
            <a:endParaRPr lang="en-US" sz="1600" dirty="0"/>
          </a:p>
          <a:p>
            <a:pPr marL="0" lvl="1" indent="0">
              <a:spcAft>
                <a:spcPts val="1000"/>
              </a:spcAft>
              <a:buNone/>
            </a:pPr>
            <a:r>
              <a:rPr lang="en-US" sz="1400" dirty="0">
                <a:solidFill>
                  <a:srgbClr val="1A1A2E"/>
                </a:solidFill>
              </a:rPr>
              <a:t>→  15 × 2 = 30   →  x is now 30</a:t>
            </a:r>
            <a:endParaRPr lang="en-US" sz="1600" dirty="0"/>
          </a:p>
          <a:p>
            <a:pPr marL="0" indent="0">
              <a:spcAft>
                <a:spcPts val="1600"/>
              </a:spcAft>
              <a:buNone/>
            </a:pPr>
            <a:r>
              <a:rPr lang="en-US" sz="1600" dirty="0">
                <a:solidFill>
                  <a:srgbClr val="1E2D40"/>
                </a:solidFill>
                <a:latin typeface="Courier New" pitchFamily="34" charset="0"/>
                <a:ea typeface="Courier New" pitchFamily="34" charset="-122"/>
                <a:cs typeface="Courier New" pitchFamily="34" charset="-120"/>
              </a:rPr>
              <a:t>print(x)</a:t>
            </a:r>
            <a:endParaRPr lang="en-US" sz="1600" dirty="0"/>
          </a:p>
          <a:p>
            <a:pPr marL="0" lvl="1" indent="0">
              <a:spcAft>
                <a:spcPts val="1000"/>
              </a:spcAft>
              <a:buNone/>
            </a:pPr>
            <a:r>
              <a:rPr lang="en-US" sz="1400" b="1" dirty="0">
                <a:solidFill>
                  <a:srgbClr val="1A1A2E"/>
                </a:solidFill>
              </a:rPr>
              <a:t>→  Output: 30</a:t>
            </a:r>
            <a:endParaRPr lang="en-US" sz="1600" dirty="0"/>
          </a:p>
          <a:p>
            <a:pPr marL="0" indent="0">
              <a:spcAft>
                <a:spcPts val="500"/>
              </a:spcAft>
              <a:buNone/>
            </a:pPr>
            <a:r>
              <a:rPr lang="en-US" sz="1400" b="1" dirty="0">
                <a:solidFill>
                  <a:srgbClr val="0074B7"/>
                </a:solidFill>
              </a:rPr>
              <a:t>Each line UPDATES x. The old value is gone.</a:t>
            </a:r>
            <a:endParaRPr lang="en-US" sz="1600" dirty="0"/>
          </a:p>
        </p:txBody>
      </p:sp>
      <p:sp>
        <p:nvSpPr>
          <p:cNvPr id="5" name="Text 3"/>
          <p:cNvSpPr txBox="1"/>
          <p:nvPr/>
        </p:nvSpPr>
        <p:spPr>
          <a:xfrm>
            <a:off x="274320" y="6537960"/>
            <a:ext cx="11612880" cy="274320"/>
          </a:xfrm>
          <a:prstGeom prst="rect">
            <a:avLst/>
          </a:prstGeom>
          <a:noFill/>
          <a:ln/>
        </p:spPr>
        <p:txBody>
          <a:bodyPr wrap="square" rtlCol="0" anchor="ctr"/>
          <a:lstStyle/>
          <a:p>
            <a:pPr marL="0" indent="0" algn="r">
              <a:buNone/>
            </a:pPr>
            <a:r>
              <a:rPr lang="en-US" sz="1100" dirty="0">
                <a:solidFill>
                  <a:srgbClr val="888888"/>
                </a:solidFill>
              </a:rPr>
              <a:t>CSE 120 · Module 1</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03767"/>
        </a:solidFill>
        <a:effectLst/>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03767"/>
          </a:solidFill>
          <a:ln w="12700">
            <a:solidFill>
              <a:srgbClr val="003767"/>
            </a:solidFill>
            <a:prstDash val="solid"/>
          </a:ln>
        </p:spPr>
        <p:txBody>
          <a:bodyPr/>
          <a:lstStyle/>
          <a:p>
            <a:endParaRPr lang="en-US"/>
          </a:p>
        </p:txBody>
      </p:sp>
      <p:sp>
        <p:nvSpPr>
          <p:cNvPr id="3" name="Shape 1"/>
          <p:cNvSpPr/>
          <p:nvPr/>
        </p:nvSpPr>
        <p:spPr>
          <a:xfrm>
            <a:off x="0" y="5303520"/>
            <a:ext cx="12161520" cy="1554480"/>
          </a:xfrm>
          <a:prstGeom prst="rect">
            <a:avLst/>
          </a:prstGeom>
          <a:solidFill>
            <a:srgbClr val="001F40"/>
          </a:solidFill>
          <a:ln w="12700">
            <a:solidFill>
              <a:srgbClr val="001F40"/>
            </a:solidFill>
            <a:prstDash val="solid"/>
          </a:ln>
        </p:spPr>
        <p:txBody>
          <a:bodyPr/>
          <a:lstStyle/>
          <a:p>
            <a:endParaRPr lang="en-US"/>
          </a:p>
        </p:txBody>
      </p:sp>
      <p:sp>
        <p:nvSpPr>
          <p:cNvPr id="4" name="Text 2"/>
          <p:cNvSpPr txBox="1"/>
          <p:nvPr/>
        </p:nvSpPr>
        <p:spPr>
          <a:xfrm>
            <a:off x="731520" y="914400"/>
            <a:ext cx="10698480" cy="822960"/>
          </a:xfrm>
          <a:prstGeom prst="rect">
            <a:avLst/>
          </a:prstGeom>
          <a:noFill/>
          <a:ln/>
        </p:spPr>
        <p:txBody>
          <a:bodyPr wrap="square" rtlCol="0" anchor="ctr"/>
          <a:lstStyle/>
          <a:p>
            <a:pPr marL="0" indent="0" algn="ctr">
              <a:buNone/>
            </a:pPr>
            <a:r>
              <a:rPr lang="en-US" sz="2000" b="1" dirty="0">
                <a:solidFill>
                  <a:srgbClr val="0074B7"/>
                </a:solidFill>
              </a:rPr>
              <a:t>Part 4</a:t>
            </a:r>
            <a:endParaRPr lang="en-US" sz="2000" dirty="0"/>
          </a:p>
        </p:txBody>
      </p:sp>
      <p:sp>
        <p:nvSpPr>
          <p:cNvPr id="5" name="Text 3"/>
          <p:cNvSpPr txBox="1"/>
          <p:nvPr/>
        </p:nvSpPr>
        <p:spPr>
          <a:xfrm>
            <a:off x="731520" y="1737360"/>
            <a:ext cx="10698480" cy="2286000"/>
          </a:xfrm>
          <a:prstGeom prst="rect">
            <a:avLst/>
          </a:prstGeom>
          <a:noFill/>
          <a:ln/>
        </p:spPr>
        <p:txBody>
          <a:bodyPr wrap="square" rtlCol="0" anchor="ctr"/>
          <a:lstStyle/>
          <a:p>
            <a:pPr marL="0" indent="0" algn="ctr">
              <a:buNone/>
            </a:pPr>
            <a:r>
              <a:rPr lang="en-US" sz="4000" b="1" dirty="0">
                <a:solidFill>
                  <a:srgbClr val="FFFFFF"/>
                </a:solidFill>
              </a:rPr>
              <a:t>Data Types</a:t>
            </a:r>
            <a:endParaRPr lang="en-US" sz="4000" dirty="0"/>
          </a:p>
        </p:txBody>
      </p:sp>
      <p:sp>
        <p:nvSpPr>
          <p:cNvPr id="6" name="Text 4"/>
          <p:cNvSpPr txBox="1"/>
          <p:nvPr/>
        </p:nvSpPr>
        <p:spPr>
          <a:xfrm>
            <a:off x="731520" y="4114800"/>
            <a:ext cx="10698480" cy="1005840"/>
          </a:xfrm>
          <a:prstGeom prst="rect">
            <a:avLst/>
          </a:prstGeom>
          <a:noFill/>
          <a:ln/>
        </p:spPr>
        <p:txBody>
          <a:bodyPr wrap="square" rtlCol="0" anchor="ctr"/>
          <a:lstStyle/>
          <a:p>
            <a:pPr marL="0" indent="0" algn="ctr">
              <a:buNone/>
            </a:pPr>
            <a:r>
              <a:rPr lang="en-US" sz="1500" dirty="0">
                <a:solidFill>
                  <a:srgbClr val="7BAFD4"/>
                </a:solidFill>
              </a:rPr>
              <a:t>int · float · str · bool · type()</a:t>
            </a:r>
            <a:endParaRPr lang="en-US" sz="1500" dirty="0"/>
          </a:p>
        </p:txBody>
      </p:sp>
      <p:sp>
        <p:nvSpPr>
          <p:cNvPr id="7" name="Text 5"/>
          <p:cNvSpPr txBox="1"/>
          <p:nvPr/>
        </p:nvSpPr>
        <p:spPr>
          <a:xfrm>
            <a:off x="731520" y="5577840"/>
            <a:ext cx="10698480" cy="731520"/>
          </a:xfrm>
          <a:prstGeom prst="rect">
            <a:avLst/>
          </a:prstGeom>
          <a:noFill/>
          <a:ln/>
        </p:spPr>
        <p:txBody>
          <a:bodyPr wrap="square" rtlCol="0" anchor="ctr"/>
          <a:lstStyle/>
          <a:p>
            <a:pPr marL="0" indent="0" algn="ctr">
              <a:buNone/>
            </a:pPr>
            <a:r>
              <a:rPr lang="en-US" sz="1300" dirty="0">
                <a:solidFill>
                  <a:srgbClr val="6699BB"/>
                </a:solidFill>
              </a:rPr>
              <a:t>CSE 120 · Module 1</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822960"/>
          </a:xfrm>
          <a:prstGeom prst="rect">
            <a:avLst/>
          </a:prstGeom>
          <a:solidFill>
            <a:srgbClr val="003767"/>
          </a:solidFill>
          <a:ln w="12700">
            <a:solidFill>
              <a:srgbClr val="003767"/>
            </a:solidFill>
            <a:prstDash val="solid"/>
          </a:ln>
        </p:spPr>
        <p:txBody>
          <a:bodyPr/>
          <a:lstStyle/>
          <a:p>
            <a:endParaRPr lang="en-US"/>
          </a:p>
        </p:txBody>
      </p:sp>
      <p:sp>
        <p:nvSpPr>
          <p:cNvPr id="3" name="Text 1"/>
          <p:cNvSpPr txBox="1"/>
          <p:nvPr/>
        </p:nvSpPr>
        <p:spPr>
          <a:xfrm>
            <a:off x="274320" y="73152"/>
            <a:ext cx="11612880" cy="685800"/>
          </a:xfrm>
          <a:prstGeom prst="rect">
            <a:avLst/>
          </a:prstGeom>
          <a:noFill/>
          <a:ln/>
        </p:spPr>
        <p:txBody>
          <a:bodyPr wrap="square" rtlCol="0" anchor="ctr"/>
          <a:lstStyle/>
          <a:p>
            <a:pPr marL="0" indent="0">
              <a:buNone/>
            </a:pPr>
            <a:r>
              <a:rPr lang="en-US" sz="2000" b="1" dirty="0">
                <a:solidFill>
                  <a:srgbClr val="FFFFFF"/>
                </a:solidFill>
              </a:rPr>
              <a:t>The Four Basic Data Types in Python</a:t>
            </a:r>
            <a:endParaRPr lang="en-US" sz="2000" dirty="0"/>
          </a:p>
        </p:txBody>
      </p:sp>
      <p:sp>
        <p:nvSpPr>
          <p:cNvPr id="4" name="Text 2"/>
          <p:cNvSpPr txBox="1"/>
          <p:nvPr/>
        </p:nvSpPr>
        <p:spPr>
          <a:xfrm>
            <a:off x="365760" y="914400"/>
            <a:ext cx="11430000" cy="5577840"/>
          </a:xfrm>
          <a:prstGeom prst="rect">
            <a:avLst/>
          </a:prstGeom>
          <a:noFill/>
          <a:ln/>
        </p:spPr>
        <p:txBody>
          <a:bodyPr wrap="square" rtlCol="0" anchor="t"/>
          <a:lstStyle/>
          <a:p>
            <a:pPr marL="0" indent="0">
              <a:spcAft>
                <a:spcPts val="300"/>
              </a:spcAft>
              <a:buNone/>
            </a:pPr>
            <a:r>
              <a:rPr lang="en-US" sz="1600" b="1" dirty="0">
                <a:solidFill>
                  <a:srgbClr val="1A1A2E"/>
                </a:solidFill>
              </a:rPr>
              <a:t>int</a:t>
            </a:r>
            <a:endParaRPr lang="en-US" sz="1600" dirty="0"/>
          </a:p>
          <a:p>
            <a:pPr marL="685800" lvl="1" indent="-342900">
              <a:spcAft>
                <a:spcPts val="1000"/>
              </a:spcAft>
              <a:buSzPct val="100000"/>
              <a:buChar char="•"/>
            </a:pPr>
            <a:r>
              <a:rPr lang="en-US" sz="1500" dirty="0">
                <a:solidFill>
                  <a:srgbClr val="1A1A2E"/>
                </a:solidFill>
              </a:rPr>
              <a:t>Whole numbers. No decimal point.   Examples: 0, 42, -5, 1000</a:t>
            </a:r>
            <a:endParaRPr lang="en-US" sz="1600" dirty="0"/>
          </a:p>
          <a:p>
            <a:pPr marL="0" indent="0">
              <a:spcAft>
                <a:spcPts val="300"/>
              </a:spcAft>
              <a:buNone/>
            </a:pPr>
            <a:r>
              <a:rPr lang="en-US" sz="1600" b="1" dirty="0">
                <a:solidFill>
                  <a:srgbClr val="1A1A2E"/>
                </a:solidFill>
              </a:rPr>
              <a:t>float</a:t>
            </a:r>
            <a:endParaRPr lang="en-US" sz="1600" dirty="0"/>
          </a:p>
          <a:p>
            <a:pPr marL="685800" lvl="1" indent="-342900">
              <a:spcAft>
                <a:spcPts val="1000"/>
              </a:spcAft>
              <a:buSzPct val="100000"/>
              <a:buChar char="•"/>
            </a:pPr>
            <a:r>
              <a:rPr lang="en-US" sz="1500" dirty="0">
                <a:solidFill>
                  <a:srgbClr val="1A1A2E"/>
                </a:solidFill>
              </a:rPr>
              <a:t>Numbers with a decimal point.   Examples: 3.14, 98.6, -0.5, 2.0</a:t>
            </a:r>
            <a:endParaRPr lang="en-US" sz="1600" dirty="0"/>
          </a:p>
          <a:p>
            <a:pPr marL="0" indent="0">
              <a:spcAft>
                <a:spcPts val="300"/>
              </a:spcAft>
              <a:buNone/>
            </a:pPr>
            <a:r>
              <a:rPr lang="en-US" sz="1600" b="1" dirty="0">
                <a:solidFill>
                  <a:srgbClr val="1A1A2E"/>
                </a:solidFill>
              </a:rPr>
              <a:t>str</a:t>
            </a:r>
            <a:endParaRPr lang="en-US" sz="1600" dirty="0"/>
          </a:p>
          <a:p>
            <a:pPr marL="685800" lvl="1" indent="-342900">
              <a:spcAft>
                <a:spcPts val="1000"/>
              </a:spcAft>
              <a:buSzPct val="100000"/>
              <a:buChar char="•"/>
            </a:pPr>
            <a:r>
              <a:rPr lang="en-US" sz="1500" dirty="0">
                <a:solidFill>
                  <a:srgbClr val="1A1A2E"/>
                </a:solidFill>
              </a:rPr>
              <a:t>Text — any characters inside quotes.   Examples: "Hello", "42", "sensor1"</a:t>
            </a:r>
            <a:endParaRPr lang="en-US" sz="1600" dirty="0"/>
          </a:p>
          <a:p>
            <a:pPr marL="0" indent="0">
              <a:spcAft>
                <a:spcPts val="300"/>
              </a:spcAft>
              <a:buNone/>
            </a:pPr>
            <a:r>
              <a:rPr lang="en-US" sz="1600" b="1" dirty="0">
                <a:solidFill>
                  <a:srgbClr val="1A1A2E"/>
                </a:solidFill>
              </a:rPr>
              <a:t>bool</a:t>
            </a:r>
            <a:endParaRPr lang="en-US" sz="1600" dirty="0"/>
          </a:p>
          <a:p>
            <a:pPr marL="685800" lvl="1" indent="-342900">
              <a:spcAft>
                <a:spcPts val="2000"/>
              </a:spcAft>
              <a:buSzPct val="100000"/>
              <a:buChar char="•"/>
            </a:pPr>
            <a:r>
              <a:rPr lang="en-US" sz="1500" dirty="0">
                <a:solidFill>
                  <a:srgbClr val="1A1A2E"/>
                </a:solidFill>
              </a:rPr>
              <a:t>True or False (exactly those two values, capital T and F)</a:t>
            </a:r>
            <a:endParaRPr lang="en-US" sz="1600" dirty="0"/>
          </a:p>
          <a:p>
            <a:pPr marL="0" indent="0">
              <a:spcAft>
                <a:spcPts val="600"/>
              </a:spcAft>
              <a:buNone/>
            </a:pPr>
            <a:r>
              <a:rPr lang="en-US" sz="1500" b="1" dirty="0">
                <a:solidFill>
                  <a:srgbClr val="1A1A2E"/>
                </a:solidFill>
              </a:rPr>
              <a:t>Check the type with type():</a:t>
            </a:r>
            <a:endParaRPr lang="en-US" sz="1600" dirty="0"/>
          </a:p>
          <a:p>
            <a:pPr marL="0" indent="0">
              <a:spcAft>
                <a:spcPts val="300"/>
              </a:spcAft>
              <a:buNone/>
            </a:pPr>
            <a:r>
              <a:rPr lang="en-US" sz="1300" dirty="0">
                <a:solidFill>
                  <a:srgbClr val="1E2D40"/>
                </a:solidFill>
              </a:rPr>
              <a:t>type(42)   →   &lt;class 'int'&gt;       type(3.14)  →  &lt;class 'float'&gt;</a:t>
            </a:r>
            <a:endParaRPr lang="en-US" sz="1600" dirty="0"/>
          </a:p>
          <a:p>
            <a:pPr marL="0" indent="0">
              <a:spcAft>
                <a:spcPts val="400"/>
              </a:spcAft>
              <a:buNone/>
            </a:pPr>
            <a:r>
              <a:rPr lang="en-US" sz="1300" dirty="0">
                <a:solidFill>
                  <a:srgbClr val="1E2D40"/>
                </a:solidFill>
              </a:rPr>
              <a:t>type("hi") →   &lt;class 'str'&gt;       type(True)  →  &lt;class 'bool'&gt;</a:t>
            </a:r>
            <a:endParaRPr lang="en-US" sz="1600" dirty="0"/>
          </a:p>
        </p:txBody>
      </p:sp>
      <p:sp>
        <p:nvSpPr>
          <p:cNvPr id="5" name="Text 3"/>
          <p:cNvSpPr txBox="1"/>
          <p:nvPr/>
        </p:nvSpPr>
        <p:spPr>
          <a:xfrm>
            <a:off x="274320" y="6537960"/>
            <a:ext cx="11612880" cy="274320"/>
          </a:xfrm>
          <a:prstGeom prst="rect">
            <a:avLst/>
          </a:prstGeom>
          <a:noFill/>
          <a:ln/>
        </p:spPr>
        <p:txBody>
          <a:bodyPr wrap="square" rtlCol="0" anchor="ctr"/>
          <a:lstStyle/>
          <a:p>
            <a:pPr marL="0" indent="0" algn="r">
              <a:buNone/>
            </a:pPr>
            <a:r>
              <a:rPr lang="en-US" sz="1100" dirty="0">
                <a:solidFill>
                  <a:srgbClr val="999999"/>
                </a:solidFill>
              </a:rPr>
              <a:t>CSE 120 · Module 1</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822960"/>
          </a:xfrm>
          <a:prstGeom prst="rect">
            <a:avLst/>
          </a:prstGeom>
          <a:solidFill>
            <a:srgbClr val="003767"/>
          </a:solidFill>
          <a:ln w="12700">
            <a:solidFill>
              <a:srgbClr val="003767"/>
            </a:solidFill>
            <a:prstDash val="solid"/>
          </a:ln>
        </p:spPr>
        <p:txBody>
          <a:bodyPr/>
          <a:lstStyle/>
          <a:p>
            <a:endParaRPr lang="en-US"/>
          </a:p>
        </p:txBody>
      </p:sp>
      <p:sp>
        <p:nvSpPr>
          <p:cNvPr id="3" name="Text 1"/>
          <p:cNvSpPr txBox="1"/>
          <p:nvPr/>
        </p:nvSpPr>
        <p:spPr>
          <a:xfrm>
            <a:off x="274320" y="73152"/>
            <a:ext cx="11612880" cy="685800"/>
          </a:xfrm>
          <a:prstGeom prst="rect">
            <a:avLst/>
          </a:prstGeom>
          <a:noFill/>
          <a:ln/>
        </p:spPr>
        <p:txBody>
          <a:bodyPr wrap="square" rtlCol="0" anchor="ctr"/>
          <a:lstStyle/>
          <a:p>
            <a:pPr marL="0" indent="0">
              <a:buNone/>
            </a:pPr>
            <a:r>
              <a:rPr lang="en-US" sz="2000" b="1" dirty="0">
                <a:solidFill>
                  <a:srgbClr val="FFFFFF"/>
                </a:solidFill>
              </a:rPr>
              <a:t>⚠️  "25" Is Not the Same as 25</a:t>
            </a:r>
            <a:endParaRPr lang="en-US" sz="2000" dirty="0"/>
          </a:p>
        </p:txBody>
      </p:sp>
      <p:sp>
        <p:nvSpPr>
          <p:cNvPr id="4" name="Text 2"/>
          <p:cNvSpPr txBox="1"/>
          <p:nvPr/>
        </p:nvSpPr>
        <p:spPr>
          <a:xfrm>
            <a:off x="365760" y="914400"/>
            <a:ext cx="11430000" cy="5577840"/>
          </a:xfrm>
          <a:prstGeom prst="rect">
            <a:avLst/>
          </a:prstGeom>
          <a:noFill/>
          <a:ln/>
        </p:spPr>
        <p:txBody>
          <a:bodyPr wrap="square" rtlCol="0" anchor="t"/>
          <a:lstStyle/>
          <a:p>
            <a:pPr marL="342900" indent="-342900">
              <a:spcAft>
                <a:spcPts val="1000"/>
              </a:spcAft>
              <a:buSzPct val="100000"/>
              <a:buChar char="•"/>
            </a:pPr>
            <a:r>
              <a:rPr lang="en-US" sz="1500" b="1" dirty="0">
                <a:solidFill>
                  <a:srgbClr val="1A1A2E"/>
                </a:solidFill>
              </a:rPr>
              <a:t>"25"  — this is a string (text). Python sees two characters: '2' and '5'.</a:t>
            </a:r>
            <a:endParaRPr lang="en-US" sz="1500" dirty="0"/>
          </a:p>
          <a:p>
            <a:pPr marL="342900" indent="-342900">
              <a:spcAft>
                <a:spcPts val="2000"/>
              </a:spcAft>
              <a:buSzPct val="100000"/>
              <a:buChar char="•"/>
            </a:pPr>
            <a:r>
              <a:rPr lang="en-US" sz="1500" b="1" dirty="0">
                <a:solidFill>
                  <a:srgbClr val="1A1A2E"/>
                </a:solidFill>
              </a:rPr>
              <a:t>25   — this is an integer. Python sees the number twenty-five.</a:t>
            </a:r>
            <a:endParaRPr lang="en-US" sz="1500" dirty="0"/>
          </a:p>
          <a:p>
            <a:pPr marL="0" indent="0">
              <a:spcAft>
                <a:spcPts val="800"/>
              </a:spcAft>
              <a:buNone/>
            </a:pPr>
            <a:r>
              <a:rPr lang="en-US" sz="1500" dirty="0">
                <a:solidFill>
                  <a:srgbClr val="1A1A2E"/>
                </a:solidFill>
              </a:rPr>
              <a:t>They look similar but behave completely differently:</a:t>
            </a:r>
            <a:endParaRPr lang="en-US" sz="1500" dirty="0"/>
          </a:p>
          <a:p>
            <a:pPr marL="0" indent="0">
              <a:spcAft>
                <a:spcPts val="500"/>
              </a:spcAft>
              <a:buNone/>
            </a:pPr>
            <a:r>
              <a:rPr lang="en-US" sz="1400" dirty="0">
                <a:solidFill>
                  <a:srgbClr val="1E2D40"/>
                </a:solidFill>
              </a:rPr>
              <a:t>"25" + "10"  →  "2510"   (text joined together)</a:t>
            </a:r>
            <a:endParaRPr lang="en-US" sz="1500" dirty="0"/>
          </a:p>
          <a:p>
            <a:pPr marL="0" indent="0">
              <a:spcAft>
                <a:spcPts val="2000"/>
              </a:spcAft>
              <a:buNone/>
            </a:pPr>
            <a:r>
              <a:rPr lang="en-US" sz="1400" dirty="0">
                <a:solidFill>
                  <a:srgbClr val="1E2D40"/>
                </a:solidFill>
              </a:rPr>
              <a:t>25  + 10    →   35       (math addition)</a:t>
            </a:r>
            <a:endParaRPr lang="en-US" sz="1500" dirty="0"/>
          </a:p>
          <a:p>
            <a:pPr marL="0" indent="0">
              <a:spcAft>
                <a:spcPts val="600"/>
              </a:spcAft>
              <a:buNone/>
            </a:pPr>
            <a:r>
              <a:rPr lang="en-US" sz="1500" b="1" dirty="0">
                <a:solidFill>
                  <a:srgbClr val="1A1A2E"/>
                </a:solidFill>
              </a:rPr>
              <a:t>How to convert between types:</a:t>
            </a:r>
            <a:endParaRPr lang="en-US" sz="1500" dirty="0"/>
          </a:p>
          <a:p>
            <a:pPr marL="0" indent="0">
              <a:spcAft>
                <a:spcPts val="500"/>
              </a:spcAft>
              <a:buNone/>
            </a:pPr>
            <a:r>
              <a:rPr lang="en-US" sz="1400" dirty="0">
                <a:solidFill>
                  <a:srgbClr val="1E2D40"/>
                </a:solidFill>
              </a:rPr>
              <a:t>int("25")   →  25         float("3.5")  →  3.5</a:t>
            </a:r>
            <a:endParaRPr lang="en-US" sz="1500" dirty="0"/>
          </a:p>
          <a:p>
            <a:pPr marL="0" indent="0">
              <a:spcAft>
                <a:spcPts val="400"/>
              </a:spcAft>
              <a:buNone/>
            </a:pPr>
            <a:r>
              <a:rPr lang="en-US" sz="1400" dirty="0">
                <a:solidFill>
                  <a:srgbClr val="1E2D40"/>
                </a:solidFill>
              </a:rPr>
              <a:t>str(42)     →  "42"       int(3.9)      →  3   (truncates!)</a:t>
            </a:r>
            <a:endParaRPr lang="en-US" sz="1500" dirty="0"/>
          </a:p>
        </p:txBody>
      </p:sp>
      <p:sp>
        <p:nvSpPr>
          <p:cNvPr id="5" name="Text 3"/>
          <p:cNvSpPr txBox="1"/>
          <p:nvPr/>
        </p:nvSpPr>
        <p:spPr>
          <a:xfrm>
            <a:off x="274320" y="6537960"/>
            <a:ext cx="11612880" cy="274320"/>
          </a:xfrm>
          <a:prstGeom prst="rect">
            <a:avLst/>
          </a:prstGeom>
          <a:noFill/>
          <a:ln/>
        </p:spPr>
        <p:txBody>
          <a:bodyPr wrap="square" rtlCol="0" anchor="ctr"/>
          <a:lstStyle/>
          <a:p>
            <a:pPr marL="0" indent="0" algn="r">
              <a:buNone/>
            </a:pPr>
            <a:r>
              <a:rPr lang="en-US" sz="1100" dirty="0">
                <a:solidFill>
                  <a:srgbClr val="999999"/>
                </a:solidFill>
              </a:rPr>
              <a:t>CSE 120 · Module 1</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03767"/>
        </a:solidFill>
        <a:effectLst/>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03767"/>
          </a:solidFill>
          <a:ln w="12700">
            <a:solidFill>
              <a:srgbClr val="003767"/>
            </a:solidFill>
            <a:prstDash val="solid"/>
          </a:ln>
        </p:spPr>
        <p:txBody>
          <a:bodyPr/>
          <a:lstStyle/>
          <a:p>
            <a:endParaRPr lang="en-US"/>
          </a:p>
        </p:txBody>
      </p:sp>
      <p:sp>
        <p:nvSpPr>
          <p:cNvPr id="3" name="Shape 1"/>
          <p:cNvSpPr/>
          <p:nvPr/>
        </p:nvSpPr>
        <p:spPr>
          <a:xfrm>
            <a:off x="0" y="5303520"/>
            <a:ext cx="12161520" cy="1554480"/>
          </a:xfrm>
          <a:prstGeom prst="rect">
            <a:avLst/>
          </a:prstGeom>
          <a:solidFill>
            <a:srgbClr val="001F40"/>
          </a:solidFill>
          <a:ln w="12700">
            <a:solidFill>
              <a:srgbClr val="001F40"/>
            </a:solidFill>
            <a:prstDash val="solid"/>
          </a:ln>
        </p:spPr>
        <p:txBody>
          <a:bodyPr/>
          <a:lstStyle/>
          <a:p>
            <a:endParaRPr lang="en-US"/>
          </a:p>
        </p:txBody>
      </p:sp>
      <p:sp>
        <p:nvSpPr>
          <p:cNvPr id="4" name="Text 2"/>
          <p:cNvSpPr txBox="1"/>
          <p:nvPr/>
        </p:nvSpPr>
        <p:spPr>
          <a:xfrm>
            <a:off x="731520" y="914400"/>
            <a:ext cx="10698480" cy="822960"/>
          </a:xfrm>
          <a:prstGeom prst="rect">
            <a:avLst/>
          </a:prstGeom>
          <a:noFill/>
          <a:ln/>
        </p:spPr>
        <p:txBody>
          <a:bodyPr wrap="square" rtlCol="0" anchor="ctr"/>
          <a:lstStyle/>
          <a:p>
            <a:pPr marL="0" indent="0" algn="ctr">
              <a:buNone/>
            </a:pPr>
            <a:r>
              <a:rPr lang="en-US" sz="2000" b="1" dirty="0">
                <a:solidFill>
                  <a:srgbClr val="0074B7"/>
                </a:solidFill>
              </a:rPr>
              <a:t>Part 5</a:t>
            </a:r>
            <a:endParaRPr lang="en-US" sz="2000" dirty="0"/>
          </a:p>
        </p:txBody>
      </p:sp>
      <p:sp>
        <p:nvSpPr>
          <p:cNvPr id="5" name="Text 3"/>
          <p:cNvSpPr txBox="1"/>
          <p:nvPr/>
        </p:nvSpPr>
        <p:spPr>
          <a:xfrm>
            <a:off x="731520" y="1737360"/>
            <a:ext cx="10698480" cy="2286000"/>
          </a:xfrm>
          <a:prstGeom prst="rect">
            <a:avLst/>
          </a:prstGeom>
          <a:noFill/>
          <a:ln/>
        </p:spPr>
        <p:txBody>
          <a:bodyPr wrap="square" rtlCol="0" anchor="ctr"/>
          <a:lstStyle/>
          <a:p>
            <a:pPr marL="0" indent="0" algn="ctr">
              <a:buNone/>
            </a:pPr>
            <a:r>
              <a:rPr lang="en-US" sz="4000" b="1" dirty="0">
                <a:solidFill>
                  <a:srgbClr val="FFFFFF"/>
                </a:solidFill>
              </a:rPr>
              <a:t>Input &amp; Output</a:t>
            </a:r>
            <a:endParaRPr lang="en-US" sz="4000" dirty="0"/>
          </a:p>
        </p:txBody>
      </p:sp>
      <p:sp>
        <p:nvSpPr>
          <p:cNvPr id="6" name="Text 4"/>
          <p:cNvSpPr txBox="1"/>
          <p:nvPr/>
        </p:nvSpPr>
        <p:spPr>
          <a:xfrm>
            <a:off x="731520" y="4114800"/>
            <a:ext cx="10698480" cy="1005840"/>
          </a:xfrm>
          <a:prstGeom prst="rect">
            <a:avLst/>
          </a:prstGeom>
          <a:noFill/>
          <a:ln/>
        </p:spPr>
        <p:txBody>
          <a:bodyPr wrap="square" rtlCol="0" anchor="ctr"/>
          <a:lstStyle/>
          <a:p>
            <a:pPr marL="0" indent="0" algn="ctr">
              <a:buNone/>
            </a:pPr>
            <a:r>
              <a:rPr lang="en-US" sz="1500" dirty="0">
                <a:solidFill>
                  <a:srgbClr val="7BAFD4"/>
                </a:solidFill>
              </a:rPr>
              <a:t>print() · input() · Type Conversion · Build-up</a:t>
            </a:r>
            <a:endParaRPr lang="en-US" sz="1500" dirty="0"/>
          </a:p>
        </p:txBody>
      </p:sp>
      <p:sp>
        <p:nvSpPr>
          <p:cNvPr id="7" name="Text 5"/>
          <p:cNvSpPr txBox="1"/>
          <p:nvPr/>
        </p:nvSpPr>
        <p:spPr>
          <a:xfrm>
            <a:off x="731520" y="5577840"/>
            <a:ext cx="10698480" cy="731520"/>
          </a:xfrm>
          <a:prstGeom prst="rect">
            <a:avLst/>
          </a:prstGeom>
          <a:noFill/>
          <a:ln/>
        </p:spPr>
        <p:txBody>
          <a:bodyPr wrap="square" rtlCol="0" anchor="ctr"/>
          <a:lstStyle/>
          <a:p>
            <a:pPr marL="0" indent="0" algn="ctr">
              <a:buNone/>
            </a:pPr>
            <a:r>
              <a:rPr lang="en-US" sz="1300" dirty="0">
                <a:solidFill>
                  <a:srgbClr val="6699BB"/>
                </a:solidFill>
              </a:rPr>
              <a:t>CSE 120 · Module 1</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822960"/>
          </a:xfrm>
          <a:prstGeom prst="rect">
            <a:avLst/>
          </a:prstGeom>
          <a:solidFill>
            <a:srgbClr val="003767"/>
          </a:solidFill>
          <a:ln w="12700">
            <a:solidFill>
              <a:srgbClr val="003767"/>
            </a:solidFill>
            <a:prstDash val="solid"/>
          </a:ln>
        </p:spPr>
        <p:txBody>
          <a:bodyPr/>
          <a:lstStyle/>
          <a:p>
            <a:endParaRPr lang="en-US"/>
          </a:p>
        </p:txBody>
      </p:sp>
      <p:sp>
        <p:nvSpPr>
          <p:cNvPr id="3" name="Text 1"/>
          <p:cNvSpPr txBox="1"/>
          <p:nvPr/>
        </p:nvSpPr>
        <p:spPr>
          <a:xfrm>
            <a:off x="274320" y="73152"/>
            <a:ext cx="11612880" cy="685800"/>
          </a:xfrm>
          <a:prstGeom prst="rect">
            <a:avLst/>
          </a:prstGeom>
          <a:noFill/>
          <a:ln/>
        </p:spPr>
        <p:txBody>
          <a:bodyPr wrap="square" rtlCol="0" anchor="ctr"/>
          <a:lstStyle/>
          <a:p>
            <a:pPr marL="0" indent="0">
              <a:buNone/>
            </a:pPr>
            <a:r>
              <a:rPr lang="en-US" sz="2000" b="1" dirty="0">
                <a:solidFill>
                  <a:srgbClr val="FFFFFF"/>
                </a:solidFill>
              </a:rPr>
              <a:t>print() and input() — The Two Basics</a:t>
            </a:r>
            <a:endParaRPr lang="en-US" sz="2000" dirty="0"/>
          </a:p>
        </p:txBody>
      </p:sp>
      <p:sp>
        <p:nvSpPr>
          <p:cNvPr id="4" name="Shape 2"/>
          <p:cNvSpPr/>
          <p:nvPr/>
        </p:nvSpPr>
        <p:spPr>
          <a:xfrm>
            <a:off x="274320" y="914400"/>
            <a:ext cx="6400800" cy="5394960"/>
          </a:xfrm>
          <a:prstGeom prst="rect">
            <a:avLst/>
          </a:prstGeom>
          <a:solidFill>
            <a:srgbClr val="1E2D40"/>
          </a:solidFill>
          <a:ln w="12700">
            <a:solidFill>
              <a:srgbClr val="2A4060"/>
            </a:solidFill>
            <a:prstDash val="solid"/>
          </a:ln>
        </p:spPr>
        <p:txBody>
          <a:bodyPr/>
          <a:lstStyle/>
          <a:p>
            <a:endParaRPr lang="en-US"/>
          </a:p>
        </p:txBody>
      </p:sp>
      <p:sp>
        <p:nvSpPr>
          <p:cNvPr id="5" name="Text 3"/>
          <p:cNvSpPr txBox="1"/>
          <p:nvPr/>
        </p:nvSpPr>
        <p:spPr>
          <a:xfrm>
            <a:off x="365760" y="960120"/>
            <a:ext cx="6217920" cy="320040"/>
          </a:xfrm>
          <a:prstGeom prst="rect">
            <a:avLst/>
          </a:prstGeom>
          <a:noFill/>
          <a:ln/>
        </p:spPr>
        <p:txBody>
          <a:bodyPr wrap="square" rtlCol="0" anchor="ctr"/>
          <a:lstStyle/>
          <a:p>
            <a:pPr marL="0" indent="0">
              <a:buNone/>
            </a:pPr>
            <a:r>
              <a:rPr lang="en-US" sz="1100" b="1" dirty="0">
                <a:solidFill>
                  <a:srgbClr val="88AACC"/>
                </a:solidFill>
              </a:rPr>
              <a:t>python</a:t>
            </a:r>
            <a:endParaRPr lang="en-US" sz="1100" dirty="0"/>
          </a:p>
        </p:txBody>
      </p:sp>
      <p:sp>
        <p:nvSpPr>
          <p:cNvPr id="6" name="Text 4"/>
          <p:cNvSpPr txBox="1"/>
          <p:nvPr/>
        </p:nvSpPr>
        <p:spPr>
          <a:xfrm>
            <a:off x="365760" y="1325880"/>
            <a:ext cx="6217920" cy="4846320"/>
          </a:xfrm>
          <a:prstGeom prst="rect">
            <a:avLst/>
          </a:prstGeom>
          <a:noFill/>
          <a:ln/>
        </p:spPr>
        <p:txBody>
          <a:bodyPr wrap="square" rtlCol="0" anchor="t"/>
          <a:lstStyle/>
          <a:p>
            <a:pPr marL="0" indent="0">
              <a:buNone/>
            </a:pPr>
            <a:r>
              <a:rPr lang="en-US" sz="1300" dirty="0">
                <a:solidFill>
                  <a:srgbClr val="E8F4FD"/>
                </a:solidFill>
                <a:latin typeface="Courier New" pitchFamily="34" charset="0"/>
                <a:ea typeface="Courier New" pitchFamily="34" charset="-122"/>
                <a:cs typeface="Courier New" pitchFamily="34" charset="-120"/>
              </a:rPr>
              <a:t>name = input("What is your name? ")</a:t>
            </a:r>
            <a:endParaRPr lang="en-US" sz="1300" dirty="0"/>
          </a:p>
          <a:p>
            <a:pPr marL="0" indent="0">
              <a:buNone/>
            </a:pPr>
            <a:r>
              <a:rPr lang="en-US" sz="1300" dirty="0">
                <a:solidFill>
                  <a:srgbClr val="E8F4FD"/>
                </a:solidFill>
                <a:latin typeface="Courier New" pitchFamily="34" charset="0"/>
                <a:ea typeface="Courier New" pitchFamily="34" charset="-122"/>
                <a:cs typeface="Courier New" pitchFamily="34" charset="-120"/>
              </a:rPr>
              <a:t>print("Hello,", name)</a:t>
            </a:r>
            <a:endParaRPr lang="en-US" sz="1300" dirty="0"/>
          </a:p>
          <a:p>
            <a:pPr marL="0" indent="0">
              <a:buNone/>
            </a:pPr>
            <a:endParaRPr lang="en-US" sz="1300" dirty="0"/>
          </a:p>
          <a:p>
            <a:pPr marL="0" indent="0">
              <a:buNone/>
            </a:pPr>
            <a:r>
              <a:rPr lang="en-US" sz="1300" dirty="0">
                <a:solidFill>
                  <a:srgbClr val="E8F4FD"/>
                </a:solidFill>
                <a:latin typeface="Courier New" pitchFamily="34" charset="0"/>
                <a:ea typeface="Courier New" pitchFamily="34" charset="-122"/>
                <a:cs typeface="Courier New" pitchFamily="34" charset="-120"/>
              </a:rPr>
              <a:t>age_str = input("How old are you? ")</a:t>
            </a:r>
            <a:endParaRPr lang="en-US" sz="1300" dirty="0"/>
          </a:p>
          <a:p>
            <a:pPr marL="0" indent="0">
              <a:buNone/>
            </a:pPr>
            <a:r>
              <a:rPr lang="en-US" sz="1300" dirty="0">
                <a:solidFill>
                  <a:srgbClr val="E8F4FD"/>
                </a:solidFill>
                <a:latin typeface="Courier New" pitchFamily="34" charset="0"/>
                <a:ea typeface="Courier New" pitchFamily="34" charset="-122"/>
                <a:cs typeface="Courier New" pitchFamily="34" charset="-120"/>
              </a:rPr>
              <a:t>age     = int(age_str)</a:t>
            </a:r>
            <a:endParaRPr lang="en-US" sz="1300" dirty="0"/>
          </a:p>
          <a:p>
            <a:pPr marL="0" indent="0">
              <a:buNone/>
            </a:pPr>
            <a:r>
              <a:rPr lang="en-US" sz="1300" dirty="0">
                <a:solidFill>
                  <a:srgbClr val="E8F4FD"/>
                </a:solidFill>
                <a:latin typeface="Courier New" pitchFamily="34" charset="0"/>
                <a:ea typeface="Courier New" pitchFamily="34" charset="-122"/>
                <a:cs typeface="Courier New" pitchFamily="34" charset="-120"/>
              </a:rPr>
              <a:t>print("In 10 years you will be", age + 10)</a:t>
            </a:r>
            <a:endParaRPr lang="en-US" sz="1300" dirty="0"/>
          </a:p>
        </p:txBody>
      </p:sp>
      <p:sp>
        <p:nvSpPr>
          <p:cNvPr id="7" name="Text 5"/>
          <p:cNvSpPr txBox="1"/>
          <p:nvPr/>
        </p:nvSpPr>
        <p:spPr>
          <a:xfrm>
            <a:off x="6949440" y="914400"/>
            <a:ext cx="4937760" cy="5394960"/>
          </a:xfrm>
          <a:prstGeom prst="rect">
            <a:avLst/>
          </a:prstGeom>
          <a:noFill/>
          <a:ln/>
        </p:spPr>
        <p:txBody>
          <a:bodyPr wrap="square" rtlCol="0" anchor="t"/>
          <a:lstStyle/>
          <a:p>
            <a:pPr marL="0" indent="0">
              <a:spcAft>
                <a:spcPts val="300"/>
              </a:spcAft>
              <a:buNone/>
            </a:pPr>
            <a:r>
              <a:rPr lang="en-US" sz="1500" b="1" dirty="0">
                <a:solidFill>
                  <a:srgbClr val="1A1A2E"/>
                </a:solidFill>
              </a:rPr>
              <a:t>input()</a:t>
            </a:r>
            <a:endParaRPr lang="en-US" sz="1500" dirty="0"/>
          </a:p>
          <a:p>
            <a:pPr marL="685800" lvl="1" indent="-342900">
              <a:spcAft>
                <a:spcPts val="1000"/>
              </a:spcAft>
              <a:buSzPct val="100000"/>
              <a:buChar char="•"/>
            </a:pPr>
            <a:r>
              <a:rPr lang="en-US" sz="1400" dirty="0">
                <a:solidFill>
                  <a:srgbClr val="1A1A2E"/>
                </a:solidFill>
              </a:rPr>
              <a:t>Displays the prompt, waits for the user to type, and returns the text they typed as a STRING</a:t>
            </a:r>
            <a:endParaRPr lang="en-US" sz="1500" dirty="0"/>
          </a:p>
          <a:p>
            <a:pPr marL="0" indent="0">
              <a:spcAft>
                <a:spcPts val="300"/>
              </a:spcAft>
              <a:buNone/>
            </a:pPr>
            <a:r>
              <a:rPr lang="en-US" sz="1500" b="1" dirty="0">
                <a:solidFill>
                  <a:srgbClr val="1A1A2E"/>
                </a:solidFill>
              </a:rPr>
              <a:t>print()</a:t>
            </a:r>
            <a:endParaRPr lang="en-US" sz="1500" dirty="0"/>
          </a:p>
          <a:p>
            <a:pPr marL="685800" lvl="1" indent="-342900">
              <a:spcAft>
                <a:spcPts val="1000"/>
              </a:spcAft>
              <a:buSzPct val="100000"/>
              <a:buChar char="•"/>
            </a:pPr>
            <a:r>
              <a:rPr lang="en-US" sz="1400" dirty="0">
                <a:solidFill>
                  <a:srgbClr val="1A1A2E"/>
                </a:solidFill>
              </a:rPr>
              <a:t>Displays values on screen. Separate multiple items with commas.</a:t>
            </a:r>
            <a:endParaRPr lang="en-US" sz="1500" dirty="0"/>
          </a:p>
          <a:p>
            <a:pPr marL="0" indent="0">
              <a:spcAft>
                <a:spcPts val="600"/>
              </a:spcAft>
              <a:buNone/>
            </a:pPr>
            <a:r>
              <a:rPr lang="en-US" sz="1400" b="1" dirty="0">
                <a:solidFill>
                  <a:srgbClr val="991B1B"/>
                </a:solidFill>
              </a:rPr>
              <a:t>⚠️  input() ALWAYS returns a string</a:t>
            </a:r>
            <a:endParaRPr lang="en-US" sz="1500" dirty="0"/>
          </a:p>
          <a:p>
            <a:pPr marL="342900" indent="-342900">
              <a:spcAft>
                <a:spcPts val="600"/>
              </a:spcAft>
              <a:buSzPct val="100000"/>
              <a:buChar char="•"/>
            </a:pPr>
            <a:r>
              <a:rPr lang="en-US" sz="1400" dirty="0">
                <a:solidFill>
                  <a:srgbClr val="1A1A2E"/>
                </a:solidFill>
              </a:rPr>
              <a:t>Even if the user types "42", you get the text "42" — not the number 42</a:t>
            </a:r>
            <a:endParaRPr lang="en-US" sz="1500" dirty="0"/>
          </a:p>
          <a:p>
            <a:pPr marL="342900" indent="-342900">
              <a:spcAft>
                <a:spcPts val="500"/>
              </a:spcAft>
              <a:buSzPct val="100000"/>
              <a:buChar char="•"/>
            </a:pPr>
            <a:r>
              <a:rPr lang="en-US" sz="1400" dirty="0">
                <a:solidFill>
                  <a:srgbClr val="1A1A2E"/>
                </a:solidFill>
              </a:rPr>
              <a:t>Convert with int() or float() before doing math</a:t>
            </a:r>
            <a:endParaRPr lang="en-US" sz="1500" dirty="0"/>
          </a:p>
        </p:txBody>
      </p:sp>
      <p:sp>
        <p:nvSpPr>
          <p:cNvPr id="8" name="Text 6"/>
          <p:cNvSpPr txBox="1"/>
          <p:nvPr/>
        </p:nvSpPr>
        <p:spPr>
          <a:xfrm>
            <a:off x="274320" y="6537960"/>
            <a:ext cx="11612880" cy="274320"/>
          </a:xfrm>
          <a:prstGeom prst="rect">
            <a:avLst/>
          </a:prstGeom>
          <a:noFill/>
          <a:ln/>
        </p:spPr>
        <p:txBody>
          <a:bodyPr wrap="square" rtlCol="0" anchor="ctr"/>
          <a:lstStyle/>
          <a:p>
            <a:pPr marL="0" indent="0" algn="r">
              <a:buNone/>
            </a:pPr>
            <a:r>
              <a:rPr lang="en-US" sz="1100" dirty="0">
                <a:solidFill>
                  <a:srgbClr val="999999"/>
                </a:solidFill>
              </a:rPr>
              <a:t>CSE 120 · Module 1</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E7490"/>
          </a:solidFill>
          <a:ln w="12700">
            <a:solidFill>
              <a:srgbClr val="0E7490"/>
            </a:solidFill>
            <a:prstDash val="solid"/>
          </a:ln>
        </p:spPr>
        <p:txBody>
          <a:bodyPr/>
          <a:lstStyle/>
          <a:p>
            <a:endParaRPr lang="en-US"/>
          </a:p>
        </p:txBody>
      </p:sp>
      <p:sp>
        <p:nvSpPr>
          <p:cNvPr id="3" name="Text 1"/>
          <p:cNvSpPr txBox="1"/>
          <p:nvPr/>
        </p:nvSpPr>
        <p:spPr>
          <a:xfrm>
            <a:off x="274320" y="91440"/>
            <a:ext cx="11612880" cy="777240"/>
          </a:xfrm>
          <a:prstGeom prst="rect">
            <a:avLst/>
          </a:prstGeom>
          <a:noFill/>
          <a:ln/>
        </p:spPr>
        <p:txBody>
          <a:bodyPr wrap="square" rtlCol="0" anchor="ctr"/>
          <a:lstStyle/>
          <a:p>
            <a:pPr marL="0" indent="0">
              <a:buNone/>
            </a:pPr>
            <a:r>
              <a:rPr lang="en-US" sz="2200" b="1" dirty="0">
                <a:solidFill>
                  <a:srgbClr val="FFFFFF"/>
                </a:solidFill>
              </a:rPr>
              <a:t>✏️  Try It — Build a Simple Calculator</a:t>
            </a:r>
            <a:endParaRPr lang="en-US" sz="2200" dirty="0"/>
          </a:p>
        </p:txBody>
      </p:sp>
      <p:sp>
        <p:nvSpPr>
          <p:cNvPr id="4" name="Text 2"/>
          <p:cNvSpPr txBox="1"/>
          <p:nvPr/>
        </p:nvSpPr>
        <p:spPr>
          <a:xfrm>
            <a:off x="457200" y="1097280"/>
            <a:ext cx="11247120" cy="5394960"/>
          </a:xfrm>
          <a:prstGeom prst="rect">
            <a:avLst/>
          </a:prstGeom>
          <a:noFill/>
          <a:ln/>
        </p:spPr>
        <p:txBody>
          <a:bodyPr wrap="square" rtlCol="0" anchor="t"/>
          <a:lstStyle/>
          <a:p>
            <a:pPr marL="0" indent="0">
              <a:spcAft>
                <a:spcPts val="800"/>
              </a:spcAft>
              <a:buNone/>
            </a:pPr>
            <a:r>
              <a:rPr lang="en-US" sz="1500" dirty="0">
                <a:solidFill>
                  <a:srgbClr val="1A1A2E"/>
                </a:solidFill>
              </a:rPr>
              <a:t>Write a program that:</a:t>
            </a:r>
            <a:endParaRPr lang="en-US" sz="1500" dirty="0"/>
          </a:p>
          <a:p>
            <a:pPr marL="685800" lvl="1" indent="-342900">
              <a:spcAft>
                <a:spcPts val="500"/>
              </a:spcAft>
              <a:buSzPct val="100000"/>
              <a:buChar char="•"/>
            </a:pPr>
            <a:r>
              <a:rPr lang="en-US" sz="1500" dirty="0">
                <a:solidFill>
                  <a:srgbClr val="1A1A2E"/>
                </a:solidFill>
              </a:rPr>
              <a:t>Asks the user to enter two numbers</a:t>
            </a:r>
            <a:endParaRPr lang="en-US" sz="1500" dirty="0"/>
          </a:p>
          <a:p>
            <a:pPr marL="685800" lvl="1" indent="-342900">
              <a:spcAft>
                <a:spcPts val="500"/>
              </a:spcAft>
              <a:buSzPct val="100000"/>
              <a:buChar char="•"/>
            </a:pPr>
            <a:r>
              <a:rPr lang="en-US" sz="1500" dirty="0">
                <a:solidFill>
                  <a:srgbClr val="1A1A2E"/>
                </a:solidFill>
              </a:rPr>
              <a:t>Converts them to floats</a:t>
            </a:r>
            <a:endParaRPr lang="en-US" sz="1500" dirty="0"/>
          </a:p>
          <a:p>
            <a:pPr marL="685800" lvl="1" indent="-342900">
              <a:spcAft>
                <a:spcPts val="2000"/>
              </a:spcAft>
              <a:buSzPct val="100000"/>
              <a:buChar char="•"/>
            </a:pPr>
            <a:r>
              <a:rPr lang="en-US" sz="1500" dirty="0">
                <a:solidFill>
                  <a:srgbClr val="1A1A2E"/>
                </a:solidFill>
              </a:rPr>
              <a:t>Prints their sum</a:t>
            </a:r>
            <a:endParaRPr lang="en-US" sz="1500" dirty="0"/>
          </a:p>
          <a:p>
            <a:pPr marL="0" indent="0">
              <a:spcAft>
                <a:spcPts val="500"/>
              </a:spcAft>
              <a:buNone/>
            </a:pPr>
            <a:r>
              <a:rPr lang="en-US" sz="1500" b="1" dirty="0">
                <a:solidFill>
                  <a:srgbClr val="5B21B6"/>
                </a:solidFill>
              </a:rPr>
              <a:t>What do you need to do before you can add the two numbers together?</a:t>
            </a:r>
            <a:endParaRPr lang="en-US" sz="1500" dirty="0"/>
          </a:p>
        </p:txBody>
      </p:sp>
      <p:sp>
        <p:nvSpPr>
          <p:cNvPr id="5" name="Text 3"/>
          <p:cNvSpPr txBox="1"/>
          <p:nvPr/>
        </p:nvSpPr>
        <p:spPr>
          <a:xfrm>
            <a:off x="274320" y="6537960"/>
            <a:ext cx="11612880" cy="274320"/>
          </a:xfrm>
          <a:prstGeom prst="rect">
            <a:avLst/>
          </a:prstGeom>
          <a:noFill/>
          <a:ln/>
        </p:spPr>
        <p:txBody>
          <a:bodyPr wrap="square" rtlCol="0" anchor="ctr"/>
          <a:lstStyle/>
          <a:p>
            <a:pPr marL="0" indent="0" algn="r">
              <a:buNone/>
            </a:pPr>
            <a:r>
              <a:rPr lang="en-US" sz="1100" dirty="0">
                <a:solidFill>
                  <a:srgbClr val="888888"/>
                </a:solidFill>
              </a:rPr>
              <a:t>CSE 120 · Module 1  ·  Try it first — answer on next slide</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0FFF4"/>
        </a:solidFill>
        <a:effectLst/>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2D6A4F"/>
          </a:solidFill>
          <a:ln w="12700">
            <a:solidFill>
              <a:srgbClr val="2D6A4F"/>
            </a:solidFill>
            <a:prstDash val="solid"/>
          </a:ln>
        </p:spPr>
        <p:txBody>
          <a:bodyPr/>
          <a:lstStyle/>
          <a:p>
            <a:endParaRPr lang="en-US"/>
          </a:p>
        </p:txBody>
      </p:sp>
      <p:sp>
        <p:nvSpPr>
          <p:cNvPr id="3" name="Text 1"/>
          <p:cNvSpPr txBox="1"/>
          <p:nvPr/>
        </p:nvSpPr>
        <p:spPr>
          <a:xfrm>
            <a:off x="274320" y="91440"/>
            <a:ext cx="11612880" cy="777240"/>
          </a:xfrm>
          <a:prstGeom prst="rect">
            <a:avLst/>
          </a:prstGeom>
          <a:noFill/>
          <a:ln/>
        </p:spPr>
        <p:txBody>
          <a:bodyPr wrap="square" rtlCol="0" anchor="ctr"/>
          <a:lstStyle/>
          <a:p>
            <a:pPr marL="0" indent="0">
              <a:buNone/>
            </a:pPr>
            <a:r>
              <a:rPr lang="en-US" sz="2200" b="1" dirty="0">
                <a:solidFill>
                  <a:srgbClr val="FFFFFF"/>
                </a:solidFill>
              </a:rPr>
              <a:t>✅  Answer — Simple Calculator</a:t>
            </a:r>
            <a:endParaRPr lang="en-US" sz="2200" dirty="0"/>
          </a:p>
        </p:txBody>
      </p:sp>
      <p:sp>
        <p:nvSpPr>
          <p:cNvPr id="4" name="Text 2"/>
          <p:cNvSpPr txBox="1"/>
          <p:nvPr/>
        </p:nvSpPr>
        <p:spPr>
          <a:xfrm>
            <a:off x="457200" y="1097280"/>
            <a:ext cx="11247120" cy="5394960"/>
          </a:xfrm>
          <a:prstGeom prst="rect">
            <a:avLst/>
          </a:prstGeom>
          <a:noFill/>
          <a:ln/>
        </p:spPr>
        <p:txBody>
          <a:bodyPr wrap="square" rtlCol="0" anchor="t"/>
          <a:lstStyle/>
          <a:p>
            <a:pPr marL="0" indent="0">
              <a:spcAft>
                <a:spcPts val="500"/>
              </a:spcAft>
              <a:buNone/>
            </a:pPr>
            <a:r>
              <a:rPr lang="en-US" sz="1600" dirty="0">
                <a:solidFill>
                  <a:srgbClr val="1E2D40"/>
                </a:solidFill>
                <a:latin typeface="Courier New" pitchFamily="34" charset="0"/>
                <a:ea typeface="Courier New" pitchFamily="34" charset="-122"/>
                <a:cs typeface="Courier New" pitchFamily="34" charset="-120"/>
              </a:rPr>
              <a:t>num1 = float(input("Enter first number: "))</a:t>
            </a:r>
            <a:endParaRPr lang="en-US" sz="1600" dirty="0"/>
          </a:p>
          <a:p>
            <a:pPr marL="0" indent="0">
              <a:spcAft>
                <a:spcPts val="500"/>
              </a:spcAft>
              <a:buNone/>
            </a:pPr>
            <a:r>
              <a:rPr lang="en-US" sz="1600" dirty="0">
                <a:solidFill>
                  <a:srgbClr val="1E2D40"/>
                </a:solidFill>
                <a:latin typeface="Courier New" pitchFamily="34" charset="0"/>
                <a:ea typeface="Courier New" pitchFamily="34" charset="-122"/>
                <a:cs typeface="Courier New" pitchFamily="34" charset="-120"/>
              </a:rPr>
              <a:t>num2 = float(input("Enter second number: "))</a:t>
            </a:r>
            <a:endParaRPr lang="en-US" sz="1600" dirty="0"/>
          </a:p>
          <a:p>
            <a:pPr marL="0" indent="0">
              <a:spcAft>
                <a:spcPts val="500"/>
              </a:spcAft>
              <a:buNone/>
            </a:pPr>
            <a:r>
              <a:rPr lang="en-US" sz="1600" dirty="0">
                <a:solidFill>
                  <a:srgbClr val="1E2D40"/>
                </a:solidFill>
                <a:latin typeface="Courier New" pitchFamily="34" charset="0"/>
                <a:ea typeface="Courier New" pitchFamily="34" charset="-122"/>
                <a:cs typeface="Courier New" pitchFamily="34" charset="-120"/>
              </a:rPr>
              <a:t>total = num1 + num2</a:t>
            </a:r>
            <a:endParaRPr lang="en-US" sz="1600" dirty="0"/>
          </a:p>
          <a:p>
            <a:pPr marL="0" indent="0">
              <a:spcAft>
                <a:spcPts val="1600"/>
              </a:spcAft>
              <a:buNone/>
            </a:pPr>
            <a:r>
              <a:rPr lang="en-US" sz="1600" dirty="0">
                <a:solidFill>
                  <a:srgbClr val="1E2D40"/>
                </a:solidFill>
                <a:latin typeface="Courier New" pitchFamily="34" charset="0"/>
                <a:ea typeface="Courier New" pitchFamily="34" charset="-122"/>
                <a:cs typeface="Courier New" pitchFamily="34" charset="-120"/>
              </a:rPr>
              <a:t>print("Sum:", total)</a:t>
            </a:r>
            <a:endParaRPr lang="en-US" sz="1600" dirty="0"/>
          </a:p>
          <a:p>
            <a:pPr marL="342900" indent="-342900">
              <a:spcAft>
                <a:spcPts val="600"/>
              </a:spcAft>
              <a:buSzPct val="100000"/>
              <a:buChar char="•"/>
            </a:pPr>
            <a:r>
              <a:rPr lang="en-US" sz="1400" dirty="0">
                <a:solidFill>
                  <a:srgbClr val="1A1A2E"/>
                </a:solidFill>
              </a:rPr>
              <a:t>float() converts the string input() returns into a real number</a:t>
            </a:r>
            <a:endParaRPr lang="en-US" sz="1600" dirty="0"/>
          </a:p>
          <a:p>
            <a:pPr marL="342900" indent="-342900">
              <a:spcAft>
                <a:spcPts val="500"/>
              </a:spcAft>
              <a:buSzPct val="100000"/>
              <a:buChar char="•"/>
            </a:pPr>
            <a:r>
              <a:rPr lang="en-US" sz="1400" dirty="0">
                <a:solidFill>
                  <a:srgbClr val="1A1A2E"/>
                </a:solidFill>
              </a:rPr>
              <a:t>Without float(), the + would join text instead of adding numbers</a:t>
            </a:r>
            <a:endParaRPr lang="en-US" sz="1600" dirty="0"/>
          </a:p>
        </p:txBody>
      </p:sp>
      <p:sp>
        <p:nvSpPr>
          <p:cNvPr id="5" name="Text 3"/>
          <p:cNvSpPr txBox="1"/>
          <p:nvPr/>
        </p:nvSpPr>
        <p:spPr>
          <a:xfrm>
            <a:off x="274320" y="6537960"/>
            <a:ext cx="11612880" cy="274320"/>
          </a:xfrm>
          <a:prstGeom prst="rect">
            <a:avLst/>
          </a:prstGeom>
          <a:noFill/>
          <a:ln/>
        </p:spPr>
        <p:txBody>
          <a:bodyPr wrap="square" rtlCol="0" anchor="ctr"/>
          <a:lstStyle/>
          <a:p>
            <a:pPr marL="0" indent="0" algn="r">
              <a:buNone/>
            </a:pPr>
            <a:r>
              <a:rPr lang="en-US" sz="1100" dirty="0">
                <a:solidFill>
                  <a:srgbClr val="888888"/>
                </a:solidFill>
              </a:rPr>
              <a:t>CSE 120 · Module 1</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03767"/>
        </a:solidFill>
        <a:effectLst/>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03767"/>
          </a:solidFill>
          <a:ln w="12700">
            <a:solidFill>
              <a:srgbClr val="003767"/>
            </a:solidFill>
            <a:prstDash val="solid"/>
          </a:ln>
        </p:spPr>
        <p:txBody>
          <a:bodyPr/>
          <a:lstStyle/>
          <a:p>
            <a:endParaRPr lang="en-US"/>
          </a:p>
        </p:txBody>
      </p:sp>
      <p:sp>
        <p:nvSpPr>
          <p:cNvPr id="3" name="Shape 1"/>
          <p:cNvSpPr/>
          <p:nvPr/>
        </p:nvSpPr>
        <p:spPr>
          <a:xfrm>
            <a:off x="0" y="5303520"/>
            <a:ext cx="12161520" cy="1554480"/>
          </a:xfrm>
          <a:prstGeom prst="rect">
            <a:avLst/>
          </a:prstGeom>
          <a:solidFill>
            <a:srgbClr val="001F40"/>
          </a:solidFill>
          <a:ln w="12700">
            <a:solidFill>
              <a:srgbClr val="001F40"/>
            </a:solidFill>
            <a:prstDash val="solid"/>
          </a:ln>
        </p:spPr>
        <p:txBody>
          <a:bodyPr/>
          <a:lstStyle/>
          <a:p>
            <a:endParaRPr lang="en-US"/>
          </a:p>
        </p:txBody>
      </p:sp>
      <p:sp>
        <p:nvSpPr>
          <p:cNvPr id="4" name="Text 2"/>
          <p:cNvSpPr txBox="1"/>
          <p:nvPr/>
        </p:nvSpPr>
        <p:spPr>
          <a:xfrm>
            <a:off x="731520" y="914400"/>
            <a:ext cx="10698480" cy="822960"/>
          </a:xfrm>
          <a:prstGeom prst="rect">
            <a:avLst/>
          </a:prstGeom>
          <a:noFill/>
          <a:ln/>
        </p:spPr>
        <p:txBody>
          <a:bodyPr wrap="square" rtlCol="0" anchor="ctr"/>
          <a:lstStyle/>
          <a:p>
            <a:pPr marL="0" indent="0" algn="ctr">
              <a:buNone/>
            </a:pPr>
            <a:r>
              <a:rPr lang="en-US" sz="2000" b="1" dirty="0">
                <a:solidFill>
                  <a:srgbClr val="0074B7"/>
                </a:solidFill>
              </a:rPr>
              <a:t>Part 6</a:t>
            </a:r>
            <a:endParaRPr lang="en-US" sz="2000" dirty="0"/>
          </a:p>
        </p:txBody>
      </p:sp>
      <p:sp>
        <p:nvSpPr>
          <p:cNvPr id="5" name="Text 3"/>
          <p:cNvSpPr txBox="1"/>
          <p:nvPr/>
        </p:nvSpPr>
        <p:spPr>
          <a:xfrm>
            <a:off x="731520" y="1737360"/>
            <a:ext cx="10698480" cy="2286000"/>
          </a:xfrm>
          <a:prstGeom prst="rect">
            <a:avLst/>
          </a:prstGeom>
          <a:noFill/>
          <a:ln/>
        </p:spPr>
        <p:txBody>
          <a:bodyPr wrap="square" rtlCol="0" anchor="ctr"/>
          <a:lstStyle/>
          <a:p>
            <a:pPr marL="0" indent="0" algn="ctr">
              <a:buNone/>
            </a:pPr>
            <a:r>
              <a:rPr lang="en-US" sz="4000" b="1" dirty="0">
                <a:solidFill>
                  <a:srgbClr val="FFFFFF"/>
                </a:solidFill>
              </a:rPr>
              <a:t>Expressions</a:t>
            </a:r>
            <a:endParaRPr lang="en-US" sz="4000" dirty="0"/>
          </a:p>
          <a:p>
            <a:pPr marL="0" indent="0" algn="ctr">
              <a:buNone/>
            </a:pPr>
            <a:r>
              <a:rPr lang="en-US" sz="4000" b="1" dirty="0">
                <a:solidFill>
                  <a:srgbClr val="FFFFFF"/>
                </a:solidFill>
              </a:rPr>
              <a:t>&amp; Operators</a:t>
            </a:r>
            <a:endParaRPr lang="en-US" sz="4000" dirty="0"/>
          </a:p>
        </p:txBody>
      </p:sp>
      <p:sp>
        <p:nvSpPr>
          <p:cNvPr id="6" name="Text 4"/>
          <p:cNvSpPr txBox="1"/>
          <p:nvPr/>
        </p:nvSpPr>
        <p:spPr>
          <a:xfrm>
            <a:off x="731520" y="4114800"/>
            <a:ext cx="10698480" cy="1005840"/>
          </a:xfrm>
          <a:prstGeom prst="rect">
            <a:avLst/>
          </a:prstGeom>
          <a:noFill/>
          <a:ln/>
        </p:spPr>
        <p:txBody>
          <a:bodyPr wrap="square" rtlCol="0" anchor="ctr"/>
          <a:lstStyle/>
          <a:p>
            <a:pPr marL="0" indent="0" algn="ctr">
              <a:buNone/>
            </a:pPr>
            <a:r>
              <a:rPr lang="en-US" sz="1500" dirty="0">
                <a:solidFill>
                  <a:srgbClr val="7BAFD4"/>
                </a:solidFill>
              </a:rPr>
              <a:t>Arithmetic · Integer Division · Modulo · Engineering Calculations</a:t>
            </a:r>
            <a:endParaRPr lang="en-US" sz="1500" dirty="0"/>
          </a:p>
        </p:txBody>
      </p:sp>
      <p:sp>
        <p:nvSpPr>
          <p:cNvPr id="7" name="Text 5"/>
          <p:cNvSpPr txBox="1"/>
          <p:nvPr/>
        </p:nvSpPr>
        <p:spPr>
          <a:xfrm>
            <a:off x="731520" y="5577840"/>
            <a:ext cx="10698480" cy="731520"/>
          </a:xfrm>
          <a:prstGeom prst="rect">
            <a:avLst/>
          </a:prstGeom>
          <a:noFill/>
          <a:ln/>
        </p:spPr>
        <p:txBody>
          <a:bodyPr wrap="square" rtlCol="0" anchor="ctr"/>
          <a:lstStyle/>
          <a:p>
            <a:pPr marL="0" indent="0" algn="ctr">
              <a:buNone/>
            </a:pPr>
            <a:r>
              <a:rPr lang="en-US" sz="1300" dirty="0">
                <a:solidFill>
                  <a:srgbClr val="6699BB"/>
                </a:solidFill>
              </a:rPr>
              <a:t>CSE 120 · Module 1</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822960"/>
          </a:xfrm>
          <a:prstGeom prst="rect">
            <a:avLst/>
          </a:prstGeom>
          <a:solidFill>
            <a:srgbClr val="003767"/>
          </a:solidFill>
          <a:ln w="12700">
            <a:solidFill>
              <a:srgbClr val="003767"/>
            </a:solidFill>
            <a:prstDash val="solid"/>
          </a:ln>
        </p:spPr>
        <p:txBody>
          <a:bodyPr/>
          <a:lstStyle/>
          <a:p>
            <a:endParaRPr lang="en-US"/>
          </a:p>
        </p:txBody>
      </p:sp>
      <p:sp>
        <p:nvSpPr>
          <p:cNvPr id="3" name="Text 1"/>
          <p:cNvSpPr txBox="1"/>
          <p:nvPr/>
        </p:nvSpPr>
        <p:spPr>
          <a:xfrm>
            <a:off x="274320" y="73152"/>
            <a:ext cx="11612880" cy="685800"/>
          </a:xfrm>
          <a:prstGeom prst="rect">
            <a:avLst/>
          </a:prstGeom>
          <a:noFill/>
          <a:ln/>
        </p:spPr>
        <p:txBody>
          <a:bodyPr wrap="square" rtlCol="0" anchor="ctr"/>
          <a:lstStyle/>
          <a:p>
            <a:pPr marL="0" indent="0">
              <a:buNone/>
            </a:pPr>
            <a:r>
              <a:rPr lang="en-US" sz="2000" b="1" dirty="0">
                <a:solidFill>
                  <a:srgbClr val="FFFFFF"/>
                </a:solidFill>
              </a:rPr>
              <a:t>Python's Arithmetic Operators</a:t>
            </a:r>
            <a:endParaRPr lang="en-US" sz="2000" dirty="0"/>
          </a:p>
        </p:txBody>
      </p:sp>
      <p:sp>
        <p:nvSpPr>
          <p:cNvPr id="4" name="Text 2"/>
          <p:cNvSpPr txBox="1"/>
          <p:nvPr/>
        </p:nvSpPr>
        <p:spPr>
          <a:xfrm>
            <a:off x="365760" y="914400"/>
            <a:ext cx="11430000" cy="5577840"/>
          </a:xfrm>
          <a:prstGeom prst="rect">
            <a:avLst/>
          </a:prstGeom>
          <a:noFill/>
          <a:ln/>
        </p:spPr>
        <p:txBody>
          <a:bodyPr wrap="square" rtlCol="0" anchor="t"/>
          <a:lstStyle/>
          <a:p>
            <a:pPr marL="0" indent="0">
              <a:spcAft>
                <a:spcPts val="500"/>
              </a:spcAft>
              <a:buNone/>
            </a:pPr>
            <a:r>
              <a:rPr lang="en-US" sz="1400" dirty="0">
                <a:solidFill>
                  <a:srgbClr val="1A1A2E"/>
                </a:solidFill>
              </a:rPr>
              <a:t>+ (addition)         10 + 3  →  13</a:t>
            </a:r>
            <a:endParaRPr lang="en-US" sz="1400" dirty="0"/>
          </a:p>
          <a:p>
            <a:pPr marL="0" indent="0">
              <a:spcAft>
                <a:spcPts val="500"/>
              </a:spcAft>
              <a:buNone/>
            </a:pPr>
            <a:r>
              <a:rPr lang="en-US" sz="1400" dirty="0">
                <a:solidFill>
                  <a:srgbClr val="1A1A2E"/>
                </a:solidFill>
              </a:rPr>
              <a:t>- (subtraction)      10 - 3  →  7</a:t>
            </a:r>
            <a:endParaRPr lang="en-US" sz="1400" dirty="0"/>
          </a:p>
          <a:p>
            <a:pPr marL="0" indent="0">
              <a:spcAft>
                <a:spcPts val="500"/>
              </a:spcAft>
              <a:buNone/>
            </a:pPr>
            <a:r>
              <a:rPr lang="en-US" sz="1400" dirty="0">
                <a:solidFill>
                  <a:srgbClr val="1A1A2E"/>
                </a:solidFill>
              </a:rPr>
              <a:t>* (multiplication)   10 * 3  →  30</a:t>
            </a:r>
            <a:endParaRPr lang="en-US" sz="1400" dirty="0"/>
          </a:p>
          <a:p>
            <a:pPr marL="0" indent="0">
              <a:spcAft>
                <a:spcPts val="500"/>
              </a:spcAft>
              <a:buNone/>
            </a:pPr>
            <a:r>
              <a:rPr lang="en-US" sz="1400" dirty="0">
                <a:solidFill>
                  <a:srgbClr val="1A1A2E"/>
                </a:solidFill>
              </a:rPr>
              <a:t>/ (true division)    10 / 3  →  3.333…  (always float)</a:t>
            </a:r>
            <a:endParaRPr lang="en-US" sz="1400" dirty="0"/>
          </a:p>
          <a:p>
            <a:pPr marL="0" indent="0">
              <a:spcAft>
                <a:spcPts val="500"/>
              </a:spcAft>
              <a:buNone/>
            </a:pPr>
            <a:r>
              <a:rPr lang="en-US" sz="1400" dirty="0">
                <a:solidFill>
                  <a:srgbClr val="1A1A2E"/>
                </a:solidFill>
              </a:rPr>
              <a:t>// (integer div)     10 // 3 →  3  (floor — drops decimal)</a:t>
            </a:r>
            <a:endParaRPr lang="en-US" sz="1400" dirty="0"/>
          </a:p>
          <a:p>
            <a:pPr marL="0" indent="0">
              <a:spcAft>
                <a:spcPts val="500"/>
              </a:spcAft>
              <a:buNone/>
            </a:pPr>
            <a:r>
              <a:rPr lang="en-US" sz="1400" dirty="0">
                <a:solidFill>
                  <a:srgbClr val="1A1A2E"/>
                </a:solidFill>
              </a:rPr>
              <a:t>% (modulo)           10 % 3  →  1  (remainder after division)</a:t>
            </a:r>
            <a:endParaRPr lang="en-US" sz="1400" dirty="0"/>
          </a:p>
          <a:p>
            <a:pPr marL="0" indent="0">
              <a:spcAft>
                <a:spcPts val="1600"/>
              </a:spcAft>
              <a:buNone/>
            </a:pPr>
            <a:r>
              <a:rPr lang="en-US" sz="1400" dirty="0">
                <a:solidFill>
                  <a:srgbClr val="1A1A2E"/>
                </a:solidFill>
              </a:rPr>
              <a:t>** (exponent)        2 ** 8  →  256</a:t>
            </a:r>
            <a:endParaRPr lang="en-US" sz="1400" dirty="0"/>
          </a:p>
          <a:p>
            <a:pPr marL="0" indent="0">
              <a:spcAft>
                <a:spcPts val="400"/>
              </a:spcAft>
              <a:buNone/>
            </a:pPr>
            <a:r>
              <a:rPr lang="en-US" sz="1500" b="1" dirty="0">
                <a:solidFill>
                  <a:srgbClr val="0074B7"/>
                </a:solidFill>
              </a:rPr>
              <a:t>Engineer tip: / always produces float. Use // when you need a whole number result.</a:t>
            </a:r>
            <a:endParaRPr lang="en-US" sz="1400" dirty="0"/>
          </a:p>
        </p:txBody>
      </p:sp>
      <p:sp>
        <p:nvSpPr>
          <p:cNvPr id="5" name="Text 3"/>
          <p:cNvSpPr txBox="1"/>
          <p:nvPr/>
        </p:nvSpPr>
        <p:spPr>
          <a:xfrm>
            <a:off x="274320" y="6537960"/>
            <a:ext cx="11612880" cy="274320"/>
          </a:xfrm>
          <a:prstGeom prst="rect">
            <a:avLst/>
          </a:prstGeom>
          <a:noFill/>
          <a:ln/>
        </p:spPr>
        <p:txBody>
          <a:bodyPr wrap="square" rtlCol="0" anchor="ctr"/>
          <a:lstStyle/>
          <a:p>
            <a:pPr marL="0" indent="0" algn="r">
              <a:buNone/>
            </a:pPr>
            <a:r>
              <a:rPr lang="en-US" sz="1100" dirty="0">
                <a:solidFill>
                  <a:srgbClr val="999999"/>
                </a:solidFill>
              </a:rPr>
              <a:t>CSE 120 · Module 1</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822960"/>
          </a:xfrm>
          <a:prstGeom prst="rect">
            <a:avLst/>
          </a:prstGeom>
          <a:solidFill>
            <a:srgbClr val="003767"/>
          </a:solidFill>
          <a:ln w="12700">
            <a:solidFill>
              <a:srgbClr val="003767"/>
            </a:solidFill>
            <a:prstDash val="solid"/>
          </a:ln>
        </p:spPr>
        <p:txBody>
          <a:bodyPr/>
          <a:lstStyle/>
          <a:p>
            <a:endParaRPr lang="en-US"/>
          </a:p>
        </p:txBody>
      </p:sp>
      <p:sp>
        <p:nvSpPr>
          <p:cNvPr id="3" name="Text 1"/>
          <p:cNvSpPr txBox="1"/>
          <p:nvPr/>
        </p:nvSpPr>
        <p:spPr>
          <a:xfrm>
            <a:off x="274320" y="73152"/>
            <a:ext cx="11612880" cy="685800"/>
          </a:xfrm>
          <a:prstGeom prst="rect">
            <a:avLst/>
          </a:prstGeom>
          <a:noFill/>
          <a:ln/>
        </p:spPr>
        <p:txBody>
          <a:bodyPr wrap="square" rtlCol="0" anchor="ctr"/>
          <a:lstStyle/>
          <a:p>
            <a:pPr marL="0" indent="0">
              <a:buNone/>
            </a:pPr>
            <a:r>
              <a:rPr lang="en-US" sz="2000" b="1" dirty="0">
                <a:solidFill>
                  <a:srgbClr val="FFFFFF"/>
                </a:solidFill>
              </a:rPr>
              <a:t>Engineering Calculations with Python</a:t>
            </a:r>
            <a:endParaRPr lang="en-US" sz="2000" dirty="0"/>
          </a:p>
        </p:txBody>
      </p:sp>
      <p:sp>
        <p:nvSpPr>
          <p:cNvPr id="4" name="Shape 2"/>
          <p:cNvSpPr/>
          <p:nvPr/>
        </p:nvSpPr>
        <p:spPr>
          <a:xfrm>
            <a:off x="274320" y="914400"/>
            <a:ext cx="6400800" cy="5394960"/>
          </a:xfrm>
          <a:prstGeom prst="rect">
            <a:avLst/>
          </a:prstGeom>
          <a:solidFill>
            <a:srgbClr val="1E2D40"/>
          </a:solidFill>
          <a:ln w="12700">
            <a:solidFill>
              <a:srgbClr val="2A4060"/>
            </a:solidFill>
            <a:prstDash val="solid"/>
          </a:ln>
        </p:spPr>
        <p:txBody>
          <a:bodyPr/>
          <a:lstStyle/>
          <a:p>
            <a:endParaRPr lang="en-US"/>
          </a:p>
        </p:txBody>
      </p:sp>
      <p:sp>
        <p:nvSpPr>
          <p:cNvPr id="5" name="Text 3"/>
          <p:cNvSpPr txBox="1"/>
          <p:nvPr/>
        </p:nvSpPr>
        <p:spPr>
          <a:xfrm>
            <a:off x="365760" y="960120"/>
            <a:ext cx="6217920" cy="320040"/>
          </a:xfrm>
          <a:prstGeom prst="rect">
            <a:avLst/>
          </a:prstGeom>
          <a:noFill/>
          <a:ln/>
        </p:spPr>
        <p:txBody>
          <a:bodyPr wrap="square" rtlCol="0" anchor="ctr"/>
          <a:lstStyle/>
          <a:p>
            <a:pPr marL="0" indent="0">
              <a:buNone/>
            </a:pPr>
            <a:r>
              <a:rPr lang="en-US" sz="1100" b="1" dirty="0">
                <a:solidFill>
                  <a:srgbClr val="88AACC"/>
                </a:solidFill>
              </a:rPr>
              <a:t>python</a:t>
            </a:r>
            <a:endParaRPr lang="en-US" sz="1100" dirty="0"/>
          </a:p>
        </p:txBody>
      </p:sp>
      <p:sp>
        <p:nvSpPr>
          <p:cNvPr id="6" name="Text 4"/>
          <p:cNvSpPr txBox="1"/>
          <p:nvPr/>
        </p:nvSpPr>
        <p:spPr>
          <a:xfrm>
            <a:off x="365760" y="1325880"/>
            <a:ext cx="6217920" cy="4846320"/>
          </a:xfrm>
          <a:prstGeom prst="rect">
            <a:avLst/>
          </a:prstGeom>
          <a:noFill/>
          <a:ln/>
        </p:spPr>
        <p:txBody>
          <a:bodyPr wrap="square" rtlCol="0" anchor="t"/>
          <a:lstStyle/>
          <a:p>
            <a:pPr marL="0" indent="0">
              <a:buNone/>
            </a:pPr>
            <a:r>
              <a:rPr lang="en-US" sz="1300" dirty="0">
                <a:solidFill>
                  <a:srgbClr val="E8F4FD"/>
                </a:solidFill>
                <a:latin typeface="Courier New" pitchFamily="34" charset="0"/>
                <a:ea typeface="Courier New" pitchFamily="34" charset="-122"/>
                <a:cs typeface="Courier New" pitchFamily="34" charset="-120"/>
              </a:rPr>
              <a:t># Ohm's Law: V = I × R</a:t>
            </a:r>
            <a:endParaRPr lang="en-US" sz="1300" dirty="0"/>
          </a:p>
          <a:p>
            <a:pPr marL="0" indent="0">
              <a:buNone/>
            </a:pPr>
            <a:r>
              <a:rPr lang="en-US" sz="1300" dirty="0">
                <a:solidFill>
                  <a:srgbClr val="E8F4FD"/>
                </a:solidFill>
                <a:latin typeface="Courier New" pitchFamily="34" charset="0"/>
                <a:ea typeface="Courier New" pitchFamily="34" charset="-122"/>
                <a:cs typeface="Courier New" pitchFamily="34" charset="-120"/>
              </a:rPr>
              <a:t>voltage    = 2.5   # Amps</a:t>
            </a:r>
            <a:endParaRPr lang="en-US" sz="1300" dirty="0"/>
          </a:p>
          <a:p>
            <a:pPr marL="0" indent="0">
              <a:buNone/>
            </a:pPr>
            <a:r>
              <a:rPr lang="en-US" sz="1300" dirty="0">
                <a:solidFill>
                  <a:srgbClr val="E8F4FD"/>
                </a:solidFill>
                <a:latin typeface="Courier New" pitchFamily="34" charset="0"/>
                <a:ea typeface="Courier New" pitchFamily="34" charset="-122"/>
                <a:cs typeface="Courier New" pitchFamily="34" charset="-120"/>
              </a:rPr>
              <a:t>resistance = 120   # Ohms</a:t>
            </a:r>
            <a:endParaRPr lang="en-US" sz="1300" dirty="0"/>
          </a:p>
          <a:p>
            <a:pPr marL="0" indent="0">
              <a:buNone/>
            </a:pPr>
            <a:r>
              <a:rPr lang="en-US" sz="1300" dirty="0">
                <a:solidFill>
                  <a:srgbClr val="E8F4FD"/>
                </a:solidFill>
                <a:latin typeface="Courier New" pitchFamily="34" charset="0"/>
                <a:ea typeface="Courier New" pitchFamily="34" charset="-122"/>
                <a:cs typeface="Courier New" pitchFamily="34" charset="-120"/>
              </a:rPr>
              <a:t>v = voltage * resistance</a:t>
            </a:r>
            <a:endParaRPr lang="en-US" sz="1300" dirty="0"/>
          </a:p>
          <a:p>
            <a:pPr marL="0" indent="0">
              <a:buNone/>
            </a:pPr>
            <a:r>
              <a:rPr lang="en-US" sz="1300" dirty="0">
                <a:solidFill>
                  <a:srgbClr val="E8F4FD"/>
                </a:solidFill>
                <a:latin typeface="Courier New" pitchFamily="34" charset="0"/>
                <a:ea typeface="Courier New" pitchFamily="34" charset="-122"/>
                <a:cs typeface="Courier New" pitchFamily="34" charset="-120"/>
              </a:rPr>
              <a:t>print("Voltage:", v, "V")</a:t>
            </a:r>
            <a:endParaRPr lang="en-US" sz="1300" dirty="0"/>
          </a:p>
          <a:p>
            <a:pPr marL="0" indent="0">
              <a:buNone/>
            </a:pPr>
            <a:endParaRPr lang="en-US" sz="1300" dirty="0"/>
          </a:p>
          <a:p>
            <a:pPr marL="0" indent="0">
              <a:buNone/>
            </a:pPr>
            <a:r>
              <a:rPr lang="en-US" sz="1300" dirty="0">
                <a:solidFill>
                  <a:srgbClr val="E8F4FD"/>
                </a:solidFill>
                <a:latin typeface="Courier New" pitchFamily="34" charset="0"/>
                <a:ea typeface="Courier New" pitchFamily="34" charset="-122"/>
                <a:cs typeface="Courier New" pitchFamily="34" charset="-120"/>
              </a:rPr>
              <a:t># Celsius to Fahrenheit</a:t>
            </a:r>
            <a:endParaRPr lang="en-US" sz="1300" dirty="0"/>
          </a:p>
          <a:p>
            <a:pPr marL="0" indent="0">
              <a:buNone/>
            </a:pPr>
            <a:r>
              <a:rPr lang="en-US" sz="1300" dirty="0">
                <a:solidFill>
                  <a:srgbClr val="E8F4FD"/>
                </a:solidFill>
                <a:latin typeface="Courier New" pitchFamily="34" charset="0"/>
                <a:ea typeface="Courier New" pitchFamily="34" charset="-122"/>
                <a:cs typeface="Courier New" pitchFamily="34" charset="-120"/>
              </a:rPr>
              <a:t>celsius = 25</a:t>
            </a:r>
            <a:endParaRPr lang="en-US" sz="1300" dirty="0"/>
          </a:p>
          <a:p>
            <a:pPr marL="0" indent="0">
              <a:buNone/>
            </a:pPr>
            <a:r>
              <a:rPr lang="en-US" sz="1300" dirty="0">
                <a:solidFill>
                  <a:srgbClr val="E8F4FD"/>
                </a:solidFill>
                <a:latin typeface="Courier New" pitchFamily="34" charset="0"/>
                <a:ea typeface="Courier New" pitchFamily="34" charset="-122"/>
                <a:cs typeface="Courier New" pitchFamily="34" charset="-120"/>
              </a:rPr>
              <a:t>fahrenheit = (celsius * 9/5) + 32</a:t>
            </a:r>
            <a:endParaRPr lang="en-US" sz="1300" dirty="0"/>
          </a:p>
          <a:p>
            <a:pPr marL="0" indent="0">
              <a:buNone/>
            </a:pPr>
            <a:r>
              <a:rPr lang="en-US" sz="1300" dirty="0">
                <a:solidFill>
                  <a:srgbClr val="E8F4FD"/>
                </a:solidFill>
                <a:latin typeface="Courier New" pitchFamily="34" charset="0"/>
                <a:ea typeface="Courier New" pitchFamily="34" charset="-122"/>
                <a:cs typeface="Courier New" pitchFamily="34" charset="-120"/>
              </a:rPr>
              <a:t>print(celsius, "°C =", fahrenheit, "°F")</a:t>
            </a:r>
            <a:endParaRPr lang="en-US" sz="1300" dirty="0"/>
          </a:p>
        </p:txBody>
      </p:sp>
      <p:sp>
        <p:nvSpPr>
          <p:cNvPr id="7" name="Text 5"/>
          <p:cNvSpPr txBox="1"/>
          <p:nvPr/>
        </p:nvSpPr>
        <p:spPr>
          <a:xfrm>
            <a:off x="6949440" y="914400"/>
            <a:ext cx="4937760" cy="5394960"/>
          </a:xfrm>
          <a:prstGeom prst="rect">
            <a:avLst/>
          </a:prstGeom>
          <a:noFill/>
          <a:ln/>
        </p:spPr>
        <p:txBody>
          <a:bodyPr wrap="square" rtlCol="0" anchor="t"/>
          <a:lstStyle/>
          <a:p>
            <a:pPr marL="0" indent="0">
              <a:spcAft>
                <a:spcPts val="600"/>
              </a:spcAft>
              <a:buNone/>
            </a:pPr>
            <a:r>
              <a:rPr lang="en-US" sz="1400" b="1" dirty="0">
                <a:solidFill>
                  <a:srgbClr val="1A1A2E"/>
                </a:solidFill>
              </a:rPr>
              <a:t>Temperature conversion: Celsius to Fahrenheit</a:t>
            </a:r>
            <a:endParaRPr lang="en-US" sz="1400" dirty="0"/>
          </a:p>
          <a:p>
            <a:pPr marL="0" indent="0">
              <a:spcAft>
                <a:spcPts val="1600"/>
              </a:spcAft>
              <a:buNone/>
            </a:pPr>
            <a:r>
              <a:rPr lang="en-US" sz="1300" dirty="0">
                <a:solidFill>
                  <a:srgbClr val="1A1A2E"/>
                </a:solidFill>
              </a:rPr>
              <a:t>Formula: F = (C × 9/5) + 32</a:t>
            </a:r>
            <a:endParaRPr lang="en-US" sz="1400" dirty="0"/>
          </a:p>
          <a:p>
            <a:pPr marL="0" indent="0">
              <a:spcAft>
                <a:spcPts val="500"/>
              </a:spcAft>
              <a:buNone/>
            </a:pPr>
            <a:r>
              <a:rPr lang="en-US" sz="1400" b="1" dirty="0">
                <a:solidFill>
                  <a:srgbClr val="1A1A2E"/>
                </a:solidFill>
              </a:rPr>
              <a:t>Averaging three sensor readings</a:t>
            </a:r>
            <a:endParaRPr lang="en-US" sz="1400" dirty="0"/>
          </a:p>
          <a:p>
            <a:pPr marL="0" indent="0">
              <a:spcAft>
                <a:spcPts val="500"/>
              </a:spcAft>
              <a:buNone/>
            </a:pPr>
            <a:r>
              <a:rPr lang="en-US" sz="1300" dirty="0">
                <a:solidFill>
                  <a:srgbClr val="1A1A2E"/>
                </a:solidFill>
              </a:rPr>
              <a:t>total / 3  → average (3 readings)</a:t>
            </a:r>
            <a:endParaRPr lang="en-US" sz="1400" dirty="0"/>
          </a:p>
        </p:txBody>
      </p:sp>
      <p:sp>
        <p:nvSpPr>
          <p:cNvPr id="8" name="Text 6"/>
          <p:cNvSpPr txBox="1"/>
          <p:nvPr/>
        </p:nvSpPr>
        <p:spPr>
          <a:xfrm>
            <a:off x="274320" y="6537960"/>
            <a:ext cx="11612880" cy="274320"/>
          </a:xfrm>
          <a:prstGeom prst="rect">
            <a:avLst/>
          </a:prstGeom>
          <a:noFill/>
          <a:ln/>
        </p:spPr>
        <p:txBody>
          <a:bodyPr wrap="square" rtlCol="0" anchor="ctr"/>
          <a:lstStyle/>
          <a:p>
            <a:pPr marL="0" indent="0" algn="r">
              <a:buNone/>
            </a:pPr>
            <a:r>
              <a:rPr lang="en-US" sz="1100" dirty="0">
                <a:solidFill>
                  <a:srgbClr val="999999"/>
                </a:solidFill>
              </a:rPr>
              <a:t>CSE 120 · Module 1</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03767"/>
        </a:solidFill>
        <a:effectLst/>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03767"/>
          </a:solidFill>
          <a:ln w="12700">
            <a:solidFill>
              <a:srgbClr val="003767"/>
            </a:solidFill>
            <a:prstDash val="solid"/>
          </a:ln>
        </p:spPr>
        <p:txBody>
          <a:bodyPr/>
          <a:lstStyle/>
          <a:p>
            <a:endParaRPr lang="en-US"/>
          </a:p>
        </p:txBody>
      </p:sp>
      <p:sp>
        <p:nvSpPr>
          <p:cNvPr id="3" name="Shape 1"/>
          <p:cNvSpPr/>
          <p:nvPr/>
        </p:nvSpPr>
        <p:spPr>
          <a:xfrm>
            <a:off x="0" y="5303520"/>
            <a:ext cx="12161520" cy="1554480"/>
          </a:xfrm>
          <a:prstGeom prst="rect">
            <a:avLst/>
          </a:prstGeom>
          <a:solidFill>
            <a:srgbClr val="001F40"/>
          </a:solidFill>
          <a:ln w="12700">
            <a:solidFill>
              <a:srgbClr val="001F40"/>
            </a:solidFill>
            <a:prstDash val="solid"/>
          </a:ln>
        </p:spPr>
        <p:txBody>
          <a:bodyPr/>
          <a:lstStyle/>
          <a:p>
            <a:endParaRPr lang="en-US"/>
          </a:p>
        </p:txBody>
      </p:sp>
      <p:sp>
        <p:nvSpPr>
          <p:cNvPr id="4" name="Text 2"/>
          <p:cNvSpPr txBox="1"/>
          <p:nvPr/>
        </p:nvSpPr>
        <p:spPr>
          <a:xfrm>
            <a:off x="731520" y="914400"/>
            <a:ext cx="10698480" cy="822960"/>
          </a:xfrm>
          <a:prstGeom prst="rect">
            <a:avLst/>
          </a:prstGeom>
          <a:noFill/>
          <a:ln/>
        </p:spPr>
        <p:txBody>
          <a:bodyPr wrap="square" rtlCol="0" anchor="ctr"/>
          <a:lstStyle/>
          <a:p>
            <a:pPr marL="0" indent="0" algn="ctr">
              <a:buNone/>
            </a:pPr>
            <a:r>
              <a:rPr lang="en-US" sz="2000" b="1" dirty="0">
                <a:solidFill>
                  <a:srgbClr val="0074B7"/>
                </a:solidFill>
              </a:rPr>
              <a:t>Part 7</a:t>
            </a:r>
            <a:endParaRPr lang="en-US" sz="2000" dirty="0"/>
          </a:p>
        </p:txBody>
      </p:sp>
      <p:sp>
        <p:nvSpPr>
          <p:cNvPr id="5" name="Text 3"/>
          <p:cNvSpPr txBox="1"/>
          <p:nvPr/>
        </p:nvSpPr>
        <p:spPr>
          <a:xfrm>
            <a:off x="731520" y="1737360"/>
            <a:ext cx="10698480" cy="2286000"/>
          </a:xfrm>
          <a:prstGeom prst="rect">
            <a:avLst/>
          </a:prstGeom>
          <a:noFill/>
          <a:ln/>
        </p:spPr>
        <p:txBody>
          <a:bodyPr wrap="square" rtlCol="0" anchor="ctr"/>
          <a:lstStyle/>
          <a:p>
            <a:pPr marL="0" indent="0" algn="ctr">
              <a:buNone/>
            </a:pPr>
            <a:r>
              <a:rPr lang="en-US" sz="4000" b="1" dirty="0">
                <a:solidFill>
                  <a:srgbClr val="FFFFFF"/>
                </a:solidFill>
              </a:rPr>
              <a:t>Decisions with if</a:t>
            </a:r>
            <a:endParaRPr lang="en-US" sz="4000" dirty="0"/>
          </a:p>
        </p:txBody>
      </p:sp>
      <p:sp>
        <p:nvSpPr>
          <p:cNvPr id="6" name="Text 4"/>
          <p:cNvSpPr txBox="1"/>
          <p:nvPr/>
        </p:nvSpPr>
        <p:spPr>
          <a:xfrm>
            <a:off x="731520" y="4114800"/>
            <a:ext cx="10698480" cy="1005840"/>
          </a:xfrm>
          <a:prstGeom prst="rect">
            <a:avLst/>
          </a:prstGeom>
          <a:noFill/>
          <a:ln/>
        </p:spPr>
        <p:txBody>
          <a:bodyPr wrap="square" rtlCol="0" anchor="ctr"/>
          <a:lstStyle/>
          <a:p>
            <a:pPr marL="0" indent="0" algn="ctr">
              <a:buNone/>
            </a:pPr>
            <a:r>
              <a:rPr lang="en-US" sz="1500" dirty="0">
                <a:solidFill>
                  <a:srgbClr val="7BAFD4"/>
                </a:solidFill>
              </a:rPr>
              <a:t>Comparison Operators · if / elif / else · Flow Diagrams</a:t>
            </a:r>
            <a:endParaRPr lang="en-US" sz="1500" dirty="0"/>
          </a:p>
        </p:txBody>
      </p:sp>
      <p:sp>
        <p:nvSpPr>
          <p:cNvPr id="7" name="Text 5"/>
          <p:cNvSpPr txBox="1"/>
          <p:nvPr/>
        </p:nvSpPr>
        <p:spPr>
          <a:xfrm>
            <a:off x="731520" y="5577840"/>
            <a:ext cx="10698480" cy="731520"/>
          </a:xfrm>
          <a:prstGeom prst="rect">
            <a:avLst/>
          </a:prstGeom>
          <a:noFill/>
          <a:ln/>
        </p:spPr>
        <p:txBody>
          <a:bodyPr wrap="square" rtlCol="0" anchor="ctr"/>
          <a:lstStyle/>
          <a:p>
            <a:pPr marL="0" indent="0" algn="ctr">
              <a:buNone/>
            </a:pPr>
            <a:r>
              <a:rPr lang="en-US" sz="1300" dirty="0">
                <a:solidFill>
                  <a:srgbClr val="6699BB"/>
                </a:solidFill>
              </a:rPr>
              <a:t>CSE 120 · Module 1</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822960"/>
          </a:xfrm>
          <a:prstGeom prst="rect">
            <a:avLst/>
          </a:prstGeom>
          <a:solidFill>
            <a:srgbClr val="003767"/>
          </a:solidFill>
          <a:ln w="12700">
            <a:solidFill>
              <a:srgbClr val="003767"/>
            </a:solidFill>
            <a:prstDash val="solid"/>
          </a:ln>
        </p:spPr>
        <p:txBody>
          <a:bodyPr/>
          <a:lstStyle/>
          <a:p>
            <a:endParaRPr lang="en-US"/>
          </a:p>
        </p:txBody>
      </p:sp>
      <p:sp>
        <p:nvSpPr>
          <p:cNvPr id="3" name="Text 1"/>
          <p:cNvSpPr txBox="1"/>
          <p:nvPr/>
        </p:nvSpPr>
        <p:spPr>
          <a:xfrm>
            <a:off x="274320" y="73152"/>
            <a:ext cx="11612880" cy="685800"/>
          </a:xfrm>
          <a:prstGeom prst="rect">
            <a:avLst/>
          </a:prstGeom>
          <a:noFill/>
          <a:ln/>
        </p:spPr>
        <p:txBody>
          <a:bodyPr wrap="square" rtlCol="0" anchor="ctr"/>
          <a:lstStyle/>
          <a:p>
            <a:pPr marL="0" indent="0">
              <a:buNone/>
            </a:pPr>
            <a:r>
              <a:rPr lang="en-US" sz="2000" b="1" dirty="0">
                <a:solidFill>
                  <a:srgbClr val="FFFFFF"/>
                </a:solidFill>
              </a:rPr>
              <a:t>Making Decisions with if</a:t>
            </a:r>
            <a:endParaRPr lang="en-US" sz="2000" dirty="0"/>
          </a:p>
        </p:txBody>
      </p:sp>
      <p:sp>
        <p:nvSpPr>
          <p:cNvPr id="4" name="Text 2"/>
          <p:cNvSpPr txBox="1"/>
          <p:nvPr/>
        </p:nvSpPr>
        <p:spPr>
          <a:xfrm>
            <a:off x="365760" y="914400"/>
            <a:ext cx="11430000" cy="5577840"/>
          </a:xfrm>
          <a:prstGeom prst="rect">
            <a:avLst/>
          </a:prstGeom>
          <a:noFill/>
          <a:ln/>
        </p:spPr>
        <p:txBody>
          <a:bodyPr wrap="square" rtlCol="0" anchor="t"/>
          <a:lstStyle/>
          <a:p>
            <a:pPr marL="342900" indent="-342900">
              <a:spcAft>
                <a:spcPts val="800"/>
              </a:spcAft>
              <a:buSzPct val="100000"/>
              <a:buChar char="•"/>
            </a:pPr>
            <a:r>
              <a:rPr lang="en-US" sz="1500" dirty="0">
                <a:solidFill>
                  <a:srgbClr val="1A1A2E"/>
                </a:solidFill>
              </a:rPr>
              <a:t>Programs need to do different things in different situations</a:t>
            </a:r>
            <a:endParaRPr lang="en-US" sz="1500" dirty="0"/>
          </a:p>
          <a:p>
            <a:pPr marL="342900" indent="-342900">
              <a:spcAft>
                <a:spcPts val="1800"/>
              </a:spcAft>
              <a:buSzPct val="100000"/>
              <a:buChar char="•"/>
            </a:pPr>
            <a:r>
              <a:rPr lang="en-US" sz="1500" b="1" dirty="0">
                <a:solidFill>
                  <a:srgbClr val="1A1A2E"/>
                </a:solidFill>
              </a:rPr>
              <a:t>The if statement lets Python CHOOSE which code to run</a:t>
            </a:r>
            <a:endParaRPr lang="en-US" sz="1500" dirty="0"/>
          </a:p>
          <a:p>
            <a:pPr marL="0" indent="0">
              <a:spcAft>
                <a:spcPts val="600"/>
              </a:spcAft>
              <a:buNone/>
            </a:pPr>
            <a:r>
              <a:rPr lang="en-US" sz="1500" b="1" dirty="0">
                <a:solidFill>
                  <a:srgbClr val="1A1A2E"/>
                </a:solidFill>
              </a:rPr>
              <a:t>Comparison operators (all return True or False):</a:t>
            </a:r>
            <a:endParaRPr lang="en-US" sz="1500" dirty="0"/>
          </a:p>
          <a:p>
            <a:pPr marL="0" indent="0">
              <a:spcAft>
                <a:spcPts val="400"/>
              </a:spcAft>
              <a:buNone/>
            </a:pPr>
            <a:r>
              <a:rPr lang="en-US" sz="1400" dirty="0">
                <a:solidFill>
                  <a:srgbClr val="1A1A2E"/>
                </a:solidFill>
              </a:rPr>
              <a:t>==  (equal to)        !=  (not equal)      &gt;   (greater than)</a:t>
            </a:r>
            <a:endParaRPr lang="en-US" sz="1500" dirty="0"/>
          </a:p>
          <a:p>
            <a:pPr marL="0" indent="0">
              <a:spcAft>
                <a:spcPts val="1600"/>
              </a:spcAft>
              <a:buNone/>
            </a:pPr>
            <a:r>
              <a:rPr lang="en-US" sz="1400" dirty="0">
                <a:solidFill>
                  <a:srgbClr val="1A1A2E"/>
                </a:solidFill>
              </a:rPr>
              <a:t>&lt;   (less than)       &gt;=  (≥)              &lt;=  (≤)</a:t>
            </a:r>
            <a:endParaRPr lang="en-US" sz="1500" dirty="0"/>
          </a:p>
          <a:p>
            <a:pPr marL="0" indent="0">
              <a:spcAft>
                <a:spcPts val="400"/>
              </a:spcAft>
              <a:buNone/>
            </a:pPr>
            <a:r>
              <a:rPr lang="en-US" sz="1500" b="1" dirty="0">
                <a:solidFill>
                  <a:srgbClr val="991B1B"/>
                </a:solidFill>
              </a:rPr>
              <a:t>⚠️  Common mistake: = assigns a value. == compares two values.</a:t>
            </a:r>
            <a:endParaRPr lang="en-US" sz="1500" dirty="0"/>
          </a:p>
          <a:p>
            <a:pPr marL="0" indent="0">
              <a:spcAft>
                <a:spcPts val="300"/>
              </a:spcAft>
              <a:buNone/>
            </a:pPr>
            <a:r>
              <a:rPr lang="en-US" sz="1300" dirty="0">
                <a:solidFill>
                  <a:srgbClr val="1A1A2E"/>
                </a:solidFill>
              </a:rPr>
              <a:t>temperature = 100    ← stores 100 in temperature</a:t>
            </a:r>
            <a:endParaRPr lang="en-US" sz="1500" dirty="0"/>
          </a:p>
          <a:p>
            <a:pPr marL="0" indent="0">
              <a:spcAft>
                <a:spcPts val="400"/>
              </a:spcAft>
              <a:buNone/>
            </a:pPr>
            <a:r>
              <a:rPr lang="en-US" sz="1300" dirty="0">
                <a:solidFill>
                  <a:srgbClr val="1A1A2E"/>
                </a:solidFill>
              </a:rPr>
              <a:t>temperature == 100   ← asks "is temperature equal to 100?"</a:t>
            </a:r>
            <a:endParaRPr lang="en-US" sz="1500" dirty="0"/>
          </a:p>
        </p:txBody>
      </p:sp>
      <p:sp>
        <p:nvSpPr>
          <p:cNvPr id="5" name="Text 3"/>
          <p:cNvSpPr txBox="1"/>
          <p:nvPr/>
        </p:nvSpPr>
        <p:spPr>
          <a:xfrm>
            <a:off x="274320" y="6537960"/>
            <a:ext cx="11612880" cy="274320"/>
          </a:xfrm>
          <a:prstGeom prst="rect">
            <a:avLst/>
          </a:prstGeom>
          <a:noFill/>
          <a:ln/>
        </p:spPr>
        <p:txBody>
          <a:bodyPr wrap="square" rtlCol="0" anchor="ctr"/>
          <a:lstStyle/>
          <a:p>
            <a:pPr marL="0" indent="0" algn="r">
              <a:buNone/>
            </a:pPr>
            <a:r>
              <a:rPr lang="en-US" sz="1100" dirty="0">
                <a:solidFill>
                  <a:srgbClr val="999999"/>
                </a:solidFill>
              </a:rPr>
              <a:t>CSE 120 · Module 1</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822960"/>
          </a:xfrm>
          <a:prstGeom prst="rect">
            <a:avLst/>
          </a:prstGeom>
          <a:solidFill>
            <a:srgbClr val="003767"/>
          </a:solidFill>
          <a:ln w="12700">
            <a:solidFill>
              <a:srgbClr val="003767"/>
            </a:solidFill>
            <a:prstDash val="solid"/>
          </a:ln>
        </p:spPr>
        <p:txBody>
          <a:bodyPr/>
          <a:lstStyle/>
          <a:p>
            <a:endParaRPr lang="en-US"/>
          </a:p>
        </p:txBody>
      </p:sp>
      <p:sp>
        <p:nvSpPr>
          <p:cNvPr id="3" name="Text 1"/>
          <p:cNvSpPr txBox="1"/>
          <p:nvPr/>
        </p:nvSpPr>
        <p:spPr>
          <a:xfrm>
            <a:off x="274320" y="73152"/>
            <a:ext cx="11612880" cy="685800"/>
          </a:xfrm>
          <a:prstGeom prst="rect">
            <a:avLst/>
          </a:prstGeom>
          <a:noFill/>
          <a:ln/>
        </p:spPr>
        <p:txBody>
          <a:bodyPr wrap="square" rtlCol="0" anchor="ctr"/>
          <a:lstStyle/>
          <a:p>
            <a:pPr marL="0" indent="0">
              <a:buNone/>
            </a:pPr>
            <a:r>
              <a:rPr lang="en-US" sz="2000" b="1" dirty="0">
                <a:solidFill>
                  <a:srgbClr val="FFFFFF"/>
                </a:solidFill>
              </a:rPr>
              <a:t>if / elif / else</a:t>
            </a:r>
            <a:endParaRPr lang="en-US" sz="2000" dirty="0"/>
          </a:p>
        </p:txBody>
      </p:sp>
      <p:sp>
        <p:nvSpPr>
          <p:cNvPr id="4" name="Shape 2"/>
          <p:cNvSpPr/>
          <p:nvPr/>
        </p:nvSpPr>
        <p:spPr>
          <a:xfrm>
            <a:off x="274320" y="914400"/>
            <a:ext cx="6400800" cy="5394960"/>
          </a:xfrm>
          <a:prstGeom prst="rect">
            <a:avLst/>
          </a:prstGeom>
          <a:solidFill>
            <a:srgbClr val="1E2D40"/>
          </a:solidFill>
          <a:ln w="12700">
            <a:solidFill>
              <a:srgbClr val="2A4060"/>
            </a:solidFill>
            <a:prstDash val="solid"/>
          </a:ln>
        </p:spPr>
        <p:txBody>
          <a:bodyPr/>
          <a:lstStyle/>
          <a:p>
            <a:endParaRPr lang="en-US"/>
          </a:p>
        </p:txBody>
      </p:sp>
      <p:sp>
        <p:nvSpPr>
          <p:cNvPr id="5" name="Text 3"/>
          <p:cNvSpPr txBox="1"/>
          <p:nvPr/>
        </p:nvSpPr>
        <p:spPr>
          <a:xfrm>
            <a:off x="365760" y="960120"/>
            <a:ext cx="6217920" cy="320040"/>
          </a:xfrm>
          <a:prstGeom prst="rect">
            <a:avLst/>
          </a:prstGeom>
          <a:noFill/>
          <a:ln/>
        </p:spPr>
        <p:txBody>
          <a:bodyPr wrap="square" rtlCol="0" anchor="ctr"/>
          <a:lstStyle/>
          <a:p>
            <a:pPr marL="0" indent="0">
              <a:buNone/>
            </a:pPr>
            <a:r>
              <a:rPr lang="en-US" sz="1100" b="1" dirty="0">
                <a:solidFill>
                  <a:srgbClr val="88AACC"/>
                </a:solidFill>
              </a:rPr>
              <a:t>python</a:t>
            </a:r>
            <a:endParaRPr lang="en-US" sz="1100" dirty="0"/>
          </a:p>
        </p:txBody>
      </p:sp>
      <p:sp>
        <p:nvSpPr>
          <p:cNvPr id="6" name="Text 4"/>
          <p:cNvSpPr txBox="1"/>
          <p:nvPr/>
        </p:nvSpPr>
        <p:spPr>
          <a:xfrm>
            <a:off x="365760" y="1325880"/>
            <a:ext cx="6217920" cy="4846320"/>
          </a:xfrm>
          <a:prstGeom prst="rect">
            <a:avLst/>
          </a:prstGeom>
          <a:noFill/>
          <a:ln/>
        </p:spPr>
        <p:txBody>
          <a:bodyPr wrap="square" rtlCol="0" anchor="t"/>
          <a:lstStyle/>
          <a:p>
            <a:pPr marL="0" indent="0">
              <a:buNone/>
            </a:pPr>
            <a:r>
              <a:rPr lang="en-US" sz="1300" dirty="0">
                <a:solidFill>
                  <a:srgbClr val="E8F4FD"/>
                </a:solidFill>
                <a:latin typeface="Courier New" pitchFamily="34" charset="0"/>
                <a:ea typeface="Courier New" pitchFamily="34" charset="-122"/>
                <a:cs typeface="Courier New" pitchFamily="34" charset="-120"/>
              </a:rPr>
              <a:t># Simple if</a:t>
            </a:r>
            <a:endParaRPr lang="en-US" sz="1300" dirty="0"/>
          </a:p>
          <a:p>
            <a:pPr marL="0" indent="0">
              <a:buNone/>
            </a:pPr>
            <a:r>
              <a:rPr lang="en-US" sz="1300" dirty="0">
                <a:solidFill>
                  <a:srgbClr val="E8F4FD"/>
                </a:solidFill>
                <a:latin typeface="Courier New" pitchFamily="34" charset="0"/>
                <a:ea typeface="Courier New" pitchFamily="34" charset="-122"/>
                <a:cs typeface="Courier New" pitchFamily="34" charset="-120"/>
              </a:rPr>
              <a:t>if temperature &gt; 100:</a:t>
            </a:r>
            <a:endParaRPr lang="en-US" sz="1300" dirty="0"/>
          </a:p>
          <a:p>
            <a:pPr marL="0" indent="0">
              <a:buNone/>
            </a:pPr>
            <a:r>
              <a:rPr lang="en-US" sz="1300" dirty="0">
                <a:solidFill>
                  <a:srgbClr val="E8F4FD"/>
                </a:solidFill>
                <a:latin typeface="Courier New" pitchFamily="34" charset="0"/>
                <a:ea typeface="Courier New" pitchFamily="34" charset="-122"/>
                <a:cs typeface="Courier New" pitchFamily="34" charset="-120"/>
              </a:rPr>
              <a:t>    print("Overheating!")</a:t>
            </a:r>
            <a:endParaRPr lang="en-US" sz="1300" dirty="0"/>
          </a:p>
          <a:p>
            <a:pPr marL="0" indent="0">
              <a:buNone/>
            </a:pPr>
            <a:endParaRPr lang="en-US" sz="1300" dirty="0"/>
          </a:p>
          <a:p>
            <a:pPr marL="0" indent="0">
              <a:buNone/>
            </a:pPr>
            <a:r>
              <a:rPr lang="en-US" sz="1300" dirty="0">
                <a:solidFill>
                  <a:srgbClr val="E8F4FD"/>
                </a:solidFill>
                <a:latin typeface="Courier New" pitchFamily="34" charset="0"/>
                <a:ea typeface="Courier New" pitchFamily="34" charset="-122"/>
                <a:cs typeface="Courier New" pitchFamily="34" charset="-120"/>
              </a:rPr>
              <a:t># if / else</a:t>
            </a:r>
            <a:endParaRPr lang="en-US" sz="1300" dirty="0"/>
          </a:p>
          <a:p>
            <a:pPr marL="0" indent="0">
              <a:buNone/>
            </a:pPr>
            <a:r>
              <a:rPr lang="en-US" sz="1300" dirty="0">
                <a:solidFill>
                  <a:srgbClr val="E8F4FD"/>
                </a:solidFill>
                <a:latin typeface="Courier New" pitchFamily="34" charset="0"/>
                <a:ea typeface="Courier New" pitchFamily="34" charset="-122"/>
                <a:cs typeface="Courier New" pitchFamily="34" charset="-120"/>
              </a:rPr>
              <a:t>if temperature &gt; 100:</a:t>
            </a:r>
            <a:endParaRPr lang="en-US" sz="1300" dirty="0"/>
          </a:p>
          <a:p>
            <a:pPr marL="0" indent="0">
              <a:buNone/>
            </a:pPr>
            <a:r>
              <a:rPr lang="en-US" sz="1300" dirty="0">
                <a:solidFill>
                  <a:srgbClr val="E8F4FD"/>
                </a:solidFill>
                <a:latin typeface="Courier New" pitchFamily="34" charset="0"/>
                <a:ea typeface="Courier New" pitchFamily="34" charset="-122"/>
                <a:cs typeface="Courier New" pitchFamily="34" charset="-120"/>
              </a:rPr>
              <a:t>    print("Danger!")</a:t>
            </a:r>
            <a:endParaRPr lang="en-US" sz="1300" dirty="0"/>
          </a:p>
          <a:p>
            <a:pPr marL="0" indent="0">
              <a:buNone/>
            </a:pPr>
            <a:r>
              <a:rPr lang="en-US" sz="1300" dirty="0">
                <a:solidFill>
                  <a:srgbClr val="E8F4FD"/>
                </a:solidFill>
                <a:latin typeface="Courier New" pitchFamily="34" charset="0"/>
                <a:ea typeface="Courier New" pitchFamily="34" charset="-122"/>
                <a:cs typeface="Courier New" pitchFamily="34" charset="-120"/>
              </a:rPr>
              <a:t>else:</a:t>
            </a:r>
            <a:endParaRPr lang="en-US" sz="1300" dirty="0"/>
          </a:p>
          <a:p>
            <a:pPr marL="0" indent="0">
              <a:buNone/>
            </a:pPr>
            <a:r>
              <a:rPr lang="en-US" sz="1300" dirty="0">
                <a:solidFill>
                  <a:srgbClr val="E8F4FD"/>
                </a:solidFill>
                <a:latin typeface="Courier New" pitchFamily="34" charset="0"/>
                <a:ea typeface="Courier New" pitchFamily="34" charset="-122"/>
                <a:cs typeface="Courier New" pitchFamily="34" charset="-120"/>
              </a:rPr>
              <a:t>    print("Safe.")</a:t>
            </a:r>
            <a:endParaRPr lang="en-US" sz="1300" dirty="0"/>
          </a:p>
          <a:p>
            <a:pPr marL="0" indent="0">
              <a:buNone/>
            </a:pPr>
            <a:endParaRPr lang="en-US" sz="1300" dirty="0"/>
          </a:p>
          <a:p>
            <a:pPr marL="0" indent="0">
              <a:buNone/>
            </a:pPr>
            <a:r>
              <a:rPr lang="en-US" sz="1300" dirty="0">
                <a:solidFill>
                  <a:srgbClr val="E8F4FD"/>
                </a:solidFill>
                <a:latin typeface="Courier New" pitchFamily="34" charset="0"/>
                <a:ea typeface="Courier New" pitchFamily="34" charset="-122"/>
                <a:cs typeface="Courier New" pitchFamily="34" charset="-120"/>
              </a:rPr>
              <a:t># if / elif / else</a:t>
            </a:r>
            <a:endParaRPr lang="en-US" sz="1300" dirty="0"/>
          </a:p>
          <a:p>
            <a:pPr marL="0" indent="0">
              <a:buNone/>
            </a:pPr>
            <a:r>
              <a:rPr lang="en-US" sz="1300" dirty="0">
                <a:solidFill>
                  <a:srgbClr val="E8F4FD"/>
                </a:solidFill>
                <a:latin typeface="Courier New" pitchFamily="34" charset="0"/>
                <a:ea typeface="Courier New" pitchFamily="34" charset="-122"/>
                <a:cs typeface="Courier New" pitchFamily="34" charset="-120"/>
              </a:rPr>
              <a:t>if temperature &gt; 100:</a:t>
            </a:r>
            <a:endParaRPr lang="en-US" sz="1300" dirty="0"/>
          </a:p>
          <a:p>
            <a:pPr marL="0" indent="0">
              <a:buNone/>
            </a:pPr>
            <a:r>
              <a:rPr lang="en-US" sz="1300" dirty="0">
                <a:solidFill>
                  <a:srgbClr val="E8F4FD"/>
                </a:solidFill>
                <a:latin typeface="Courier New" pitchFamily="34" charset="0"/>
                <a:ea typeface="Courier New" pitchFamily="34" charset="-122"/>
                <a:cs typeface="Courier New" pitchFamily="34" charset="-120"/>
              </a:rPr>
              <a:t>    print("Critical!")</a:t>
            </a:r>
            <a:endParaRPr lang="en-US" sz="1300" dirty="0"/>
          </a:p>
          <a:p>
            <a:pPr marL="0" indent="0">
              <a:buNone/>
            </a:pPr>
            <a:r>
              <a:rPr lang="en-US" sz="1300" dirty="0">
                <a:solidFill>
                  <a:srgbClr val="E8F4FD"/>
                </a:solidFill>
                <a:latin typeface="Courier New" pitchFamily="34" charset="0"/>
                <a:ea typeface="Courier New" pitchFamily="34" charset="-122"/>
                <a:cs typeface="Courier New" pitchFamily="34" charset="-120"/>
              </a:rPr>
              <a:t>elif temperature &gt; 80:</a:t>
            </a:r>
            <a:endParaRPr lang="en-US" sz="1300" dirty="0"/>
          </a:p>
          <a:p>
            <a:pPr marL="0" indent="0">
              <a:buNone/>
            </a:pPr>
            <a:r>
              <a:rPr lang="en-US" sz="1300" dirty="0">
                <a:solidFill>
                  <a:srgbClr val="E8F4FD"/>
                </a:solidFill>
                <a:latin typeface="Courier New" pitchFamily="34" charset="0"/>
                <a:ea typeface="Courier New" pitchFamily="34" charset="-122"/>
                <a:cs typeface="Courier New" pitchFamily="34" charset="-120"/>
              </a:rPr>
              <a:t>    print("Warning.")</a:t>
            </a:r>
            <a:endParaRPr lang="en-US" sz="1300" dirty="0"/>
          </a:p>
          <a:p>
            <a:pPr marL="0" indent="0">
              <a:buNone/>
            </a:pPr>
            <a:r>
              <a:rPr lang="en-US" sz="1300" dirty="0">
                <a:solidFill>
                  <a:srgbClr val="E8F4FD"/>
                </a:solidFill>
                <a:latin typeface="Courier New" pitchFamily="34" charset="0"/>
                <a:ea typeface="Courier New" pitchFamily="34" charset="-122"/>
                <a:cs typeface="Courier New" pitchFamily="34" charset="-120"/>
              </a:rPr>
              <a:t>else:</a:t>
            </a:r>
            <a:endParaRPr lang="en-US" sz="1300" dirty="0"/>
          </a:p>
          <a:p>
            <a:pPr marL="0" indent="0">
              <a:buNone/>
            </a:pPr>
            <a:r>
              <a:rPr lang="en-US" sz="1300" dirty="0">
                <a:solidFill>
                  <a:srgbClr val="E8F4FD"/>
                </a:solidFill>
                <a:latin typeface="Courier New" pitchFamily="34" charset="0"/>
                <a:ea typeface="Courier New" pitchFamily="34" charset="-122"/>
                <a:cs typeface="Courier New" pitchFamily="34" charset="-120"/>
              </a:rPr>
              <a:t>    print("Normal.")</a:t>
            </a:r>
            <a:endParaRPr lang="en-US" sz="1300" dirty="0"/>
          </a:p>
        </p:txBody>
      </p:sp>
      <p:sp>
        <p:nvSpPr>
          <p:cNvPr id="7" name="Text 5"/>
          <p:cNvSpPr txBox="1"/>
          <p:nvPr/>
        </p:nvSpPr>
        <p:spPr>
          <a:xfrm>
            <a:off x="6949440" y="914400"/>
            <a:ext cx="4937760" cy="5394960"/>
          </a:xfrm>
          <a:prstGeom prst="rect">
            <a:avLst/>
          </a:prstGeom>
          <a:noFill/>
          <a:ln/>
        </p:spPr>
        <p:txBody>
          <a:bodyPr wrap="square" rtlCol="0" anchor="t"/>
          <a:lstStyle/>
          <a:p>
            <a:pPr marL="0" indent="0">
              <a:spcAft>
                <a:spcPts val="300"/>
              </a:spcAft>
              <a:buNone/>
            </a:pPr>
            <a:r>
              <a:rPr lang="en-US" sz="1400" b="1" dirty="0">
                <a:solidFill>
                  <a:srgbClr val="1A1A2E"/>
                </a:solidFill>
              </a:rPr>
              <a:t>Simple if</a:t>
            </a:r>
            <a:endParaRPr lang="en-US" sz="1400" dirty="0"/>
          </a:p>
          <a:p>
            <a:pPr marL="0" lvl="1" indent="0">
              <a:spcAft>
                <a:spcPts val="1000"/>
              </a:spcAft>
              <a:buNone/>
            </a:pPr>
            <a:r>
              <a:rPr lang="en-US" sz="1400" dirty="0">
                <a:solidFill>
                  <a:srgbClr val="1A1A2E"/>
                </a:solidFill>
              </a:rPr>
              <a:t>Runs the block only when the condition is True. Does nothing otherwise.</a:t>
            </a:r>
            <a:endParaRPr lang="en-US" sz="1400" dirty="0"/>
          </a:p>
          <a:p>
            <a:pPr marL="0" indent="0">
              <a:spcAft>
                <a:spcPts val="300"/>
              </a:spcAft>
              <a:buNone/>
            </a:pPr>
            <a:r>
              <a:rPr lang="en-US" sz="1400" b="1" dirty="0">
                <a:solidFill>
                  <a:srgbClr val="1A1A2E"/>
                </a:solidFill>
              </a:rPr>
              <a:t>if / else</a:t>
            </a:r>
            <a:endParaRPr lang="en-US" sz="1400" dirty="0"/>
          </a:p>
          <a:p>
            <a:pPr marL="0" lvl="1" indent="0">
              <a:spcAft>
                <a:spcPts val="1000"/>
              </a:spcAft>
              <a:buNone/>
            </a:pPr>
            <a:r>
              <a:rPr lang="en-US" sz="1400" dirty="0">
                <a:solidFill>
                  <a:srgbClr val="1A1A2E"/>
                </a:solidFill>
              </a:rPr>
              <a:t>One of two blocks always runs. True → first block. False → else block.</a:t>
            </a:r>
            <a:endParaRPr lang="en-US" sz="1400" dirty="0"/>
          </a:p>
          <a:p>
            <a:pPr marL="0" indent="0">
              <a:spcAft>
                <a:spcPts val="300"/>
              </a:spcAft>
              <a:buNone/>
            </a:pPr>
            <a:r>
              <a:rPr lang="en-US" sz="1400" b="1" dirty="0">
                <a:solidFill>
                  <a:srgbClr val="1A1A2E"/>
                </a:solidFill>
              </a:rPr>
              <a:t>if / elif / else</a:t>
            </a:r>
            <a:endParaRPr lang="en-US" sz="1400" dirty="0"/>
          </a:p>
          <a:p>
            <a:pPr marL="0" lvl="1" indent="0">
              <a:spcAft>
                <a:spcPts val="500"/>
              </a:spcAft>
              <a:buNone/>
            </a:pPr>
            <a:r>
              <a:rPr lang="en-US" sz="1400" dirty="0">
                <a:solidFill>
                  <a:srgbClr val="1A1A2E"/>
                </a:solidFill>
              </a:rPr>
              <a:t>Multiple conditions checked in order. First True one runs. else catches everything else.</a:t>
            </a:r>
            <a:endParaRPr lang="en-US" sz="1400" dirty="0"/>
          </a:p>
        </p:txBody>
      </p:sp>
      <p:sp>
        <p:nvSpPr>
          <p:cNvPr id="8" name="Text 6"/>
          <p:cNvSpPr txBox="1"/>
          <p:nvPr/>
        </p:nvSpPr>
        <p:spPr>
          <a:xfrm>
            <a:off x="274320" y="6537960"/>
            <a:ext cx="11612880" cy="274320"/>
          </a:xfrm>
          <a:prstGeom prst="rect">
            <a:avLst/>
          </a:prstGeom>
          <a:noFill/>
          <a:ln/>
        </p:spPr>
        <p:txBody>
          <a:bodyPr wrap="square" rtlCol="0" anchor="ctr"/>
          <a:lstStyle/>
          <a:p>
            <a:pPr marL="0" indent="0" algn="r">
              <a:buNone/>
            </a:pPr>
            <a:r>
              <a:rPr lang="en-US" sz="1100" dirty="0">
                <a:solidFill>
                  <a:srgbClr val="999999"/>
                </a:solidFill>
              </a:rPr>
              <a:t>CSE 120 · Module 1</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5F0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5B21B6"/>
          </a:solidFill>
          <a:ln w="12700">
            <a:solidFill>
              <a:srgbClr val="5B21B6"/>
            </a:solidFill>
            <a:prstDash val="solid"/>
          </a:ln>
        </p:spPr>
        <p:txBody>
          <a:bodyPr/>
          <a:lstStyle/>
          <a:p>
            <a:endParaRPr lang="en-US"/>
          </a:p>
        </p:txBody>
      </p:sp>
      <p:sp>
        <p:nvSpPr>
          <p:cNvPr id="3" name="Text 1"/>
          <p:cNvSpPr txBox="1"/>
          <p:nvPr/>
        </p:nvSpPr>
        <p:spPr>
          <a:xfrm>
            <a:off x="274320" y="91440"/>
            <a:ext cx="11612880" cy="777240"/>
          </a:xfrm>
          <a:prstGeom prst="rect">
            <a:avLst/>
          </a:prstGeom>
          <a:noFill/>
          <a:ln/>
        </p:spPr>
        <p:txBody>
          <a:bodyPr wrap="square" rtlCol="0" anchor="ctr"/>
          <a:lstStyle/>
          <a:p>
            <a:pPr marL="0" indent="0">
              <a:buNone/>
            </a:pPr>
            <a:r>
              <a:rPr lang="en-US" sz="2200" b="1" dirty="0">
                <a:solidFill>
                  <a:srgbClr val="FFFFFF"/>
                </a:solidFill>
              </a:rPr>
              <a:t>🤔  Predict — What Does This Print?</a:t>
            </a:r>
            <a:endParaRPr lang="en-US" sz="2200" dirty="0"/>
          </a:p>
        </p:txBody>
      </p:sp>
      <p:sp>
        <p:nvSpPr>
          <p:cNvPr id="4" name="Text 2"/>
          <p:cNvSpPr txBox="1"/>
          <p:nvPr/>
        </p:nvSpPr>
        <p:spPr>
          <a:xfrm>
            <a:off x="457200" y="1097280"/>
            <a:ext cx="11247120" cy="5394960"/>
          </a:xfrm>
          <a:prstGeom prst="rect">
            <a:avLst/>
          </a:prstGeom>
          <a:noFill/>
          <a:ln/>
        </p:spPr>
        <p:txBody>
          <a:bodyPr wrap="square" rtlCol="0" anchor="t"/>
          <a:lstStyle/>
          <a:p>
            <a:pPr marL="0" indent="0">
              <a:spcAft>
                <a:spcPts val="1200"/>
              </a:spcAft>
              <a:buNone/>
            </a:pPr>
            <a:r>
              <a:rPr lang="en-US" sz="1500" dirty="0">
                <a:solidFill>
                  <a:srgbClr val="1A1A2E"/>
                </a:solidFill>
              </a:rPr>
              <a:t>If temperature = 95, what does this program print?</a:t>
            </a:r>
            <a:endParaRPr lang="en-US" sz="1500" dirty="0"/>
          </a:p>
          <a:p>
            <a:pPr marL="0" indent="0">
              <a:spcAft>
                <a:spcPts val="200"/>
              </a:spcAft>
              <a:buNone/>
            </a:pPr>
            <a:r>
              <a:rPr lang="en-US" sz="1700" dirty="0">
                <a:solidFill>
                  <a:srgbClr val="1E2D40"/>
                </a:solidFill>
                <a:latin typeface="Courier New" pitchFamily="34" charset="0"/>
                <a:ea typeface="Courier New" pitchFamily="34" charset="-122"/>
                <a:cs typeface="Courier New" pitchFamily="34" charset="-120"/>
              </a:rPr>
              <a:t>if temperature &gt; 100:</a:t>
            </a:r>
            <a:endParaRPr lang="en-US" sz="1500" dirty="0"/>
          </a:p>
          <a:p>
            <a:pPr marL="0" indent="0">
              <a:spcAft>
                <a:spcPts val="200"/>
              </a:spcAft>
              <a:buNone/>
            </a:pPr>
            <a:r>
              <a:rPr lang="en-US" sz="1700" dirty="0">
                <a:solidFill>
                  <a:srgbClr val="1E2D40"/>
                </a:solidFill>
                <a:latin typeface="Courier New" pitchFamily="34" charset="0"/>
                <a:ea typeface="Courier New" pitchFamily="34" charset="-122"/>
                <a:cs typeface="Courier New" pitchFamily="34" charset="-120"/>
              </a:rPr>
              <a:t>    print("Critical!")</a:t>
            </a:r>
            <a:endParaRPr lang="en-US" sz="1500" dirty="0"/>
          </a:p>
          <a:p>
            <a:pPr marL="0" indent="0">
              <a:spcAft>
                <a:spcPts val="200"/>
              </a:spcAft>
              <a:buNone/>
            </a:pPr>
            <a:r>
              <a:rPr lang="en-US" sz="1700" dirty="0">
                <a:solidFill>
                  <a:srgbClr val="1E2D40"/>
                </a:solidFill>
                <a:latin typeface="Courier New" pitchFamily="34" charset="0"/>
                <a:ea typeface="Courier New" pitchFamily="34" charset="-122"/>
                <a:cs typeface="Courier New" pitchFamily="34" charset="-120"/>
              </a:rPr>
              <a:t>elif temperature &gt; 80:</a:t>
            </a:r>
            <a:endParaRPr lang="en-US" sz="1500" dirty="0"/>
          </a:p>
          <a:p>
            <a:pPr marL="0" indent="0">
              <a:spcAft>
                <a:spcPts val="200"/>
              </a:spcAft>
              <a:buNone/>
            </a:pPr>
            <a:r>
              <a:rPr lang="en-US" sz="1700" dirty="0">
                <a:solidFill>
                  <a:srgbClr val="1E2D40"/>
                </a:solidFill>
                <a:latin typeface="Courier New" pitchFamily="34" charset="0"/>
                <a:ea typeface="Courier New" pitchFamily="34" charset="-122"/>
                <a:cs typeface="Courier New" pitchFamily="34" charset="-120"/>
              </a:rPr>
              <a:t>    print("Warning.")</a:t>
            </a:r>
            <a:endParaRPr lang="en-US" sz="1500" dirty="0"/>
          </a:p>
          <a:p>
            <a:pPr marL="0" indent="0">
              <a:spcAft>
                <a:spcPts val="200"/>
              </a:spcAft>
              <a:buNone/>
            </a:pPr>
            <a:r>
              <a:rPr lang="en-US" sz="1700" dirty="0">
                <a:solidFill>
                  <a:srgbClr val="1E2D40"/>
                </a:solidFill>
                <a:latin typeface="Courier New" pitchFamily="34" charset="0"/>
                <a:ea typeface="Courier New" pitchFamily="34" charset="-122"/>
                <a:cs typeface="Courier New" pitchFamily="34" charset="-120"/>
              </a:rPr>
              <a:t>else:</a:t>
            </a:r>
            <a:endParaRPr lang="en-US" sz="1500" dirty="0"/>
          </a:p>
          <a:p>
            <a:pPr marL="0" indent="0">
              <a:spcAft>
                <a:spcPts val="1600"/>
              </a:spcAft>
              <a:buNone/>
            </a:pPr>
            <a:r>
              <a:rPr lang="en-US" sz="1700" dirty="0">
                <a:solidFill>
                  <a:srgbClr val="1E2D40"/>
                </a:solidFill>
                <a:latin typeface="Courier New" pitchFamily="34" charset="0"/>
                <a:ea typeface="Courier New" pitchFamily="34" charset="-122"/>
                <a:cs typeface="Courier New" pitchFamily="34" charset="-120"/>
              </a:rPr>
              <a:t>    print("Normal.")</a:t>
            </a:r>
            <a:endParaRPr lang="en-US" sz="1500" dirty="0"/>
          </a:p>
          <a:p>
            <a:pPr marL="0" indent="0">
              <a:spcAft>
                <a:spcPts val="500"/>
              </a:spcAft>
              <a:buNone/>
            </a:pPr>
            <a:r>
              <a:rPr lang="en-US" sz="1500" dirty="0">
                <a:solidFill>
                  <a:srgbClr val="666666"/>
                </a:solidFill>
              </a:rPr>
              <a:t>Write your answer before looking at the next slide.</a:t>
            </a:r>
            <a:endParaRPr lang="en-US" sz="1500" dirty="0"/>
          </a:p>
        </p:txBody>
      </p:sp>
      <p:sp>
        <p:nvSpPr>
          <p:cNvPr id="5" name="Text 3"/>
          <p:cNvSpPr txBox="1"/>
          <p:nvPr/>
        </p:nvSpPr>
        <p:spPr>
          <a:xfrm>
            <a:off x="274320" y="6537960"/>
            <a:ext cx="11612880" cy="274320"/>
          </a:xfrm>
          <a:prstGeom prst="rect">
            <a:avLst/>
          </a:prstGeom>
          <a:noFill/>
          <a:ln/>
        </p:spPr>
        <p:txBody>
          <a:bodyPr wrap="square" rtlCol="0" anchor="ctr"/>
          <a:lstStyle/>
          <a:p>
            <a:pPr marL="0" indent="0" algn="r">
              <a:buNone/>
            </a:pPr>
            <a:r>
              <a:rPr lang="en-US" sz="1100" dirty="0">
                <a:solidFill>
                  <a:srgbClr val="888888"/>
                </a:solidFill>
              </a:rPr>
              <a:t>CSE 120 · Module 1  ·  Try it first — answer on next slide</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0FFF4"/>
        </a:solidFill>
        <a:effectLst/>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2D6A4F"/>
          </a:solidFill>
          <a:ln w="12700">
            <a:solidFill>
              <a:srgbClr val="2D6A4F"/>
            </a:solidFill>
            <a:prstDash val="solid"/>
          </a:ln>
        </p:spPr>
        <p:txBody>
          <a:bodyPr/>
          <a:lstStyle/>
          <a:p>
            <a:endParaRPr lang="en-US"/>
          </a:p>
        </p:txBody>
      </p:sp>
      <p:sp>
        <p:nvSpPr>
          <p:cNvPr id="3" name="Text 1"/>
          <p:cNvSpPr txBox="1"/>
          <p:nvPr/>
        </p:nvSpPr>
        <p:spPr>
          <a:xfrm>
            <a:off x="274320" y="91440"/>
            <a:ext cx="11612880" cy="777240"/>
          </a:xfrm>
          <a:prstGeom prst="rect">
            <a:avLst/>
          </a:prstGeom>
          <a:noFill/>
          <a:ln/>
        </p:spPr>
        <p:txBody>
          <a:bodyPr wrap="square" rtlCol="0" anchor="ctr"/>
          <a:lstStyle/>
          <a:p>
            <a:pPr marL="0" indent="0">
              <a:buNone/>
            </a:pPr>
            <a:r>
              <a:rPr lang="en-US" sz="2200" b="1" dirty="0">
                <a:solidFill>
                  <a:srgbClr val="FFFFFF"/>
                </a:solidFill>
              </a:rPr>
              <a:t>✅  Answer — Predict the if/elif/else</a:t>
            </a:r>
            <a:endParaRPr lang="en-US" sz="2200" dirty="0"/>
          </a:p>
        </p:txBody>
      </p:sp>
      <p:sp>
        <p:nvSpPr>
          <p:cNvPr id="4" name="Text 2"/>
          <p:cNvSpPr txBox="1"/>
          <p:nvPr/>
        </p:nvSpPr>
        <p:spPr>
          <a:xfrm>
            <a:off x="457200" y="1097280"/>
            <a:ext cx="11247120" cy="5394960"/>
          </a:xfrm>
          <a:prstGeom prst="rect">
            <a:avLst/>
          </a:prstGeom>
          <a:noFill/>
          <a:ln/>
        </p:spPr>
        <p:txBody>
          <a:bodyPr wrap="square" rtlCol="0" anchor="t"/>
          <a:lstStyle/>
          <a:p>
            <a:pPr marL="0" indent="0">
              <a:spcAft>
                <a:spcPts val="1200"/>
              </a:spcAft>
              <a:buNone/>
            </a:pPr>
            <a:r>
              <a:rPr lang="en-US" sz="2200" b="1" dirty="0">
                <a:solidFill>
                  <a:srgbClr val="2D6A4F"/>
                </a:solidFill>
              </a:rPr>
              <a:t>Output: Warning.</a:t>
            </a:r>
            <a:endParaRPr lang="en-US" sz="2200" dirty="0"/>
          </a:p>
          <a:p>
            <a:pPr marL="342900" indent="-342900">
              <a:spcAft>
                <a:spcPts val="600"/>
              </a:spcAft>
              <a:buSzPct val="100000"/>
              <a:buChar char="•"/>
            </a:pPr>
            <a:r>
              <a:rPr lang="en-US" sz="1400" dirty="0">
                <a:solidFill>
                  <a:srgbClr val="1A1A2E"/>
                </a:solidFill>
              </a:rPr>
              <a:t>95 &gt; 100 ?  →  False  → skip "Critical!"</a:t>
            </a:r>
            <a:endParaRPr lang="en-US" sz="2200" dirty="0"/>
          </a:p>
          <a:p>
            <a:pPr marL="342900" indent="-342900">
              <a:spcAft>
                <a:spcPts val="600"/>
              </a:spcAft>
              <a:buSzPct val="100000"/>
              <a:buChar char="•"/>
            </a:pPr>
            <a:r>
              <a:rPr lang="en-US" sz="1400" dirty="0">
                <a:solidFill>
                  <a:srgbClr val="1A1A2E"/>
                </a:solidFill>
              </a:rPr>
              <a:t>95 &gt; 80  ?  →  True   → print "Warning."  → STOP checking</a:t>
            </a:r>
            <a:endParaRPr lang="en-US" sz="2200" dirty="0"/>
          </a:p>
          <a:p>
            <a:pPr marL="342900" indent="-342900">
              <a:spcAft>
                <a:spcPts val="500"/>
              </a:spcAft>
              <a:buSzPct val="100000"/>
              <a:buChar char="•"/>
            </a:pPr>
            <a:r>
              <a:rPr lang="en-US" sz="1400" dirty="0">
                <a:solidFill>
                  <a:srgbClr val="555555"/>
                </a:solidFill>
              </a:rPr>
              <a:t>The else block never runs — we already found a True condition</a:t>
            </a:r>
            <a:endParaRPr lang="en-US" sz="2200" dirty="0"/>
          </a:p>
        </p:txBody>
      </p:sp>
      <p:sp>
        <p:nvSpPr>
          <p:cNvPr id="5" name="Text 3"/>
          <p:cNvSpPr txBox="1"/>
          <p:nvPr/>
        </p:nvSpPr>
        <p:spPr>
          <a:xfrm>
            <a:off x="274320" y="6537960"/>
            <a:ext cx="11612880" cy="274320"/>
          </a:xfrm>
          <a:prstGeom prst="rect">
            <a:avLst/>
          </a:prstGeom>
          <a:noFill/>
          <a:ln/>
        </p:spPr>
        <p:txBody>
          <a:bodyPr wrap="square" rtlCol="0" anchor="ctr"/>
          <a:lstStyle/>
          <a:p>
            <a:pPr marL="0" indent="0" algn="r">
              <a:buNone/>
            </a:pPr>
            <a:r>
              <a:rPr lang="en-US" sz="1100" dirty="0">
                <a:solidFill>
                  <a:srgbClr val="888888"/>
                </a:solidFill>
              </a:rPr>
              <a:t>CSE 120 · Module 1</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03767"/>
        </a:solidFill>
        <a:effectLst/>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03767"/>
          </a:solidFill>
          <a:ln w="12700">
            <a:solidFill>
              <a:srgbClr val="003767"/>
            </a:solidFill>
            <a:prstDash val="solid"/>
          </a:ln>
        </p:spPr>
        <p:txBody>
          <a:bodyPr/>
          <a:lstStyle/>
          <a:p>
            <a:endParaRPr lang="en-US"/>
          </a:p>
        </p:txBody>
      </p:sp>
      <p:sp>
        <p:nvSpPr>
          <p:cNvPr id="3" name="Shape 1"/>
          <p:cNvSpPr/>
          <p:nvPr/>
        </p:nvSpPr>
        <p:spPr>
          <a:xfrm>
            <a:off x="0" y="5303520"/>
            <a:ext cx="12161520" cy="1554480"/>
          </a:xfrm>
          <a:prstGeom prst="rect">
            <a:avLst/>
          </a:prstGeom>
          <a:solidFill>
            <a:srgbClr val="001F40"/>
          </a:solidFill>
          <a:ln w="12700">
            <a:solidFill>
              <a:srgbClr val="001F40"/>
            </a:solidFill>
            <a:prstDash val="solid"/>
          </a:ln>
        </p:spPr>
        <p:txBody>
          <a:bodyPr/>
          <a:lstStyle/>
          <a:p>
            <a:endParaRPr lang="en-US"/>
          </a:p>
        </p:txBody>
      </p:sp>
      <p:sp>
        <p:nvSpPr>
          <p:cNvPr id="4" name="Text 2"/>
          <p:cNvSpPr txBox="1"/>
          <p:nvPr/>
        </p:nvSpPr>
        <p:spPr>
          <a:xfrm>
            <a:off x="731520" y="914400"/>
            <a:ext cx="10698480" cy="822960"/>
          </a:xfrm>
          <a:prstGeom prst="rect">
            <a:avLst/>
          </a:prstGeom>
          <a:noFill/>
          <a:ln/>
        </p:spPr>
        <p:txBody>
          <a:bodyPr wrap="square" rtlCol="0" anchor="ctr"/>
          <a:lstStyle/>
          <a:p>
            <a:pPr marL="0" indent="0" algn="ctr">
              <a:buNone/>
            </a:pPr>
            <a:r>
              <a:rPr lang="en-US" sz="2000" b="1" dirty="0">
                <a:solidFill>
                  <a:srgbClr val="0074B7"/>
                </a:solidFill>
              </a:rPr>
              <a:t>Part 8</a:t>
            </a:r>
            <a:endParaRPr lang="en-US" sz="2000" dirty="0"/>
          </a:p>
        </p:txBody>
      </p:sp>
      <p:sp>
        <p:nvSpPr>
          <p:cNvPr id="5" name="Text 3"/>
          <p:cNvSpPr txBox="1"/>
          <p:nvPr/>
        </p:nvSpPr>
        <p:spPr>
          <a:xfrm>
            <a:off x="731520" y="1737360"/>
            <a:ext cx="10698480" cy="2286000"/>
          </a:xfrm>
          <a:prstGeom prst="rect">
            <a:avLst/>
          </a:prstGeom>
          <a:noFill/>
          <a:ln/>
        </p:spPr>
        <p:txBody>
          <a:bodyPr wrap="square" rtlCol="0" anchor="ctr"/>
          <a:lstStyle/>
          <a:p>
            <a:pPr marL="0" indent="0" algn="ctr">
              <a:buNone/>
            </a:pPr>
            <a:r>
              <a:rPr lang="en-US" sz="4000" b="1" dirty="0">
                <a:solidFill>
                  <a:srgbClr val="FFFFFF"/>
                </a:solidFill>
              </a:rPr>
              <a:t>Repetition</a:t>
            </a:r>
            <a:endParaRPr lang="en-US" sz="4000" dirty="0"/>
          </a:p>
          <a:p>
            <a:pPr marL="0" indent="0" algn="ctr">
              <a:buNone/>
            </a:pPr>
            <a:r>
              <a:rPr lang="en-US" sz="4000" b="1" dirty="0">
                <a:solidFill>
                  <a:srgbClr val="FFFFFF"/>
                </a:solidFill>
              </a:rPr>
              <a:t>and Loops</a:t>
            </a:r>
            <a:endParaRPr lang="en-US" sz="4000" dirty="0"/>
          </a:p>
        </p:txBody>
      </p:sp>
      <p:sp>
        <p:nvSpPr>
          <p:cNvPr id="6" name="Text 4"/>
          <p:cNvSpPr txBox="1"/>
          <p:nvPr/>
        </p:nvSpPr>
        <p:spPr>
          <a:xfrm>
            <a:off x="731520" y="4114800"/>
            <a:ext cx="10698480" cy="1005840"/>
          </a:xfrm>
          <a:prstGeom prst="rect">
            <a:avLst/>
          </a:prstGeom>
          <a:noFill/>
          <a:ln/>
        </p:spPr>
        <p:txBody>
          <a:bodyPr wrap="square" rtlCol="0" anchor="ctr"/>
          <a:lstStyle/>
          <a:p>
            <a:pPr marL="0" indent="0" algn="ctr">
              <a:buNone/>
            </a:pPr>
            <a:r>
              <a:rPr lang="en-US" sz="1500" dirty="0">
                <a:solidFill>
                  <a:srgbClr val="7BAFD4"/>
                </a:solidFill>
              </a:rPr>
              <a:t>for loops · while loops · Trace Tables · Accumulation · Infinite Loops</a:t>
            </a:r>
            <a:endParaRPr lang="en-US" sz="1500" dirty="0"/>
          </a:p>
        </p:txBody>
      </p:sp>
      <p:sp>
        <p:nvSpPr>
          <p:cNvPr id="7" name="Text 5"/>
          <p:cNvSpPr txBox="1"/>
          <p:nvPr/>
        </p:nvSpPr>
        <p:spPr>
          <a:xfrm>
            <a:off x="731520" y="5577840"/>
            <a:ext cx="10698480" cy="731520"/>
          </a:xfrm>
          <a:prstGeom prst="rect">
            <a:avLst/>
          </a:prstGeom>
          <a:noFill/>
          <a:ln/>
        </p:spPr>
        <p:txBody>
          <a:bodyPr wrap="square" rtlCol="0" anchor="ctr"/>
          <a:lstStyle/>
          <a:p>
            <a:pPr marL="0" indent="0" algn="ctr">
              <a:buNone/>
            </a:pPr>
            <a:r>
              <a:rPr lang="en-US" sz="1300" dirty="0">
                <a:solidFill>
                  <a:srgbClr val="6699BB"/>
                </a:solidFill>
              </a:rPr>
              <a:t>CSE 120 · Module 1</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822960"/>
          </a:xfrm>
          <a:prstGeom prst="rect">
            <a:avLst/>
          </a:prstGeom>
          <a:solidFill>
            <a:srgbClr val="003767"/>
          </a:solidFill>
          <a:ln w="12700">
            <a:solidFill>
              <a:srgbClr val="003767"/>
            </a:solidFill>
            <a:prstDash val="solid"/>
          </a:ln>
        </p:spPr>
        <p:txBody>
          <a:bodyPr/>
          <a:lstStyle/>
          <a:p>
            <a:endParaRPr lang="en-US"/>
          </a:p>
        </p:txBody>
      </p:sp>
      <p:sp>
        <p:nvSpPr>
          <p:cNvPr id="3" name="Text 1"/>
          <p:cNvSpPr txBox="1"/>
          <p:nvPr/>
        </p:nvSpPr>
        <p:spPr>
          <a:xfrm>
            <a:off x="274320" y="73152"/>
            <a:ext cx="11612880" cy="685800"/>
          </a:xfrm>
          <a:prstGeom prst="rect">
            <a:avLst/>
          </a:prstGeom>
          <a:noFill/>
          <a:ln/>
        </p:spPr>
        <p:txBody>
          <a:bodyPr wrap="square" rtlCol="0" anchor="ctr"/>
          <a:lstStyle/>
          <a:p>
            <a:pPr marL="0" indent="0">
              <a:buNone/>
            </a:pPr>
            <a:r>
              <a:rPr lang="en-US" sz="2000" b="1" dirty="0">
                <a:solidFill>
                  <a:srgbClr val="FFFFFF"/>
                </a:solidFill>
              </a:rPr>
              <a:t>The Problem: Doing Something Many Times</a:t>
            </a:r>
            <a:endParaRPr lang="en-US" sz="2000" dirty="0"/>
          </a:p>
        </p:txBody>
      </p:sp>
      <p:sp>
        <p:nvSpPr>
          <p:cNvPr id="4" name="Text 2"/>
          <p:cNvSpPr txBox="1"/>
          <p:nvPr/>
        </p:nvSpPr>
        <p:spPr>
          <a:xfrm>
            <a:off x="365760" y="914400"/>
            <a:ext cx="11430000" cy="5577840"/>
          </a:xfrm>
          <a:prstGeom prst="rect">
            <a:avLst/>
          </a:prstGeom>
          <a:noFill/>
          <a:ln/>
        </p:spPr>
        <p:txBody>
          <a:bodyPr wrap="square" rtlCol="0" anchor="t"/>
          <a:lstStyle/>
          <a:p>
            <a:pPr marL="342900" indent="-342900">
              <a:spcAft>
                <a:spcPts val="800"/>
              </a:spcAft>
              <a:buSzPct val="100000"/>
              <a:buChar char="•"/>
            </a:pPr>
            <a:r>
              <a:rPr lang="en-US" sz="1500" dirty="0">
                <a:solidFill>
                  <a:srgbClr val="1A1A2E"/>
                </a:solidFill>
              </a:rPr>
              <a:t>What if you needed to print "Checking sensor..." 100 times?</a:t>
            </a:r>
            <a:endParaRPr lang="en-US" sz="1500" dirty="0"/>
          </a:p>
          <a:p>
            <a:pPr marL="342900" indent="-342900">
              <a:spcAft>
                <a:spcPts val="800"/>
              </a:spcAft>
              <a:buSzPct val="100000"/>
              <a:buChar char="•"/>
            </a:pPr>
            <a:r>
              <a:rPr lang="en-US" sz="1500" dirty="0">
                <a:solidFill>
                  <a:srgbClr val="1A1A2E"/>
                </a:solidFill>
              </a:rPr>
              <a:t>You could write 100 print statements — but that's absurd</a:t>
            </a:r>
            <a:endParaRPr lang="en-US" sz="1500" dirty="0"/>
          </a:p>
          <a:p>
            <a:pPr marL="342900" indent="-342900">
              <a:spcAft>
                <a:spcPts val="1800"/>
              </a:spcAft>
              <a:buSzPct val="100000"/>
              <a:buChar char="•"/>
            </a:pPr>
            <a:r>
              <a:rPr lang="en-US" sz="1500" dirty="0">
                <a:solidFill>
                  <a:srgbClr val="1A1A2E"/>
                </a:solidFill>
              </a:rPr>
              <a:t>What if it needed to be 1,000 times? Or the number came from the user?</a:t>
            </a:r>
            <a:endParaRPr lang="en-US" sz="1500" dirty="0"/>
          </a:p>
          <a:p>
            <a:pPr marL="0" indent="0">
              <a:spcAft>
                <a:spcPts val="1000"/>
              </a:spcAft>
              <a:buNone/>
            </a:pPr>
            <a:r>
              <a:rPr lang="en-US" sz="1500" b="1" dirty="0">
                <a:solidFill>
                  <a:srgbClr val="1A1A2E"/>
                </a:solidFill>
              </a:rPr>
              <a:t>Programs need a way to REPEAT instructions — that's a loop</a:t>
            </a:r>
            <a:endParaRPr lang="en-US" sz="1500" dirty="0"/>
          </a:p>
          <a:p>
            <a:pPr marL="0" indent="0">
              <a:spcAft>
                <a:spcPts val="600"/>
              </a:spcAft>
              <a:buNone/>
            </a:pPr>
            <a:r>
              <a:rPr lang="en-US" sz="1500" b="1" dirty="0">
                <a:solidFill>
                  <a:srgbClr val="1A1A2E"/>
                </a:solidFill>
              </a:rPr>
              <a:t>Two types of loops in Python:</a:t>
            </a:r>
            <a:endParaRPr lang="en-US" sz="1500" dirty="0"/>
          </a:p>
          <a:p>
            <a:pPr marL="685800" lvl="1" indent="-342900">
              <a:spcAft>
                <a:spcPts val="600"/>
              </a:spcAft>
              <a:buSzPct val="100000"/>
              <a:buChar char="•"/>
            </a:pPr>
            <a:r>
              <a:rPr lang="en-US" sz="1500" dirty="0">
                <a:solidFill>
                  <a:srgbClr val="1A1A2E"/>
                </a:solidFill>
              </a:rPr>
              <a:t>for loop — use when you know exactly how many times to repeat</a:t>
            </a:r>
            <a:endParaRPr lang="en-US" sz="1500" dirty="0"/>
          </a:p>
          <a:p>
            <a:pPr marL="685800" lvl="1" indent="-342900">
              <a:spcAft>
                <a:spcPts val="400"/>
              </a:spcAft>
              <a:buSzPct val="100000"/>
              <a:buChar char="•"/>
            </a:pPr>
            <a:r>
              <a:rPr lang="en-US" sz="1500" dirty="0">
                <a:solidFill>
                  <a:srgbClr val="1A1A2E"/>
                </a:solidFill>
              </a:rPr>
              <a:t>while loop — use when you repeat until a condition changes</a:t>
            </a:r>
            <a:endParaRPr lang="en-US" sz="1500" dirty="0"/>
          </a:p>
        </p:txBody>
      </p:sp>
      <p:sp>
        <p:nvSpPr>
          <p:cNvPr id="5" name="Text 3"/>
          <p:cNvSpPr txBox="1"/>
          <p:nvPr/>
        </p:nvSpPr>
        <p:spPr>
          <a:xfrm>
            <a:off x="274320" y="6537960"/>
            <a:ext cx="11612880" cy="274320"/>
          </a:xfrm>
          <a:prstGeom prst="rect">
            <a:avLst/>
          </a:prstGeom>
          <a:noFill/>
          <a:ln/>
        </p:spPr>
        <p:txBody>
          <a:bodyPr wrap="square" rtlCol="0" anchor="ctr"/>
          <a:lstStyle/>
          <a:p>
            <a:pPr marL="0" indent="0" algn="r">
              <a:buNone/>
            </a:pPr>
            <a:r>
              <a:rPr lang="en-US" sz="1100" dirty="0">
                <a:solidFill>
                  <a:srgbClr val="999999"/>
                </a:solidFill>
              </a:rPr>
              <a:t>CSE 120 · Module 1</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822960"/>
          </a:xfrm>
          <a:prstGeom prst="rect">
            <a:avLst/>
          </a:prstGeom>
          <a:solidFill>
            <a:srgbClr val="003767"/>
          </a:solidFill>
          <a:ln w="12700">
            <a:solidFill>
              <a:srgbClr val="003767"/>
            </a:solidFill>
            <a:prstDash val="solid"/>
          </a:ln>
        </p:spPr>
        <p:txBody>
          <a:bodyPr/>
          <a:lstStyle/>
          <a:p>
            <a:endParaRPr lang="en-US"/>
          </a:p>
        </p:txBody>
      </p:sp>
      <p:sp>
        <p:nvSpPr>
          <p:cNvPr id="3" name="Text 1"/>
          <p:cNvSpPr txBox="1"/>
          <p:nvPr/>
        </p:nvSpPr>
        <p:spPr>
          <a:xfrm>
            <a:off x="274320" y="73152"/>
            <a:ext cx="11612880" cy="685800"/>
          </a:xfrm>
          <a:prstGeom prst="rect">
            <a:avLst/>
          </a:prstGeom>
          <a:noFill/>
          <a:ln/>
        </p:spPr>
        <p:txBody>
          <a:bodyPr wrap="square" rtlCol="0" anchor="ctr"/>
          <a:lstStyle/>
          <a:p>
            <a:pPr marL="0" indent="0">
              <a:buNone/>
            </a:pPr>
            <a:r>
              <a:rPr lang="en-US" sz="2000" b="1" dirty="0">
                <a:solidFill>
                  <a:srgbClr val="FFFFFF"/>
                </a:solidFill>
              </a:rPr>
              <a:t>The for Loop — Anatomy</a:t>
            </a:r>
            <a:endParaRPr lang="en-US" sz="2000" dirty="0"/>
          </a:p>
        </p:txBody>
      </p:sp>
      <p:sp>
        <p:nvSpPr>
          <p:cNvPr id="4" name="Shape 2"/>
          <p:cNvSpPr/>
          <p:nvPr/>
        </p:nvSpPr>
        <p:spPr>
          <a:xfrm>
            <a:off x="274320" y="914400"/>
            <a:ext cx="6400800" cy="5394960"/>
          </a:xfrm>
          <a:prstGeom prst="rect">
            <a:avLst/>
          </a:prstGeom>
          <a:solidFill>
            <a:srgbClr val="1E2D40"/>
          </a:solidFill>
          <a:ln w="12700">
            <a:solidFill>
              <a:srgbClr val="2A4060"/>
            </a:solidFill>
            <a:prstDash val="solid"/>
          </a:ln>
        </p:spPr>
        <p:txBody>
          <a:bodyPr/>
          <a:lstStyle/>
          <a:p>
            <a:endParaRPr lang="en-US"/>
          </a:p>
        </p:txBody>
      </p:sp>
      <p:sp>
        <p:nvSpPr>
          <p:cNvPr id="5" name="Text 3"/>
          <p:cNvSpPr txBox="1"/>
          <p:nvPr/>
        </p:nvSpPr>
        <p:spPr>
          <a:xfrm>
            <a:off x="365760" y="960120"/>
            <a:ext cx="6217920" cy="320040"/>
          </a:xfrm>
          <a:prstGeom prst="rect">
            <a:avLst/>
          </a:prstGeom>
          <a:noFill/>
          <a:ln/>
        </p:spPr>
        <p:txBody>
          <a:bodyPr wrap="square" rtlCol="0" anchor="ctr"/>
          <a:lstStyle/>
          <a:p>
            <a:pPr marL="0" indent="0">
              <a:buNone/>
            </a:pPr>
            <a:r>
              <a:rPr lang="en-US" sz="1100" b="1" dirty="0">
                <a:solidFill>
                  <a:srgbClr val="88AACC"/>
                </a:solidFill>
              </a:rPr>
              <a:t>python</a:t>
            </a:r>
            <a:endParaRPr lang="en-US" sz="1100" dirty="0"/>
          </a:p>
        </p:txBody>
      </p:sp>
      <p:sp>
        <p:nvSpPr>
          <p:cNvPr id="6" name="Text 4"/>
          <p:cNvSpPr txBox="1"/>
          <p:nvPr/>
        </p:nvSpPr>
        <p:spPr>
          <a:xfrm>
            <a:off x="365760" y="1325880"/>
            <a:ext cx="6217920" cy="4846320"/>
          </a:xfrm>
          <a:prstGeom prst="rect">
            <a:avLst/>
          </a:prstGeom>
          <a:noFill/>
          <a:ln/>
        </p:spPr>
        <p:txBody>
          <a:bodyPr wrap="square" rtlCol="0" anchor="t"/>
          <a:lstStyle/>
          <a:p>
            <a:pPr marL="0" indent="0">
              <a:buNone/>
            </a:pPr>
            <a:r>
              <a:rPr lang="en-US" sz="1300" dirty="0">
                <a:solidFill>
                  <a:srgbClr val="E8F4FD"/>
                </a:solidFill>
                <a:latin typeface="Courier New" pitchFamily="34" charset="0"/>
                <a:ea typeface="Courier New" pitchFamily="34" charset="-122"/>
                <a:cs typeface="Courier New" pitchFamily="34" charset="-120"/>
              </a:rPr>
              <a:t>for i in range(5):</a:t>
            </a:r>
            <a:endParaRPr lang="en-US" sz="1300" dirty="0"/>
          </a:p>
          <a:p>
            <a:pPr marL="0" indent="0">
              <a:buNone/>
            </a:pPr>
            <a:r>
              <a:rPr lang="en-US" sz="1300" dirty="0">
                <a:solidFill>
                  <a:srgbClr val="E8F4FD"/>
                </a:solidFill>
                <a:latin typeface="Courier New" pitchFamily="34" charset="0"/>
                <a:ea typeface="Courier New" pitchFamily="34" charset="-122"/>
                <a:cs typeface="Courier New" pitchFamily="34" charset="-120"/>
              </a:rPr>
              <a:t>    print(i)</a:t>
            </a:r>
            <a:endParaRPr lang="en-US" sz="1300" dirty="0"/>
          </a:p>
        </p:txBody>
      </p:sp>
      <p:sp>
        <p:nvSpPr>
          <p:cNvPr id="7" name="Text 5"/>
          <p:cNvSpPr txBox="1"/>
          <p:nvPr/>
        </p:nvSpPr>
        <p:spPr>
          <a:xfrm>
            <a:off x="6949440" y="914400"/>
            <a:ext cx="4937760" cy="5394960"/>
          </a:xfrm>
          <a:prstGeom prst="rect">
            <a:avLst/>
          </a:prstGeom>
          <a:noFill/>
          <a:ln/>
        </p:spPr>
        <p:txBody>
          <a:bodyPr wrap="square" rtlCol="0" anchor="t"/>
          <a:lstStyle/>
          <a:p>
            <a:pPr marL="0" indent="0">
              <a:spcAft>
                <a:spcPts val="300"/>
              </a:spcAft>
              <a:buNone/>
            </a:pPr>
            <a:r>
              <a:rPr lang="en-US" sz="1500" b="1" dirty="0">
                <a:solidFill>
                  <a:srgbClr val="1A1A2E"/>
                </a:solidFill>
              </a:rPr>
              <a:t>for</a:t>
            </a:r>
            <a:endParaRPr lang="en-US" sz="1500" dirty="0"/>
          </a:p>
          <a:p>
            <a:pPr marL="0" lvl="1" indent="0">
              <a:spcAft>
                <a:spcPts val="800"/>
              </a:spcAft>
              <a:buNone/>
            </a:pPr>
            <a:r>
              <a:rPr lang="en-US" sz="1400" dirty="0">
                <a:solidFill>
                  <a:srgbClr val="1A1A2E"/>
                </a:solidFill>
              </a:rPr>
              <a:t>— the keyword that starts the loop</a:t>
            </a:r>
            <a:endParaRPr lang="en-US" sz="1500" dirty="0"/>
          </a:p>
          <a:p>
            <a:pPr marL="0" indent="0">
              <a:spcAft>
                <a:spcPts val="300"/>
              </a:spcAft>
              <a:buNone/>
            </a:pPr>
            <a:r>
              <a:rPr lang="en-US" sz="1500" b="1" dirty="0">
                <a:solidFill>
                  <a:srgbClr val="1A1A2E"/>
                </a:solidFill>
              </a:rPr>
              <a:t>i</a:t>
            </a:r>
            <a:endParaRPr lang="en-US" sz="1500" dirty="0"/>
          </a:p>
          <a:p>
            <a:pPr marL="0" lvl="1" indent="0">
              <a:spcAft>
                <a:spcPts val="800"/>
              </a:spcAft>
              <a:buNone/>
            </a:pPr>
            <a:r>
              <a:rPr lang="en-US" sz="1400" dirty="0">
                <a:solidFill>
                  <a:srgbClr val="1A1A2E"/>
                </a:solidFill>
              </a:rPr>
              <a:t>— the loop variable. Python updates this automatically each time.</a:t>
            </a:r>
            <a:endParaRPr lang="en-US" sz="1500" dirty="0"/>
          </a:p>
          <a:p>
            <a:pPr marL="0" indent="0">
              <a:spcAft>
                <a:spcPts val="300"/>
              </a:spcAft>
              <a:buNone/>
            </a:pPr>
            <a:r>
              <a:rPr lang="en-US" sz="1500" b="1" dirty="0">
                <a:solidFill>
                  <a:srgbClr val="1A1A2E"/>
                </a:solidFill>
              </a:rPr>
              <a:t>in range(5)</a:t>
            </a:r>
            <a:endParaRPr lang="en-US" sz="1500" dirty="0"/>
          </a:p>
          <a:p>
            <a:pPr marL="0" lvl="1" indent="0">
              <a:spcAft>
                <a:spcPts val="800"/>
              </a:spcAft>
              <a:buNone/>
            </a:pPr>
            <a:r>
              <a:rPr lang="en-US" sz="1400" dirty="0">
                <a:solidFill>
                  <a:srgbClr val="1A1A2E"/>
                </a:solidFill>
              </a:rPr>
              <a:t>— generates 0, 1, 2, 3, 4 (five values starting from 0)</a:t>
            </a:r>
            <a:endParaRPr lang="en-US" sz="1500" dirty="0"/>
          </a:p>
          <a:p>
            <a:pPr marL="0" indent="0">
              <a:spcAft>
                <a:spcPts val="300"/>
              </a:spcAft>
              <a:buNone/>
            </a:pPr>
            <a:r>
              <a:rPr lang="en-US" sz="1500" b="1" dirty="0">
                <a:solidFill>
                  <a:srgbClr val="1A1A2E"/>
                </a:solidFill>
              </a:rPr>
              <a:t>:</a:t>
            </a:r>
            <a:endParaRPr lang="en-US" sz="1500" dirty="0"/>
          </a:p>
          <a:p>
            <a:pPr marL="0" lvl="1" indent="0">
              <a:spcAft>
                <a:spcPts val="800"/>
              </a:spcAft>
              <a:buNone/>
            </a:pPr>
            <a:r>
              <a:rPr lang="en-US" sz="1400" dirty="0">
                <a:solidFill>
                  <a:srgbClr val="1A1A2E"/>
                </a:solidFill>
              </a:rPr>
              <a:t>— required colon</a:t>
            </a:r>
            <a:endParaRPr lang="en-US" sz="1500" dirty="0"/>
          </a:p>
          <a:p>
            <a:pPr marL="0" indent="0">
              <a:spcAft>
                <a:spcPts val="300"/>
              </a:spcAft>
              <a:buNone/>
            </a:pPr>
            <a:r>
              <a:rPr lang="en-US" sz="1500" b="1" dirty="0">
                <a:solidFill>
                  <a:srgbClr val="1A1A2E"/>
                </a:solidFill>
              </a:rPr>
              <a:t>    print(i)</a:t>
            </a:r>
            <a:endParaRPr lang="en-US" sz="1500" dirty="0"/>
          </a:p>
          <a:p>
            <a:pPr marL="0" lvl="1" indent="0">
              <a:spcAft>
                <a:spcPts val="1400"/>
              </a:spcAft>
              <a:buNone/>
            </a:pPr>
            <a:r>
              <a:rPr lang="en-US" sz="1400" dirty="0">
                <a:solidFill>
                  <a:srgbClr val="1A1A2E"/>
                </a:solidFill>
              </a:rPr>
              <a:t>— indented code runs once per value</a:t>
            </a:r>
            <a:endParaRPr lang="en-US" sz="1500" dirty="0"/>
          </a:p>
          <a:p>
            <a:pPr marL="0" indent="0">
              <a:spcAft>
                <a:spcPts val="500"/>
              </a:spcAft>
              <a:buNone/>
            </a:pPr>
            <a:r>
              <a:rPr lang="en-US" sz="1400" b="1" dirty="0">
                <a:solidFill>
                  <a:srgbClr val="0074B7"/>
                </a:solidFill>
              </a:rPr>
              <a:t>Output: 0  1  2  3  4  (one per line)</a:t>
            </a:r>
            <a:endParaRPr lang="en-US" sz="1500" dirty="0"/>
          </a:p>
        </p:txBody>
      </p:sp>
      <p:sp>
        <p:nvSpPr>
          <p:cNvPr id="8" name="Text 6"/>
          <p:cNvSpPr txBox="1"/>
          <p:nvPr/>
        </p:nvSpPr>
        <p:spPr>
          <a:xfrm>
            <a:off x="274320" y="6537960"/>
            <a:ext cx="11612880" cy="274320"/>
          </a:xfrm>
          <a:prstGeom prst="rect">
            <a:avLst/>
          </a:prstGeom>
          <a:noFill/>
          <a:ln/>
        </p:spPr>
        <p:txBody>
          <a:bodyPr wrap="square" rtlCol="0" anchor="ctr"/>
          <a:lstStyle/>
          <a:p>
            <a:pPr marL="0" indent="0" algn="r">
              <a:buNone/>
            </a:pPr>
            <a:r>
              <a:rPr lang="en-US" sz="1100" dirty="0">
                <a:solidFill>
                  <a:srgbClr val="999999"/>
                </a:solidFill>
              </a:rPr>
              <a:t>CSE 120 · Module 1</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822960"/>
          </a:xfrm>
          <a:prstGeom prst="rect">
            <a:avLst/>
          </a:prstGeom>
          <a:solidFill>
            <a:srgbClr val="003767"/>
          </a:solidFill>
          <a:ln w="12700">
            <a:solidFill>
              <a:srgbClr val="003767"/>
            </a:solidFill>
            <a:prstDash val="solid"/>
          </a:ln>
        </p:spPr>
        <p:txBody>
          <a:bodyPr/>
          <a:lstStyle/>
          <a:p>
            <a:endParaRPr lang="en-US"/>
          </a:p>
        </p:txBody>
      </p:sp>
      <p:sp>
        <p:nvSpPr>
          <p:cNvPr id="3" name="Text 1"/>
          <p:cNvSpPr txBox="1"/>
          <p:nvPr/>
        </p:nvSpPr>
        <p:spPr>
          <a:xfrm>
            <a:off x="274320" y="73152"/>
            <a:ext cx="11612880" cy="685800"/>
          </a:xfrm>
          <a:prstGeom prst="rect">
            <a:avLst/>
          </a:prstGeom>
          <a:noFill/>
          <a:ln/>
        </p:spPr>
        <p:txBody>
          <a:bodyPr wrap="square" rtlCol="0" anchor="ctr"/>
          <a:lstStyle/>
          <a:p>
            <a:pPr marL="0" indent="0">
              <a:buNone/>
            </a:pPr>
            <a:r>
              <a:rPr lang="en-US" sz="2000" b="1" dirty="0">
                <a:solidFill>
                  <a:srgbClr val="FFFFFF"/>
                </a:solidFill>
              </a:rPr>
              <a:t>⚠️  range(5) Starts at 0, Not 1</a:t>
            </a:r>
            <a:endParaRPr lang="en-US" sz="2000" dirty="0"/>
          </a:p>
        </p:txBody>
      </p:sp>
      <p:sp>
        <p:nvSpPr>
          <p:cNvPr id="4" name="Text 2"/>
          <p:cNvSpPr txBox="1"/>
          <p:nvPr/>
        </p:nvSpPr>
        <p:spPr>
          <a:xfrm>
            <a:off x="365760" y="914400"/>
            <a:ext cx="11430000" cy="5577840"/>
          </a:xfrm>
          <a:prstGeom prst="rect">
            <a:avLst/>
          </a:prstGeom>
          <a:noFill/>
          <a:ln/>
        </p:spPr>
        <p:txBody>
          <a:bodyPr wrap="square" rtlCol="0" anchor="t"/>
          <a:lstStyle/>
          <a:p>
            <a:pPr marL="342900" indent="-342900">
              <a:spcAft>
                <a:spcPts val="1000"/>
              </a:spcAft>
              <a:buSzPct val="100000"/>
              <a:buChar char="•"/>
            </a:pPr>
            <a:r>
              <a:rPr lang="en-US" sz="1500" b="1" dirty="0">
                <a:solidFill>
                  <a:srgbClr val="1A1A2E"/>
                </a:solidFill>
              </a:rPr>
              <a:t>This surprises almost every beginner</a:t>
            </a:r>
            <a:endParaRPr lang="en-US" sz="1500" dirty="0"/>
          </a:p>
          <a:p>
            <a:pPr marL="0" indent="0">
              <a:spcAft>
                <a:spcPts val="1600"/>
              </a:spcAft>
              <a:buNone/>
            </a:pPr>
            <a:r>
              <a:rPr lang="en-US" sz="1600" b="1" dirty="0">
                <a:solidFill>
                  <a:srgbClr val="991B1B"/>
                </a:solidFill>
              </a:rPr>
              <a:t>range(5)  produces:  0, 1, 2, 3, 4  — NOT 1 through 5</a:t>
            </a:r>
            <a:endParaRPr lang="en-US" sz="1500" dirty="0"/>
          </a:p>
          <a:p>
            <a:pPr marL="0" indent="0">
              <a:spcAft>
                <a:spcPts val="800"/>
              </a:spcAft>
              <a:buNone/>
            </a:pPr>
            <a:r>
              <a:rPr lang="en-US" sz="1500" b="1" dirty="0">
                <a:solidFill>
                  <a:srgbClr val="1A1A2E"/>
                </a:solidFill>
              </a:rPr>
              <a:t>If you want 1 through 5, use range(1, 6):</a:t>
            </a:r>
            <a:endParaRPr lang="en-US" sz="1500" dirty="0"/>
          </a:p>
          <a:p>
            <a:pPr marL="0" indent="0">
              <a:spcAft>
                <a:spcPts val="1600"/>
              </a:spcAft>
              <a:buNone/>
            </a:pPr>
            <a:r>
              <a:rPr lang="en-US" sz="1600" dirty="0">
                <a:solidFill>
                  <a:srgbClr val="1E2D40"/>
                </a:solidFill>
              </a:rPr>
              <a:t>range(1, 6)  produces:  1, 2, 3, 4, 5</a:t>
            </a:r>
            <a:endParaRPr lang="en-US" sz="1500" dirty="0"/>
          </a:p>
          <a:p>
            <a:pPr marL="0" indent="0">
              <a:spcAft>
                <a:spcPts val="600"/>
              </a:spcAft>
              <a:buNone/>
            </a:pPr>
            <a:r>
              <a:rPr lang="en-US" sz="1500" b="1" dirty="0">
                <a:solidFill>
                  <a:srgbClr val="1A1A2E"/>
                </a:solidFill>
              </a:rPr>
              <a:t>General rule: range(start, stop)</a:t>
            </a:r>
            <a:endParaRPr lang="en-US" sz="1500" dirty="0"/>
          </a:p>
          <a:p>
            <a:pPr marL="342900" indent="-342900">
              <a:spcAft>
                <a:spcPts val="500"/>
              </a:spcAft>
              <a:buSzPct val="100000"/>
              <a:buChar char="•"/>
            </a:pPr>
            <a:r>
              <a:rPr lang="en-US" sz="1500" dirty="0">
                <a:solidFill>
                  <a:srgbClr val="1A1A2E"/>
                </a:solidFill>
              </a:rPr>
              <a:t>Start is included. Stop is NOT included.</a:t>
            </a:r>
            <a:endParaRPr lang="en-US" sz="1500" dirty="0"/>
          </a:p>
          <a:p>
            <a:pPr marL="0" indent="0">
              <a:spcAft>
                <a:spcPts val="400"/>
              </a:spcAft>
              <a:buNone/>
            </a:pPr>
            <a:r>
              <a:rPr lang="en-US" sz="1400" dirty="0">
                <a:solidFill>
                  <a:srgbClr val="1E2D40"/>
                </a:solidFill>
              </a:rPr>
              <a:t>range(3, 8)  produces:  3, 4, 5, 6, 7</a:t>
            </a:r>
            <a:endParaRPr lang="en-US" sz="1500" dirty="0"/>
          </a:p>
        </p:txBody>
      </p:sp>
      <p:sp>
        <p:nvSpPr>
          <p:cNvPr id="5" name="Text 3"/>
          <p:cNvSpPr txBox="1"/>
          <p:nvPr/>
        </p:nvSpPr>
        <p:spPr>
          <a:xfrm>
            <a:off x="274320" y="6537960"/>
            <a:ext cx="11612880" cy="274320"/>
          </a:xfrm>
          <a:prstGeom prst="rect">
            <a:avLst/>
          </a:prstGeom>
          <a:noFill/>
          <a:ln/>
        </p:spPr>
        <p:txBody>
          <a:bodyPr wrap="square" rtlCol="0" anchor="ctr"/>
          <a:lstStyle/>
          <a:p>
            <a:pPr marL="0" indent="0" algn="r">
              <a:buNone/>
            </a:pPr>
            <a:r>
              <a:rPr lang="en-US" sz="1100" dirty="0">
                <a:solidFill>
                  <a:srgbClr val="999999"/>
                </a:solidFill>
              </a:rPr>
              <a:t>CSE 120 · Module 1</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AF5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4C1D95"/>
          </a:solidFill>
          <a:ln w="12700">
            <a:solidFill>
              <a:srgbClr val="4C1D95"/>
            </a:solidFill>
            <a:prstDash val="solid"/>
          </a:ln>
        </p:spPr>
        <p:txBody>
          <a:bodyPr/>
          <a:lstStyle/>
          <a:p>
            <a:endParaRPr lang="en-US"/>
          </a:p>
        </p:txBody>
      </p:sp>
      <p:sp>
        <p:nvSpPr>
          <p:cNvPr id="3" name="Text 1"/>
          <p:cNvSpPr txBox="1"/>
          <p:nvPr/>
        </p:nvSpPr>
        <p:spPr>
          <a:xfrm>
            <a:off x="274320" y="91440"/>
            <a:ext cx="11612880" cy="777240"/>
          </a:xfrm>
          <a:prstGeom prst="rect">
            <a:avLst/>
          </a:prstGeom>
          <a:noFill/>
          <a:ln/>
        </p:spPr>
        <p:txBody>
          <a:bodyPr wrap="square" rtlCol="0" anchor="ctr"/>
          <a:lstStyle/>
          <a:p>
            <a:pPr marL="0" indent="0">
              <a:buNone/>
            </a:pPr>
            <a:r>
              <a:rPr lang="en-US" sz="2200" b="1" dirty="0">
                <a:solidFill>
                  <a:srgbClr val="FFFFFF"/>
                </a:solidFill>
              </a:rPr>
              <a:t>🔍  Trace It — for Example 1 — Counting Up</a:t>
            </a:r>
            <a:endParaRPr lang="en-US" sz="2200" dirty="0"/>
          </a:p>
        </p:txBody>
      </p:sp>
      <p:sp>
        <p:nvSpPr>
          <p:cNvPr id="4" name="Text 2"/>
          <p:cNvSpPr txBox="1"/>
          <p:nvPr/>
        </p:nvSpPr>
        <p:spPr>
          <a:xfrm>
            <a:off x="457200" y="1051560"/>
            <a:ext cx="11247120" cy="502920"/>
          </a:xfrm>
          <a:prstGeom prst="rect">
            <a:avLst/>
          </a:prstGeom>
          <a:noFill/>
          <a:ln/>
        </p:spPr>
        <p:txBody>
          <a:bodyPr wrap="square" rtlCol="0" anchor="ctr"/>
          <a:lstStyle/>
          <a:p>
            <a:pPr marL="0" indent="0">
              <a:buNone/>
            </a:pPr>
            <a:r>
              <a:rPr lang="en-US" sz="1400" dirty="0">
                <a:solidFill>
                  <a:srgbClr val="1A1A2E"/>
                </a:solidFill>
              </a:rPr>
              <a:t>Code: for i in range(5): print("Hello! Message number", i)</a:t>
            </a:r>
            <a:endParaRPr lang="en-US" sz="1400" dirty="0"/>
          </a:p>
        </p:txBody>
      </p:sp>
      <p:sp>
        <p:nvSpPr>
          <p:cNvPr id="5" name="Shape 3"/>
          <p:cNvSpPr/>
          <p:nvPr/>
        </p:nvSpPr>
        <p:spPr>
          <a:xfrm>
            <a:off x="274320" y="1600200"/>
            <a:ext cx="11887200" cy="832104"/>
          </a:xfrm>
          <a:prstGeom prst="rect">
            <a:avLst/>
          </a:prstGeom>
          <a:solidFill>
            <a:srgbClr val="1E2D40"/>
          </a:solidFill>
          <a:ln w="12700">
            <a:solidFill>
              <a:srgbClr val="2A4060"/>
            </a:solidFill>
            <a:prstDash val="solid"/>
          </a:ln>
        </p:spPr>
        <p:txBody>
          <a:bodyPr/>
          <a:lstStyle/>
          <a:p>
            <a:endParaRPr lang="en-US"/>
          </a:p>
        </p:txBody>
      </p:sp>
      <p:sp>
        <p:nvSpPr>
          <p:cNvPr id="6" name="Text 4"/>
          <p:cNvSpPr txBox="1"/>
          <p:nvPr/>
        </p:nvSpPr>
        <p:spPr>
          <a:xfrm>
            <a:off x="365760" y="1645920"/>
            <a:ext cx="5120640" cy="694944"/>
          </a:xfrm>
          <a:prstGeom prst="rect">
            <a:avLst/>
          </a:prstGeom>
          <a:noFill/>
          <a:ln/>
        </p:spPr>
        <p:txBody>
          <a:bodyPr wrap="square" rtlCol="0" anchor="ctr"/>
          <a:lstStyle/>
          <a:p>
            <a:pPr marL="0" indent="0">
              <a:buNone/>
            </a:pPr>
            <a:r>
              <a:rPr lang="en-US" sz="1200" dirty="0">
                <a:solidFill>
                  <a:srgbClr val="E8F4FD"/>
                </a:solidFill>
                <a:latin typeface="Courier New" pitchFamily="34" charset="0"/>
                <a:ea typeface="Courier New" pitchFamily="34" charset="-122"/>
                <a:cs typeface="Courier New" pitchFamily="34" charset="-120"/>
              </a:rPr>
              <a:t>for i in range(5):</a:t>
            </a:r>
            <a:endParaRPr lang="en-US" sz="1200" dirty="0"/>
          </a:p>
          <a:p>
            <a:pPr marL="0" indent="0">
              <a:buNone/>
            </a:pPr>
            <a:r>
              <a:rPr lang="en-US" sz="1200" dirty="0">
                <a:solidFill>
                  <a:srgbClr val="E8F4FD"/>
                </a:solidFill>
                <a:latin typeface="Courier New" pitchFamily="34" charset="0"/>
                <a:ea typeface="Courier New" pitchFamily="34" charset="-122"/>
                <a:cs typeface="Courier New" pitchFamily="34" charset="-120"/>
              </a:rPr>
              <a:t>    print("Hello! Message number", i)</a:t>
            </a:r>
            <a:endParaRPr lang="en-US" sz="1200" dirty="0"/>
          </a:p>
        </p:txBody>
      </p:sp>
      <p:graphicFrame>
        <p:nvGraphicFramePr>
          <p:cNvPr id="44" name="Table 0"/>
          <p:cNvGraphicFramePr>
            <a:graphicFrameLocks noGrp="1"/>
          </p:cNvGraphicFramePr>
          <p:nvPr>
            <p:extLst>
              <p:ext uri="{D42A27DB-BD31-4B8C-83A1-F6EECF244321}">
                <p14:modId xmlns:p14="http://schemas.microsoft.com/office/powerpoint/2010/main" val="3389089307"/>
              </p:ext>
            </p:extLst>
          </p:nvPr>
        </p:nvGraphicFramePr>
        <p:xfrm>
          <a:off x="1840700" y="2631279"/>
          <a:ext cx="8361750" cy="3707706"/>
        </p:xfrm>
        <a:graphic>
          <a:graphicData uri="http://schemas.openxmlformats.org/drawingml/2006/table">
            <a:tbl>
              <a:tblPr/>
              <a:tblGrid>
                <a:gridCol w="2787250">
                  <a:extLst>
                    <a:ext uri="{9D8B030D-6E8A-4147-A177-3AD203B41FA5}">
                      <a16:colId xmlns:a16="http://schemas.microsoft.com/office/drawing/2014/main" val="20000"/>
                    </a:ext>
                  </a:extLst>
                </a:gridCol>
                <a:gridCol w="2787250">
                  <a:extLst>
                    <a:ext uri="{9D8B030D-6E8A-4147-A177-3AD203B41FA5}">
                      <a16:colId xmlns:a16="http://schemas.microsoft.com/office/drawing/2014/main" val="20001"/>
                    </a:ext>
                  </a:extLst>
                </a:gridCol>
                <a:gridCol w="2787250">
                  <a:extLst>
                    <a:ext uri="{9D8B030D-6E8A-4147-A177-3AD203B41FA5}">
                      <a16:colId xmlns:a16="http://schemas.microsoft.com/office/drawing/2014/main" val="20002"/>
                    </a:ext>
                  </a:extLst>
                </a:gridCol>
              </a:tblGrid>
              <a:tr h="617951">
                <a:tc>
                  <a:txBody>
                    <a:bodyPr/>
                    <a:lstStyle/>
                    <a:p>
                      <a:pPr marL="0" indent="0">
                        <a:buNone/>
                      </a:pPr>
                      <a:r>
                        <a:rPr lang="en-US" sz="1200" b="1" dirty="0">
                          <a:solidFill>
                            <a:srgbClr val="FFFFFF"/>
                          </a:solidFill>
                        </a:rPr>
                        <a:t>Iteration</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03767"/>
                    </a:solidFill>
                  </a:tcPr>
                </a:tc>
                <a:tc>
                  <a:txBody>
                    <a:bodyPr/>
                    <a:lstStyle/>
                    <a:p>
                      <a:pPr marL="0" indent="0">
                        <a:buNone/>
                      </a:pPr>
                      <a:r>
                        <a:rPr lang="en-US" sz="1200" b="1" dirty="0">
                          <a:solidFill>
                            <a:srgbClr val="FFFFFF"/>
                          </a:solidFill>
                        </a:rPr>
                        <a:t>Value of i</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03767"/>
                    </a:solidFill>
                  </a:tcPr>
                </a:tc>
                <a:tc>
                  <a:txBody>
                    <a:bodyPr/>
                    <a:lstStyle/>
                    <a:p>
                      <a:pPr marL="0" indent="0">
                        <a:buNone/>
                      </a:pPr>
                      <a:r>
                        <a:rPr lang="en-US" sz="1200" b="1" dirty="0">
                          <a:solidFill>
                            <a:srgbClr val="FFFFFF"/>
                          </a:solidFill>
                        </a:rPr>
                        <a:t>Output printed</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03767"/>
                    </a:solidFill>
                  </a:tcPr>
                </a:tc>
                <a:extLst>
                  <a:ext uri="{0D108BD9-81ED-4DB2-BD59-A6C34878D82A}">
                    <a16:rowId xmlns:a16="http://schemas.microsoft.com/office/drawing/2014/main" val="10000"/>
                  </a:ext>
                </a:extLst>
              </a:tr>
              <a:tr h="617951">
                <a:tc>
                  <a:txBody>
                    <a:bodyPr/>
                    <a:lstStyle/>
                    <a:p>
                      <a:pPr marL="0" indent="0">
                        <a:buNone/>
                      </a:pPr>
                      <a:r>
                        <a:rPr lang="en-US" sz="1200" dirty="0">
                          <a:solidFill>
                            <a:srgbClr val="1A1A2E"/>
                          </a:solidFill>
                        </a:rPr>
                        <a:t>1st</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BBBBBB"/>
                          </a:solidFill>
                        </a:rPr>
                        <a:t>?</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tc>
                  <a:txBody>
                    <a:bodyPr/>
                    <a:lstStyle/>
                    <a:p>
                      <a:pPr marL="0" indent="0">
                        <a:buNone/>
                      </a:pPr>
                      <a:r>
                        <a:rPr lang="en-US" sz="1200" dirty="0">
                          <a:solidFill>
                            <a:srgbClr val="BBBBBB"/>
                          </a:solidFill>
                        </a:rPr>
                        <a:t>?</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extLst>
                  <a:ext uri="{0D108BD9-81ED-4DB2-BD59-A6C34878D82A}">
                    <a16:rowId xmlns:a16="http://schemas.microsoft.com/office/drawing/2014/main" val="10001"/>
                  </a:ext>
                </a:extLst>
              </a:tr>
              <a:tr h="617951">
                <a:tc>
                  <a:txBody>
                    <a:bodyPr/>
                    <a:lstStyle/>
                    <a:p>
                      <a:pPr marL="0" indent="0">
                        <a:buNone/>
                      </a:pPr>
                      <a:r>
                        <a:rPr lang="en-US" sz="1200" dirty="0">
                          <a:solidFill>
                            <a:srgbClr val="1A1A2E"/>
                          </a:solidFill>
                        </a:rPr>
                        <a:t>2nd</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BBBBBB"/>
                          </a:solidFill>
                        </a:rPr>
                        <a:t>?</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tc>
                  <a:txBody>
                    <a:bodyPr/>
                    <a:lstStyle/>
                    <a:p>
                      <a:pPr marL="0" indent="0">
                        <a:buNone/>
                      </a:pPr>
                      <a:r>
                        <a:rPr lang="en-US" sz="1200" dirty="0">
                          <a:solidFill>
                            <a:srgbClr val="BBBBBB"/>
                          </a:solidFill>
                        </a:rPr>
                        <a:t>?</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617951">
                <a:tc>
                  <a:txBody>
                    <a:bodyPr/>
                    <a:lstStyle/>
                    <a:p>
                      <a:pPr marL="0" indent="0">
                        <a:buNone/>
                      </a:pPr>
                      <a:r>
                        <a:rPr lang="en-US" sz="1200" dirty="0">
                          <a:solidFill>
                            <a:srgbClr val="1A1A2E"/>
                          </a:solidFill>
                        </a:rPr>
                        <a:t>3rd</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BBBBBB"/>
                          </a:solidFill>
                        </a:rPr>
                        <a:t>?</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tc>
                  <a:txBody>
                    <a:bodyPr/>
                    <a:lstStyle/>
                    <a:p>
                      <a:pPr marL="0" indent="0">
                        <a:buNone/>
                      </a:pPr>
                      <a:r>
                        <a:rPr lang="en-US" sz="1200" dirty="0">
                          <a:solidFill>
                            <a:srgbClr val="BBBBBB"/>
                          </a:solidFill>
                        </a:rPr>
                        <a:t>?</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extLst>
                  <a:ext uri="{0D108BD9-81ED-4DB2-BD59-A6C34878D82A}">
                    <a16:rowId xmlns:a16="http://schemas.microsoft.com/office/drawing/2014/main" val="10003"/>
                  </a:ext>
                </a:extLst>
              </a:tr>
              <a:tr h="617951">
                <a:tc>
                  <a:txBody>
                    <a:bodyPr/>
                    <a:lstStyle/>
                    <a:p>
                      <a:pPr marL="0" indent="0">
                        <a:buNone/>
                      </a:pPr>
                      <a:r>
                        <a:rPr lang="en-US" sz="1200" dirty="0">
                          <a:solidFill>
                            <a:srgbClr val="1A1A2E"/>
                          </a:solidFill>
                        </a:rPr>
                        <a:t>4th</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BBBBBB"/>
                          </a:solidFill>
                        </a:rPr>
                        <a:t>?</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tc>
                  <a:txBody>
                    <a:bodyPr/>
                    <a:lstStyle/>
                    <a:p>
                      <a:pPr marL="0" indent="0">
                        <a:buNone/>
                      </a:pPr>
                      <a:r>
                        <a:rPr lang="en-US" sz="1200" dirty="0">
                          <a:solidFill>
                            <a:srgbClr val="BBBBBB"/>
                          </a:solidFill>
                        </a:rPr>
                        <a:t>?</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r h="617951">
                <a:tc>
                  <a:txBody>
                    <a:bodyPr/>
                    <a:lstStyle/>
                    <a:p>
                      <a:pPr marL="0" indent="0">
                        <a:buNone/>
                      </a:pPr>
                      <a:r>
                        <a:rPr lang="en-US" sz="1200" dirty="0">
                          <a:solidFill>
                            <a:srgbClr val="1A1A2E"/>
                          </a:solidFill>
                        </a:rPr>
                        <a:t>5th</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BBBBBB"/>
                          </a:solidFill>
                        </a:rPr>
                        <a:t>?</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tc>
                  <a:txBody>
                    <a:bodyPr/>
                    <a:lstStyle/>
                    <a:p>
                      <a:pPr marL="0" indent="0">
                        <a:buNone/>
                      </a:pPr>
                      <a:r>
                        <a:rPr lang="en-US" sz="1200" dirty="0">
                          <a:solidFill>
                            <a:srgbClr val="BBBBBB"/>
                          </a:solidFill>
                        </a:rPr>
                        <a:t>?</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extLst>
                  <a:ext uri="{0D108BD9-81ED-4DB2-BD59-A6C34878D82A}">
                    <a16:rowId xmlns:a16="http://schemas.microsoft.com/office/drawing/2014/main" val="10005"/>
                  </a:ext>
                </a:extLst>
              </a:tr>
            </a:tbl>
          </a:graphicData>
        </a:graphic>
      </p:graphicFrame>
      <p:sp>
        <p:nvSpPr>
          <p:cNvPr id="8" name="Text 5"/>
          <p:cNvSpPr txBox="1"/>
          <p:nvPr/>
        </p:nvSpPr>
        <p:spPr>
          <a:xfrm>
            <a:off x="274320" y="6537960"/>
            <a:ext cx="11612880" cy="274320"/>
          </a:xfrm>
          <a:prstGeom prst="rect">
            <a:avLst/>
          </a:prstGeom>
          <a:noFill/>
          <a:ln/>
        </p:spPr>
        <p:txBody>
          <a:bodyPr wrap="square" rtlCol="0" anchor="ctr"/>
          <a:lstStyle/>
          <a:p>
            <a:pPr marL="0" indent="0" algn="r">
              <a:buNone/>
            </a:pPr>
            <a:r>
              <a:rPr lang="en-US" sz="1100" dirty="0">
                <a:solidFill>
                  <a:srgbClr val="888888"/>
                </a:solidFill>
              </a:rPr>
              <a:t>CSE 120 · Module 1  ·  Try it first — answer on next slide</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0FFF4"/>
        </a:solidFill>
        <a:effectLst/>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2D6A4F"/>
          </a:solidFill>
          <a:ln w="12700">
            <a:solidFill>
              <a:srgbClr val="2D6A4F"/>
            </a:solidFill>
            <a:prstDash val="solid"/>
          </a:ln>
        </p:spPr>
        <p:txBody>
          <a:bodyPr/>
          <a:lstStyle/>
          <a:p>
            <a:endParaRPr lang="en-US"/>
          </a:p>
        </p:txBody>
      </p:sp>
      <p:sp>
        <p:nvSpPr>
          <p:cNvPr id="3" name="Text 1"/>
          <p:cNvSpPr txBox="1"/>
          <p:nvPr/>
        </p:nvSpPr>
        <p:spPr>
          <a:xfrm>
            <a:off x="274320" y="91440"/>
            <a:ext cx="11612880" cy="777240"/>
          </a:xfrm>
          <a:prstGeom prst="rect">
            <a:avLst/>
          </a:prstGeom>
          <a:noFill/>
          <a:ln/>
        </p:spPr>
        <p:txBody>
          <a:bodyPr wrap="square" rtlCol="0" anchor="ctr"/>
          <a:lstStyle/>
          <a:p>
            <a:pPr marL="0" indent="0">
              <a:buNone/>
            </a:pPr>
            <a:r>
              <a:rPr lang="en-US" sz="2200" b="1" dirty="0">
                <a:solidFill>
                  <a:srgbClr val="FFFFFF"/>
                </a:solidFill>
              </a:rPr>
              <a:t>✅  Answer — for Example 1 — Counting Up</a:t>
            </a:r>
            <a:endParaRPr lang="en-US" sz="2200" dirty="0"/>
          </a:p>
        </p:txBody>
      </p:sp>
      <p:sp>
        <p:nvSpPr>
          <p:cNvPr id="4" name="Shape 2"/>
          <p:cNvSpPr/>
          <p:nvPr/>
        </p:nvSpPr>
        <p:spPr>
          <a:xfrm>
            <a:off x="274320" y="1051560"/>
            <a:ext cx="11917680" cy="832104"/>
          </a:xfrm>
          <a:prstGeom prst="rect">
            <a:avLst/>
          </a:prstGeom>
          <a:solidFill>
            <a:srgbClr val="1E2D40"/>
          </a:solidFill>
          <a:ln w="12700">
            <a:solidFill>
              <a:srgbClr val="2A4060"/>
            </a:solidFill>
            <a:prstDash val="solid"/>
          </a:ln>
        </p:spPr>
        <p:txBody>
          <a:bodyPr/>
          <a:lstStyle/>
          <a:p>
            <a:endParaRPr lang="en-US"/>
          </a:p>
        </p:txBody>
      </p:sp>
      <p:sp>
        <p:nvSpPr>
          <p:cNvPr id="5" name="Text 3"/>
          <p:cNvSpPr txBox="1"/>
          <p:nvPr/>
        </p:nvSpPr>
        <p:spPr>
          <a:xfrm>
            <a:off x="365760" y="1097280"/>
            <a:ext cx="5120640" cy="694944"/>
          </a:xfrm>
          <a:prstGeom prst="rect">
            <a:avLst/>
          </a:prstGeom>
          <a:noFill/>
          <a:ln/>
        </p:spPr>
        <p:txBody>
          <a:bodyPr wrap="square" rtlCol="0" anchor="ctr"/>
          <a:lstStyle/>
          <a:p>
            <a:pPr marL="0" indent="0">
              <a:buNone/>
            </a:pPr>
            <a:r>
              <a:rPr lang="en-US" sz="1200" dirty="0">
                <a:solidFill>
                  <a:srgbClr val="E8F4FD"/>
                </a:solidFill>
                <a:latin typeface="Courier New" pitchFamily="34" charset="0"/>
                <a:ea typeface="Courier New" pitchFamily="34" charset="-122"/>
                <a:cs typeface="Courier New" pitchFamily="34" charset="-120"/>
              </a:rPr>
              <a:t>for i in range(5):</a:t>
            </a:r>
            <a:endParaRPr lang="en-US" sz="1200" dirty="0"/>
          </a:p>
          <a:p>
            <a:pPr marL="0" indent="0">
              <a:buNone/>
            </a:pPr>
            <a:r>
              <a:rPr lang="en-US" sz="1200" dirty="0">
                <a:solidFill>
                  <a:srgbClr val="E8F4FD"/>
                </a:solidFill>
                <a:latin typeface="Courier New" pitchFamily="34" charset="0"/>
                <a:ea typeface="Courier New" pitchFamily="34" charset="-122"/>
                <a:cs typeface="Courier New" pitchFamily="34" charset="-120"/>
              </a:rPr>
              <a:t>    print("Hello! Message number", i)</a:t>
            </a:r>
            <a:endParaRPr lang="en-US" sz="1200" dirty="0"/>
          </a:p>
        </p:txBody>
      </p:sp>
      <p:graphicFrame>
        <p:nvGraphicFramePr>
          <p:cNvPr id="45" name="Table 0"/>
          <p:cNvGraphicFramePr>
            <a:graphicFrameLocks noGrp="1"/>
          </p:cNvGraphicFramePr>
          <p:nvPr>
            <p:extLst>
              <p:ext uri="{D42A27DB-BD31-4B8C-83A1-F6EECF244321}">
                <p14:modId xmlns:p14="http://schemas.microsoft.com/office/powerpoint/2010/main" val="871984546"/>
              </p:ext>
            </p:extLst>
          </p:nvPr>
        </p:nvGraphicFramePr>
        <p:xfrm>
          <a:off x="2859900" y="2092098"/>
          <a:ext cx="5989737" cy="4099020"/>
        </p:xfrm>
        <a:graphic>
          <a:graphicData uri="http://schemas.openxmlformats.org/drawingml/2006/table">
            <a:tbl>
              <a:tblPr/>
              <a:tblGrid>
                <a:gridCol w="1996579">
                  <a:extLst>
                    <a:ext uri="{9D8B030D-6E8A-4147-A177-3AD203B41FA5}">
                      <a16:colId xmlns:a16="http://schemas.microsoft.com/office/drawing/2014/main" val="20000"/>
                    </a:ext>
                  </a:extLst>
                </a:gridCol>
                <a:gridCol w="1996579">
                  <a:extLst>
                    <a:ext uri="{9D8B030D-6E8A-4147-A177-3AD203B41FA5}">
                      <a16:colId xmlns:a16="http://schemas.microsoft.com/office/drawing/2014/main" val="20001"/>
                    </a:ext>
                  </a:extLst>
                </a:gridCol>
                <a:gridCol w="1996579">
                  <a:extLst>
                    <a:ext uri="{9D8B030D-6E8A-4147-A177-3AD203B41FA5}">
                      <a16:colId xmlns:a16="http://schemas.microsoft.com/office/drawing/2014/main" val="20002"/>
                    </a:ext>
                  </a:extLst>
                </a:gridCol>
              </a:tblGrid>
              <a:tr h="683170">
                <a:tc>
                  <a:txBody>
                    <a:bodyPr/>
                    <a:lstStyle/>
                    <a:p>
                      <a:pPr marL="0" indent="0">
                        <a:buNone/>
                      </a:pPr>
                      <a:r>
                        <a:rPr lang="en-US" sz="1200" b="1" dirty="0">
                          <a:solidFill>
                            <a:srgbClr val="FFFFFF"/>
                          </a:solidFill>
                        </a:rPr>
                        <a:t>Iteration</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2D6A4F"/>
                    </a:solidFill>
                  </a:tcPr>
                </a:tc>
                <a:tc>
                  <a:txBody>
                    <a:bodyPr/>
                    <a:lstStyle/>
                    <a:p>
                      <a:pPr marL="0" indent="0">
                        <a:buNone/>
                      </a:pPr>
                      <a:r>
                        <a:rPr lang="en-US" sz="1200" b="1" dirty="0">
                          <a:solidFill>
                            <a:srgbClr val="FFFFFF"/>
                          </a:solidFill>
                        </a:rPr>
                        <a:t>Value of i</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2D6A4F"/>
                    </a:solidFill>
                  </a:tcPr>
                </a:tc>
                <a:tc>
                  <a:txBody>
                    <a:bodyPr/>
                    <a:lstStyle/>
                    <a:p>
                      <a:pPr marL="0" indent="0">
                        <a:buNone/>
                      </a:pPr>
                      <a:r>
                        <a:rPr lang="en-US" sz="1200" b="1" dirty="0">
                          <a:solidFill>
                            <a:srgbClr val="FFFFFF"/>
                          </a:solidFill>
                        </a:rPr>
                        <a:t>Output printed</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2D6A4F"/>
                    </a:solidFill>
                  </a:tcPr>
                </a:tc>
                <a:extLst>
                  <a:ext uri="{0D108BD9-81ED-4DB2-BD59-A6C34878D82A}">
                    <a16:rowId xmlns:a16="http://schemas.microsoft.com/office/drawing/2014/main" val="10000"/>
                  </a:ext>
                </a:extLst>
              </a:tr>
              <a:tr h="683170">
                <a:tc>
                  <a:txBody>
                    <a:bodyPr/>
                    <a:lstStyle/>
                    <a:p>
                      <a:pPr marL="0" indent="0">
                        <a:buNone/>
                      </a:pPr>
                      <a:r>
                        <a:rPr lang="en-US" sz="1200" dirty="0">
                          <a:solidFill>
                            <a:srgbClr val="1A1A2E"/>
                          </a:solidFill>
                        </a:rPr>
                        <a:t>1st</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rPr>
                        <a:t>0</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rPr>
                        <a:t>Hello! Message number 0</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3170">
                <a:tc>
                  <a:txBody>
                    <a:bodyPr/>
                    <a:lstStyle/>
                    <a:p>
                      <a:pPr marL="0" indent="0">
                        <a:buNone/>
                      </a:pPr>
                      <a:r>
                        <a:rPr lang="en-US" sz="1200" dirty="0">
                          <a:solidFill>
                            <a:srgbClr val="1A1A2E"/>
                          </a:solidFill>
                        </a:rPr>
                        <a:t>2nd</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rPr>
                        <a:t>1</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rPr>
                        <a:t>Hello! Message number 1</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83170">
                <a:tc>
                  <a:txBody>
                    <a:bodyPr/>
                    <a:lstStyle/>
                    <a:p>
                      <a:pPr marL="0" indent="0">
                        <a:buNone/>
                      </a:pPr>
                      <a:r>
                        <a:rPr lang="en-US" sz="1200" dirty="0">
                          <a:solidFill>
                            <a:srgbClr val="1A1A2E"/>
                          </a:solidFill>
                        </a:rPr>
                        <a:t>3rd</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rPr>
                        <a:t>2</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rPr>
                        <a:t>Hello! Message number 2</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83170">
                <a:tc>
                  <a:txBody>
                    <a:bodyPr/>
                    <a:lstStyle/>
                    <a:p>
                      <a:pPr marL="0" indent="0">
                        <a:buNone/>
                      </a:pPr>
                      <a:r>
                        <a:rPr lang="en-US" sz="1200" dirty="0">
                          <a:solidFill>
                            <a:srgbClr val="1A1A2E"/>
                          </a:solidFill>
                        </a:rPr>
                        <a:t>4th</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rPr>
                        <a:t>3</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rPr>
                        <a:t>Hello! Message number 3</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83170">
                <a:tc>
                  <a:txBody>
                    <a:bodyPr/>
                    <a:lstStyle/>
                    <a:p>
                      <a:pPr marL="0" indent="0">
                        <a:buNone/>
                      </a:pPr>
                      <a:r>
                        <a:rPr lang="en-US" sz="1200" dirty="0">
                          <a:solidFill>
                            <a:srgbClr val="1A1A2E"/>
                          </a:solidFill>
                        </a:rPr>
                        <a:t>5th</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rPr>
                        <a:t>4</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rPr>
                        <a:t>Hello! Message number 4</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Text 4"/>
          <p:cNvSpPr txBox="1"/>
          <p:nvPr/>
        </p:nvSpPr>
        <p:spPr>
          <a:xfrm>
            <a:off x="274320" y="6537960"/>
            <a:ext cx="11612880" cy="274320"/>
          </a:xfrm>
          <a:prstGeom prst="rect">
            <a:avLst/>
          </a:prstGeom>
          <a:noFill/>
          <a:ln/>
        </p:spPr>
        <p:txBody>
          <a:bodyPr wrap="square" rtlCol="0" anchor="ctr"/>
          <a:lstStyle/>
          <a:p>
            <a:pPr marL="0" indent="0" algn="r">
              <a:buNone/>
            </a:pPr>
            <a:r>
              <a:rPr lang="en-US" sz="1100" dirty="0">
                <a:solidFill>
                  <a:srgbClr val="888888"/>
                </a:solidFill>
              </a:rPr>
              <a:t>CSE 120 · Module 1</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822960"/>
          </a:xfrm>
          <a:prstGeom prst="rect">
            <a:avLst/>
          </a:prstGeom>
          <a:solidFill>
            <a:srgbClr val="003767"/>
          </a:solidFill>
          <a:ln w="12700">
            <a:solidFill>
              <a:srgbClr val="003767"/>
            </a:solidFill>
            <a:prstDash val="solid"/>
          </a:ln>
        </p:spPr>
        <p:txBody>
          <a:bodyPr/>
          <a:lstStyle/>
          <a:p>
            <a:endParaRPr lang="en-US"/>
          </a:p>
        </p:txBody>
      </p:sp>
      <p:sp>
        <p:nvSpPr>
          <p:cNvPr id="3" name="Text 1"/>
          <p:cNvSpPr txBox="1"/>
          <p:nvPr/>
        </p:nvSpPr>
        <p:spPr>
          <a:xfrm>
            <a:off x="274320" y="73152"/>
            <a:ext cx="11612880" cy="685800"/>
          </a:xfrm>
          <a:prstGeom prst="rect">
            <a:avLst/>
          </a:prstGeom>
          <a:noFill/>
          <a:ln/>
        </p:spPr>
        <p:txBody>
          <a:bodyPr wrap="square" rtlCol="0" anchor="ctr"/>
          <a:lstStyle/>
          <a:p>
            <a:pPr marL="0" indent="0">
              <a:buNone/>
            </a:pPr>
            <a:r>
              <a:rPr lang="en-US" sz="2000" b="1" dirty="0">
                <a:solidFill>
                  <a:srgbClr val="FFFFFF"/>
                </a:solidFill>
              </a:rPr>
              <a:t>for Example 2 — Times Table</a:t>
            </a:r>
            <a:endParaRPr lang="en-US" sz="2000" dirty="0"/>
          </a:p>
        </p:txBody>
      </p:sp>
      <p:sp>
        <p:nvSpPr>
          <p:cNvPr id="4" name="Shape 2"/>
          <p:cNvSpPr/>
          <p:nvPr/>
        </p:nvSpPr>
        <p:spPr>
          <a:xfrm>
            <a:off x="274320" y="914400"/>
            <a:ext cx="6400800" cy="5394960"/>
          </a:xfrm>
          <a:prstGeom prst="rect">
            <a:avLst/>
          </a:prstGeom>
          <a:solidFill>
            <a:srgbClr val="1E2D40"/>
          </a:solidFill>
          <a:ln w="12700">
            <a:solidFill>
              <a:srgbClr val="2A4060"/>
            </a:solidFill>
            <a:prstDash val="solid"/>
          </a:ln>
        </p:spPr>
        <p:txBody>
          <a:bodyPr/>
          <a:lstStyle/>
          <a:p>
            <a:endParaRPr lang="en-US"/>
          </a:p>
        </p:txBody>
      </p:sp>
      <p:sp>
        <p:nvSpPr>
          <p:cNvPr id="5" name="Text 3"/>
          <p:cNvSpPr txBox="1"/>
          <p:nvPr/>
        </p:nvSpPr>
        <p:spPr>
          <a:xfrm>
            <a:off x="365760" y="960120"/>
            <a:ext cx="6217920" cy="320040"/>
          </a:xfrm>
          <a:prstGeom prst="rect">
            <a:avLst/>
          </a:prstGeom>
          <a:noFill/>
          <a:ln/>
        </p:spPr>
        <p:txBody>
          <a:bodyPr wrap="square" rtlCol="0" anchor="ctr"/>
          <a:lstStyle/>
          <a:p>
            <a:pPr marL="0" indent="0">
              <a:buNone/>
            </a:pPr>
            <a:r>
              <a:rPr lang="en-US" sz="1100" b="1" dirty="0">
                <a:solidFill>
                  <a:srgbClr val="88AACC"/>
                </a:solidFill>
              </a:rPr>
              <a:t>python</a:t>
            </a:r>
            <a:endParaRPr lang="en-US" sz="1100" dirty="0"/>
          </a:p>
        </p:txBody>
      </p:sp>
      <p:sp>
        <p:nvSpPr>
          <p:cNvPr id="6" name="Text 4"/>
          <p:cNvSpPr txBox="1"/>
          <p:nvPr/>
        </p:nvSpPr>
        <p:spPr>
          <a:xfrm>
            <a:off x="365760" y="1325880"/>
            <a:ext cx="6217920" cy="4846320"/>
          </a:xfrm>
          <a:prstGeom prst="rect">
            <a:avLst/>
          </a:prstGeom>
          <a:noFill/>
          <a:ln/>
        </p:spPr>
        <p:txBody>
          <a:bodyPr wrap="square" rtlCol="0" anchor="t"/>
          <a:lstStyle/>
          <a:p>
            <a:pPr marL="0" indent="0">
              <a:buNone/>
            </a:pPr>
            <a:r>
              <a:rPr lang="en-US" sz="1300" dirty="0">
                <a:solidFill>
                  <a:srgbClr val="E8F4FD"/>
                </a:solidFill>
                <a:latin typeface="Courier New" pitchFamily="34" charset="0"/>
                <a:ea typeface="Courier New" pitchFamily="34" charset="-122"/>
                <a:cs typeface="Courier New" pitchFamily="34" charset="-120"/>
              </a:rPr>
              <a:t>for i in range(1, 11):</a:t>
            </a:r>
            <a:endParaRPr lang="en-US" sz="1300" dirty="0"/>
          </a:p>
          <a:p>
            <a:pPr marL="0" indent="0">
              <a:buNone/>
            </a:pPr>
            <a:r>
              <a:rPr lang="en-US" sz="1300" dirty="0">
                <a:solidFill>
                  <a:srgbClr val="E8F4FD"/>
                </a:solidFill>
                <a:latin typeface="Courier New" pitchFamily="34" charset="0"/>
                <a:ea typeface="Courier New" pitchFamily="34" charset="-122"/>
                <a:cs typeface="Courier New" pitchFamily="34" charset="-120"/>
              </a:rPr>
              <a:t>    print(3, "x", i, "=", 3 * i)</a:t>
            </a:r>
            <a:endParaRPr lang="en-US" sz="1300" dirty="0"/>
          </a:p>
        </p:txBody>
      </p:sp>
      <p:sp>
        <p:nvSpPr>
          <p:cNvPr id="7" name="Text 5"/>
          <p:cNvSpPr txBox="1"/>
          <p:nvPr/>
        </p:nvSpPr>
        <p:spPr>
          <a:xfrm>
            <a:off x="6949440" y="914400"/>
            <a:ext cx="4937760" cy="5394960"/>
          </a:xfrm>
          <a:prstGeom prst="rect">
            <a:avLst/>
          </a:prstGeom>
          <a:noFill/>
          <a:ln/>
        </p:spPr>
        <p:txBody>
          <a:bodyPr wrap="square" rtlCol="0" anchor="t"/>
          <a:lstStyle/>
          <a:p>
            <a:pPr marL="342900" indent="-342900">
              <a:spcAft>
                <a:spcPts val="800"/>
              </a:spcAft>
              <a:buSzPct val="100000"/>
              <a:buChar char="•"/>
            </a:pPr>
            <a:r>
              <a:rPr lang="en-US" sz="1400" dirty="0">
                <a:solidFill>
                  <a:srgbClr val="1A1A2E"/>
                </a:solidFill>
              </a:rPr>
              <a:t>We use range(1, 11) to get 1 through 10</a:t>
            </a:r>
            <a:endParaRPr lang="en-US" sz="1400" dirty="0"/>
          </a:p>
          <a:p>
            <a:pPr marL="342900" indent="-342900">
              <a:spcAft>
                <a:spcPts val="1600"/>
              </a:spcAft>
              <a:buSzPct val="100000"/>
              <a:buChar char="•"/>
            </a:pPr>
            <a:r>
              <a:rPr lang="en-US" sz="1400" dirty="0">
                <a:solidFill>
                  <a:srgbClr val="1A1A2E"/>
                </a:solidFill>
              </a:rPr>
              <a:t>range(11) would give 0–10 — we don't want 3 × 0</a:t>
            </a:r>
            <a:endParaRPr lang="en-US" sz="1400" dirty="0"/>
          </a:p>
          <a:p>
            <a:pPr marL="0" indent="0">
              <a:spcAft>
                <a:spcPts val="600"/>
              </a:spcAft>
              <a:buNone/>
            </a:pPr>
            <a:r>
              <a:rPr lang="en-US" sz="1400" b="1" dirty="0">
                <a:solidFill>
                  <a:srgbClr val="1A1A2E"/>
                </a:solidFill>
              </a:rPr>
              <a:t>First 3 lines of output:</a:t>
            </a:r>
            <a:endParaRPr lang="en-US" sz="1400" dirty="0"/>
          </a:p>
          <a:p>
            <a:pPr marL="0" indent="0">
              <a:spcAft>
                <a:spcPts val="300"/>
              </a:spcAft>
              <a:buNone/>
            </a:pPr>
            <a:r>
              <a:rPr lang="en-US" sz="1500" dirty="0">
                <a:solidFill>
                  <a:srgbClr val="1E2D40"/>
                </a:solidFill>
              </a:rPr>
              <a:t>3 x 1 = 3</a:t>
            </a:r>
            <a:endParaRPr lang="en-US" sz="1400" dirty="0"/>
          </a:p>
          <a:p>
            <a:pPr marL="0" indent="0">
              <a:spcAft>
                <a:spcPts val="300"/>
              </a:spcAft>
              <a:buNone/>
            </a:pPr>
            <a:r>
              <a:rPr lang="en-US" sz="1500" dirty="0">
                <a:solidFill>
                  <a:srgbClr val="1E2D40"/>
                </a:solidFill>
              </a:rPr>
              <a:t>3 x 2 = 6</a:t>
            </a:r>
            <a:endParaRPr lang="en-US" sz="1400" dirty="0"/>
          </a:p>
          <a:p>
            <a:pPr marL="0" indent="0">
              <a:spcAft>
                <a:spcPts val="1600"/>
              </a:spcAft>
              <a:buNone/>
            </a:pPr>
            <a:r>
              <a:rPr lang="en-US" sz="1500" dirty="0">
                <a:solidFill>
                  <a:srgbClr val="1E2D40"/>
                </a:solidFill>
              </a:rPr>
              <a:t>3 x 3 = 9   ...continues to 3 x 10 = 30</a:t>
            </a:r>
            <a:endParaRPr lang="en-US" sz="1400" dirty="0"/>
          </a:p>
          <a:p>
            <a:pPr marL="0" indent="0">
              <a:spcAft>
                <a:spcPts val="500"/>
              </a:spcAft>
              <a:buNone/>
            </a:pPr>
            <a:r>
              <a:rPr lang="en-US" sz="1400" b="1" dirty="0">
                <a:solidFill>
                  <a:srgbClr val="0E7490"/>
                </a:solidFill>
              </a:rPr>
              <a:t>🔧  Modify: change to print the 5 times table from 1 to 12</a:t>
            </a:r>
            <a:endParaRPr lang="en-US" sz="1400" dirty="0"/>
          </a:p>
        </p:txBody>
      </p:sp>
      <p:sp>
        <p:nvSpPr>
          <p:cNvPr id="8" name="Text 6"/>
          <p:cNvSpPr txBox="1"/>
          <p:nvPr/>
        </p:nvSpPr>
        <p:spPr>
          <a:xfrm>
            <a:off x="274320" y="6537960"/>
            <a:ext cx="11612880" cy="274320"/>
          </a:xfrm>
          <a:prstGeom prst="rect">
            <a:avLst/>
          </a:prstGeom>
          <a:noFill/>
          <a:ln/>
        </p:spPr>
        <p:txBody>
          <a:bodyPr wrap="square" rtlCol="0" anchor="ctr"/>
          <a:lstStyle/>
          <a:p>
            <a:pPr marL="0" indent="0" algn="r">
              <a:buNone/>
            </a:pPr>
            <a:r>
              <a:rPr lang="en-US" sz="1100" dirty="0">
                <a:solidFill>
                  <a:srgbClr val="999999"/>
                </a:solidFill>
              </a:rPr>
              <a:t>CSE 120 · Module 1</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AF5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4C1D95"/>
          </a:solidFill>
          <a:ln w="12700">
            <a:solidFill>
              <a:srgbClr val="4C1D95"/>
            </a:solidFill>
            <a:prstDash val="solid"/>
          </a:ln>
        </p:spPr>
        <p:txBody>
          <a:bodyPr/>
          <a:lstStyle/>
          <a:p>
            <a:endParaRPr lang="en-US"/>
          </a:p>
        </p:txBody>
      </p:sp>
      <p:sp>
        <p:nvSpPr>
          <p:cNvPr id="3" name="Text 1"/>
          <p:cNvSpPr txBox="1"/>
          <p:nvPr/>
        </p:nvSpPr>
        <p:spPr>
          <a:xfrm>
            <a:off x="274320" y="91440"/>
            <a:ext cx="11612880" cy="777240"/>
          </a:xfrm>
          <a:prstGeom prst="rect">
            <a:avLst/>
          </a:prstGeom>
          <a:noFill/>
          <a:ln/>
        </p:spPr>
        <p:txBody>
          <a:bodyPr wrap="square" rtlCol="0" anchor="ctr"/>
          <a:lstStyle/>
          <a:p>
            <a:pPr marL="0" indent="0">
              <a:buNone/>
            </a:pPr>
            <a:r>
              <a:rPr lang="en-US" sz="2200" b="1" dirty="0">
                <a:solidFill>
                  <a:srgbClr val="FFFFFF"/>
                </a:solidFill>
              </a:rPr>
              <a:t>🔍  Trace It — for Example 3 — Accumulating a Total</a:t>
            </a:r>
            <a:endParaRPr lang="en-US" sz="2200" dirty="0"/>
          </a:p>
        </p:txBody>
      </p:sp>
      <p:sp>
        <p:nvSpPr>
          <p:cNvPr id="4" name="Text 2"/>
          <p:cNvSpPr txBox="1"/>
          <p:nvPr/>
        </p:nvSpPr>
        <p:spPr>
          <a:xfrm>
            <a:off x="457200" y="1051560"/>
            <a:ext cx="11247120" cy="502920"/>
          </a:xfrm>
          <a:prstGeom prst="rect">
            <a:avLst/>
          </a:prstGeom>
          <a:noFill/>
          <a:ln/>
        </p:spPr>
        <p:txBody>
          <a:bodyPr wrap="square" rtlCol="0" anchor="ctr"/>
          <a:lstStyle/>
          <a:p>
            <a:pPr marL="0" indent="0">
              <a:buNone/>
            </a:pPr>
            <a:r>
              <a:rPr lang="en-US" sz="1400" dirty="0">
                <a:solidFill>
                  <a:srgbClr val="1A1A2E"/>
                </a:solidFill>
              </a:rPr>
              <a:t>total = 0 (before the loop). Each iteration adds i to total.</a:t>
            </a:r>
            <a:endParaRPr lang="en-US" sz="1400" dirty="0"/>
          </a:p>
        </p:txBody>
      </p:sp>
      <p:sp>
        <p:nvSpPr>
          <p:cNvPr id="5" name="Shape 3"/>
          <p:cNvSpPr/>
          <p:nvPr/>
        </p:nvSpPr>
        <p:spPr>
          <a:xfrm>
            <a:off x="274320" y="1600200"/>
            <a:ext cx="11887200" cy="1344168"/>
          </a:xfrm>
          <a:prstGeom prst="rect">
            <a:avLst/>
          </a:prstGeom>
          <a:solidFill>
            <a:srgbClr val="1E2D40"/>
          </a:solidFill>
          <a:ln w="12700">
            <a:solidFill>
              <a:srgbClr val="2A4060"/>
            </a:solidFill>
            <a:prstDash val="solid"/>
          </a:ln>
        </p:spPr>
        <p:txBody>
          <a:bodyPr/>
          <a:lstStyle/>
          <a:p>
            <a:endParaRPr lang="en-US"/>
          </a:p>
        </p:txBody>
      </p:sp>
      <p:sp>
        <p:nvSpPr>
          <p:cNvPr id="6" name="Text 4"/>
          <p:cNvSpPr txBox="1"/>
          <p:nvPr/>
        </p:nvSpPr>
        <p:spPr>
          <a:xfrm>
            <a:off x="365760" y="1645920"/>
            <a:ext cx="5120640" cy="1207008"/>
          </a:xfrm>
          <a:prstGeom prst="rect">
            <a:avLst/>
          </a:prstGeom>
          <a:noFill/>
          <a:ln/>
        </p:spPr>
        <p:txBody>
          <a:bodyPr wrap="square" rtlCol="0" anchor="ctr"/>
          <a:lstStyle/>
          <a:p>
            <a:pPr marL="0" indent="0">
              <a:buNone/>
            </a:pPr>
            <a:r>
              <a:rPr lang="en-US" sz="1200" dirty="0">
                <a:solidFill>
                  <a:srgbClr val="E8F4FD"/>
                </a:solidFill>
                <a:latin typeface="Courier New" pitchFamily="34" charset="0"/>
                <a:ea typeface="Courier New" pitchFamily="34" charset="-122"/>
                <a:cs typeface="Courier New" pitchFamily="34" charset="-120"/>
              </a:rPr>
              <a:t>total = 0</a:t>
            </a:r>
            <a:endParaRPr lang="en-US" sz="1200" dirty="0"/>
          </a:p>
          <a:p>
            <a:pPr marL="0" indent="0">
              <a:buNone/>
            </a:pPr>
            <a:r>
              <a:rPr lang="en-US" sz="1200" dirty="0">
                <a:solidFill>
                  <a:srgbClr val="E8F4FD"/>
                </a:solidFill>
                <a:latin typeface="Courier New" pitchFamily="34" charset="0"/>
                <a:ea typeface="Courier New" pitchFamily="34" charset="-122"/>
                <a:cs typeface="Courier New" pitchFamily="34" charset="-120"/>
              </a:rPr>
              <a:t>for i in range(1, 6):</a:t>
            </a:r>
            <a:endParaRPr lang="en-US" sz="1200" dirty="0"/>
          </a:p>
          <a:p>
            <a:pPr marL="0" indent="0">
              <a:buNone/>
            </a:pPr>
            <a:r>
              <a:rPr lang="en-US" sz="1200" dirty="0">
                <a:solidFill>
                  <a:srgbClr val="E8F4FD"/>
                </a:solidFill>
                <a:latin typeface="Courier New" pitchFamily="34" charset="0"/>
                <a:ea typeface="Courier New" pitchFamily="34" charset="-122"/>
                <a:cs typeface="Courier New" pitchFamily="34" charset="-120"/>
              </a:rPr>
              <a:t>    total = total + i</a:t>
            </a:r>
            <a:endParaRPr lang="en-US" sz="1200" dirty="0"/>
          </a:p>
          <a:p>
            <a:pPr marL="0" indent="0">
              <a:buNone/>
            </a:pPr>
            <a:r>
              <a:rPr lang="en-US" sz="1200" dirty="0">
                <a:solidFill>
                  <a:srgbClr val="E8F4FD"/>
                </a:solidFill>
                <a:latin typeface="Courier New" pitchFamily="34" charset="0"/>
                <a:ea typeface="Courier New" pitchFamily="34" charset="-122"/>
                <a:cs typeface="Courier New" pitchFamily="34" charset="-120"/>
              </a:rPr>
              <a:t>    print("After adding", i, ", total =", total)</a:t>
            </a:r>
            <a:endParaRPr lang="en-US" sz="1200" dirty="0"/>
          </a:p>
        </p:txBody>
      </p:sp>
      <p:graphicFrame>
        <p:nvGraphicFramePr>
          <p:cNvPr id="47" name="Table 0"/>
          <p:cNvGraphicFramePr>
            <a:graphicFrameLocks noGrp="1"/>
          </p:cNvGraphicFramePr>
          <p:nvPr>
            <p:extLst>
              <p:ext uri="{D42A27DB-BD31-4B8C-83A1-F6EECF244321}">
                <p14:modId xmlns:p14="http://schemas.microsoft.com/office/powerpoint/2010/main" val="2056508831"/>
              </p:ext>
            </p:extLst>
          </p:nvPr>
        </p:nvGraphicFramePr>
        <p:xfrm>
          <a:off x="2735684" y="3105328"/>
          <a:ext cx="6533577" cy="3502152"/>
        </p:xfrm>
        <a:graphic>
          <a:graphicData uri="http://schemas.openxmlformats.org/drawingml/2006/table">
            <a:tbl>
              <a:tblPr/>
              <a:tblGrid>
                <a:gridCol w="2177859">
                  <a:extLst>
                    <a:ext uri="{9D8B030D-6E8A-4147-A177-3AD203B41FA5}">
                      <a16:colId xmlns:a16="http://schemas.microsoft.com/office/drawing/2014/main" val="20000"/>
                    </a:ext>
                  </a:extLst>
                </a:gridCol>
                <a:gridCol w="2177859">
                  <a:extLst>
                    <a:ext uri="{9D8B030D-6E8A-4147-A177-3AD203B41FA5}">
                      <a16:colId xmlns:a16="http://schemas.microsoft.com/office/drawing/2014/main" val="20001"/>
                    </a:ext>
                  </a:extLst>
                </a:gridCol>
                <a:gridCol w="2177859">
                  <a:extLst>
                    <a:ext uri="{9D8B030D-6E8A-4147-A177-3AD203B41FA5}">
                      <a16:colId xmlns:a16="http://schemas.microsoft.com/office/drawing/2014/main" val="20002"/>
                    </a:ext>
                  </a:extLst>
                </a:gridCol>
              </a:tblGrid>
              <a:tr h="583692">
                <a:tc>
                  <a:txBody>
                    <a:bodyPr/>
                    <a:lstStyle/>
                    <a:p>
                      <a:pPr marL="0" indent="0">
                        <a:buNone/>
                      </a:pPr>
                      <a:r>
                        <a:rPr lang="en-US" sz="1200" b="1" dirty="0">
                          <a:solidFill>
                            <a:srgbClr val="FFFFFF"/>
                          </a:solidFill>
                        </a:rPr>
                        <a:t>i</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03767"/>
                    </a:solidFill>
                  </a:tcPr>
                </a:tc>
                <a:tc>
                  <a:txBody>
                    <a:bodyPr/>
                    <a:lstStyle/>
                    <a:p>
                      <a:pPr marL="0" indent="0">
                        <a:buNone/>
                      </a:pPr>
                      <a:r>
                        <a:rPr lang="en-US" sz="1200" b="1" dirty="0">
                          <a:solidFill>
                            <a:srgbClr val="FFFFFF"/>
                          </a:solidFill>
                        </a:rPr>
                        <a:t>total = total + i</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03767"/>
                    </a:solidFill>
                  </a:tcPr>
                </a:tc>
                <a:tc>
                  <a:txBody>
                    <a:bodyPr/>
                    <a:lstStyle/>
                    <a:p>
                      <a:pPr marL="0" indent="0">
                        <a:buNone/>
                      </a:pPr>
                      <a:r>
                        <a:rPr lang="en-US" sz="1200" b="1" dirty="0">
                          <a:solidFill>
                            <a:srgbClr val="FFFFFF"/>
                          </a:solidFill>
                        </a:rPr>
                        <a:t>total after</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03767"/>
                    </a:solidFill>
                  </a:tcPr>
                </a:tc>
                <a:extLst>
                  <a:ext uri="{0D108BD9-81ED-4DB2-BD59-A6C34878D82A}">
                    <a16:rowId xmlns:a16="http://schemas.microsoft.com/office/drawing/2014/main" val="10000"/>
                  </a:ext>
                </a:extLst>
              </a:tr>
              <a:tr h="583692">
                <a:tc>
                  <a:txBody>
                    <a:bodyPr/>
                    <a:lstStyle/>
                    <a:p>
                      <a:pPr marL="0" indent="0">
                        <a:buNone/>
                      </a:pPr>
                      <a:r>
                        <a:rPr lang="en-US" sz="1200" dirty="0">
                          <a:solidFill>
                            <a:srgbClr val="1A1A2E"/>
                          </a:solidFill>
                        </a:rPr>
                        <a:t>1</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rPr>
                        <a:t>0 + 1 = ?</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BBBBBB"/>
                          </a:solidFill>
                        </a:rPr>
                        <a:t>?</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extLst>
                  <a:ext uri="{0D108BD9-81ED-4DB2-BD59-A6C34878D82A}">
                    <a16:rowId xmlns:a16="http://schemas.microsoft.com/office/drawing/2014/main" val="10001"/>
                  </a:ext>
                </a:extLst>
              </a:tr>
              <a:tr h="583692">
                <a:tc>
                  <a:txBody>
                    <a:bodyPr/>
                    <a:lstStyle/>
                    <a:p>
                      <a:pPr marL="0" indent="0">
                        <a:buNone/>
                      </a:pPr>
                      <a:r>
                        <a:rPr lang="en-US" sz="1200" dirty="0">
                          <a:solidFill>
                            <a:srgbClr val="1A1A2E"/>
                          </a:solidFill>
                        </a:rPr>
                        <a:t>2</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rPr>
                        <a:t>? + 2 = ?</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BBBBBB"/>
                          </a:solidFill>
                        </a:rPr>
                        <a:t>?</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583692">
                <a:tc>
                  <a:txBody>
                    <a:bodyPr/>
                    <a:lstStyle/>
                    <a:p>
                      <a:pPr marL="0" indent="0">
                        <a:buNone/>
                      </a:pPr>
                      <a:r>
                        <a:rPr lang="en-US" sz="1200" dirty="0">
                          <a:solidFill>
                            <a:srgbClr val="1A1A2E"/>
                          </a:solidFill>
                        </a:rPr>
                        <a:t>3</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rPr>
                        <a:t>? + 3 = ?</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BBBBBB"/>
                          </a:solidFill>
                        </a:rPr>
                        <a:t>?</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extLst>
                  <a:ext uri="{0D108BD9-81ED-4DB2-BD59-A6C34878D82A}">
                    <a16:rowId xmlns:a16="http://schemas.microsoft.com/office/drawing/2014/main" val="10003"/>
                  </a:ext>
                </a:extLst>
              </a:tr>
              <a:tr h="583692">
                <a:tc>
                  <a:txBody>
                    <a:bodyPr/>
                    <a:lstStyle/>
                    <a:p>
                      <a:pPr marL="0" indent="0">
                        <a:buNone/>
                      </a:pPr>
                      <a:r>
                        <a:rPr lang="en-US" sz="1200" dirty="0">
                          <a:solidFill>
                            <a:srgbClr val="1A1A2E"/>
                          </a:solidFill>
                        </a:rPr>
                        <a:t>4</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rPr>
                        <a:t>? + 4 = ?</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BBBBBB"/>
                          </a:solidFill>
                        </a:rPr>
                        <a:t>?</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r h="583692">
                <a:tc>
                  <a:txBody>
                    <a:bodyPr/>
                    <a:lstStyle/>
                    <a:p>
                      <a:pPr marL="0" indent="0">
                        <a:buNone/>
                      </a:pPr>
                      <a:r>
                        <a:rPr lang="en-US" sz="1200" dirty="0">
                          <a:solidFill>
                            <a:srgbClr val="1A1A2E"/>
                          </a:solidFill>
                        </a:rPr>
                        <a:t>5</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rPr>
                        <a:t>? + 5 = ?</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BBBBBB"/>
                          </a:solidFill>
                        </a:rPr>
                        <a:t>?</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extLst>
                  <a:ext uri="{0D108BD9-81ED-4DB2-BD59-A6C34878D82A}">
                    <a16:rowId xmlns:a16="http://schemas.microsoft.com/office/drawing/2014/main" val="10005"/>
                  </a:ext>
                </a:extLst>
              </a:tr>
            </a:tbl>
          </a:graphicData>
        </a:graphic>
      </p:graphicFrame>
      <p:sp>
        <p:nvSpPr>
          <p:cNvPr id="8" name="Text 5"/>
          <p:cNvSpPr txBox="1"/>
          <p:nvPr/>
        </p:nvSpPr>
        <p:spPr>
          <a:xfrm>
            <a:off x="274320" y="6537960"/>
            <a:ext cx="11612880" cy="274320"/>
          </a:xfrm>
          <a:prstGeom prst="rect">
            <a:avLst/>
          </a:prstGeom>
          <a:noFill/>
          <a:ln/>
        </p:spPr>
        <p:txBody>
          <a:bodyPr wrap="square" rtlCol="0" anchor="ctr"/>
          <a:lstStyle/>
          <a:p>
            <a:pPr marL="0" indent="0" algn="r">
              <a:buNone/>
            </a:pPr>
            <a:r>
              <a:rPr lang="en-US" sz="1100" dirty="0">
                <a:solidFill>
                  <a:srgbClr val="888888"/>
                </a:solidFill>
              </a:rPr>
              <a:t>CSE 120 · Module 1  ·  Try it first — answer on next slide</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0FFF4"/>
        </a:solidFill>
        <a:effectLst/>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2D6A4F"/>
          </a:solidFill>
          <a:ln w="12700">
            <a:solidFill>
              <a:srgbClr val="2D6A4F"/>
            </a:solidFill>
            <a:prstDash val="solid"/>
          </a:ln>
        </p:spPr>
        <p:txBody>
          <a:bodyPr/>
          <a:lstStyle/>
          <a:p>
            <a:endParaRPr lang="en-US"/>
          </a:p>
        </p:txBody>
      </p:sp>
      <p:sp>
        <p:nvSpPr>
          <p:cNvPr id="3" name="Text 1"/>
          <p:cNvSpPr txBox="1"/>
          <p:nvPr/>
        </p:nvSpPr>
        <p:spPr>
          <a:xfrm>
            <a:off x="274320" y="91440"/>
            <a:ext cx="11612880" cy="777240"/>
          </a:xfrm>
          <a:prstGeom prst="rect">
            <a:avLst/>
          </a:prstGeom>
          <a:noFill/>
          <a:ln/>
        </p:spPr>
        <p:txBody>
          <a:bodyPr wrap="square" rtlCol="0" anchor="ctr"/>
          <a:lstStyle/>
          <a:p>
            <a:pPr marL="0" indent="0">
              <a:buNone/>
            </a:pPr>
            <a:r>
              <a:rPr lang="en-US" sz="2200" b="1" dirty="0">
                <a:solidFill>
                  <a:srgbClr val="FFFFFF"/>
                </a:solidFill>
              </a:rPr>
              <a:t>✅  Answer — for Example 3 — Accumulating a Total</a:t>
            </a:r>
            <a:endParaRPr lang="en-US" sz="2200" dirty="0"/>
          </a:p>
        </p:txBody>
      </p:sp>
      <p:sp>
        <p:nvSpPr>
          <p:cNvPr id="4" name="Shape 2"/>
          <p:cNvSpPr/>
          <p:nvPr/>
        </p:nvSpPr>
        <p:spPr>
          <a:xfrm>
            <a:off x="0" y="1051560"/>
            <a:ext cx="12192000" cy="1088136"/>
          </a:xfrm>
          <a:prstGeom prst="rect">
            <a:avLst/>
          </a:prstGeom>
          <a:solidFill>
            <a:srgbClr val="1E2D40"/>
          </a:solidFill>
          <a:ln w="12700">
            <a:solidFill>
              <a:srgbClr val="2A4060"/>
            </a:solidFill>
            <a:prstDash val="solid"/>
          </a:ln>
        </p:spPr>
        <p:txBody>
          <a:bodyPr/>
          <a:lstStyle/>
          <a:p>
            <a:endParaRPr lang="en-US"/>
          </a:p>
        </p:txBody>
      </p:sp>
      <p:sp>
        <p:nvSpPr>
          <p:cNvPr id="5" name="Text 3"/>
          <p:cNvSpPr txBox="1"/>
          <p:nvPr/>
        </p:nvSpPr>
        <p:spPr>
          <a:xfrm>
            <a:off x="365760" y="1097280"/>
            <a:ext cx="5120640" cy="950976"/>
          </a:xfrm>
          <a:prstGeom prst="rect">
            <a:avLst/>
          </a:prstGeom>
          <a:noFill/>
          <a:ln/>
        </p:spPr>
        <p:txBody>
          <a:bodyPr wrap="square" rtlCol="0" anchor="ctr"/>
          <a:lstStyle/>
          <a:p>
            <a:pPr marL="0" indent="0">
              <a:buNone/>
            </a:pPr>
            <a:r>
              <a:rPr lang="en-US" sz="1200" dirty="0">
                <a:solidFill>
                  <a:srgbClr val="E8F4FD"/>
                </a:solidFill>
                <a:latin typeface="Courier New" pitchFamily="34" charset="0"/>
                <a:ea typeface="Courier New" pitchFamily="34" charset="-122"/>
                <a:cs typeface="Courier New" pitchFamily="34" charset="-120"/>
              </a:rPr>
              <a:t>total = 0</a:t>
            </a:r>
            <a:endParaRPr lang="en-US" sz="1200" dirty="0"/>
          </a:p>
          <a:p>
            <a:pPr marL="0" indent="0">
              <a:buNone/>
            </a:pPr>
            <a:r>
              <a:rPr lang="en-US" sz="1200" dirty="0">
                <a:solidFill>
                  <a:srgbClr val="E8F4FD"/>
                </a:solidFill>
                <a:latin typeface="Courier New" pitchFamily="34" charset="0"/>
                <a:ea typeface="Courier New" pitchFamily="34" charset="-122"/>
                <a:cs typeface="Courier New" pitchFamily="34" charset="-120"/>
              </a:rPr>
              <a:t>for i in range(1, 6):</a:t>
            </a:r>
            <a:endParaRPr lang="en-US" sz="1200" dirty="0"/>
          </a:p>
          <a:p>
            <a:pPr marL="0" indent="0">
              <a:buNone/>
            </a:pPr>
            <a:r>
              <a:rPr lang="en-US" sz="1200" dirty="0">
                <a:solidFill>
                  <a:srgbClr val="E8F4FD"/>
                </a:solidFill>
                <a:latin typeface="Courier New" pitchFamily="34" charset="0"/>
                <a:ea typeface="Courier New" pitchFamily="34" charset="-122"/>
                <a:cs typeface="Courier New" pitchFamily="34" charset="-120"/>
              </a:rPr>
              <a:t>    total = total + i</a:t>
            </a:r>
            <a:endParaRPr lang="en-US" sz="1200" dirty="0"/>
          </a:p>
        </p:txBody>
      </p:sp>
      <p:graphicFrame>
        <p:nvGraphicFramePr>
          <p:cNvPr id="48" name="Table 0"/>
          <p:cNvGraphicFramePr>
            <a:graphicFrameLocks noGrp="1"/>
          </p:cNvGraphicFramePr>
          <p:nvPr>
            <p:extLst>
              <p:ext uri="{D42A27DB-BD31-4B8C-83A1-F6EECF244321}">
                <p14:modId xmlns:p14="http://schemas.microsoft.com/office/powerpoint/2010/main" val="116296805"/>
              </p:ext>
            </p:extLst>
          </p:nvPr>
        </p:nvGraphicFramePr>
        <p:xfrm>
          <a:off x="1853852" y="2423786"/>
          <a:ext cx="7954026" cy="3995803"/>
        </p:xfrm>
        <a:graphic>
          <a:graphicData uri="http://schemas.openxmlformats.org/drawingml/2006/table">
            <a:tbl>
              <a:tblPr/>
              <a:tblGrid>
                <a:gridCol w="2651342">
                  <a:extLst>
                    <a:ext uri="{9D8B030D-6E8A-4147-A177-3AD203B41FA5}">
                      <a16:colId xmlns:a16="http://schemas.microsoft.com/office/drawing/2014/main" val="20000"/>
                    </a:ext>
                  </a:extLst>
                </a:gridCol>
                <a:gridCol w="2651342">
                  <a:extLst>
                    <a:ext uri="{9D8B030D-6E8A-4147-A177-3AD203B41FA5}">
                      <a16:colId xmlns:a16="http://schemas.microsoft.com/office/drawing/2014/main" val="20001"/>
                    </a:ext>
                  </a:extLst>
                </a:gridCol>
                <a:gridCol w="2651342">
                  <a:extLst>
                    <a:ext uri="{9D8B030D-6E8A-4147-A177-3AD203B41FA5}">
                      <a16:colId xmlns:a16="http://schemas.microsoft.com/office/drawing/2014/main" val="20002"/>
                    </a:ext>
                  </a:extLst>
                </a:gridCol>
              </a:tblGrid>
              <a:tr h="444883">
                <a:tc>
                  <a:txBody>
                    <a:bodyPr/>
                    <a:lstStyle/>
                    <a:p>
                      <a:pPr marL="0" indent="0" algn="ctr">
                        <a:buNone/>
                      </a:pPr>
                      <a:r>
                        <a:rPr lang="en-US" sz="1200" b="1" dirty="0">
                          <a:solidFill>
                            <a:srgbClr val="FFFFFF"/>
                          </a:solidFill>
                        </a:rPr>
                        <a:t>i</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2D6A4F"/>
                    </a:solidFill>
                  </a:tcPr>
                </a:tc>
                <a:tc>
                  <a:txBody>
                    <a:bodyPr/>
                    <a:lstStyle/>
                    <a:p>
                      <a:pPr marL="0" indent="0" algn="ctr">
                        <a:buNone/>
                      </a:pPr>
                      <a:r>
                        <a:rPr lang="en-US" sz="1200" b="1" dirty="0">
                          <a:solidFill>
                            <a:srgbClr val="FFFFFF"/>
                          </a:solidFill>
                        </a:rPr>
                        <a:t>total = total + i</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2D6A4F"/>
                    </a:solidFill>
                  </a:tcPr>
                </a:tc>
                <a:tc>
                  <a:txBody>
                    <a:bodyPr/>
                    <a:lstStyle/>
                    <a:p>
                      <a:pPr marL="0" indent="0" algn="ctr">
                        <a:buNone/>
                      </a:pPr>
                      <a:r>
                        <a:rPr lang="en-US" sz="1200" b="1" dirty="0">
                          <a:solidFill>
                            <a:srgbClr val="FFFFFF"/>
                          </a:solidFill>
                        </a:rPr>
                        <a:t>total after</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2D6A4F"/>
                    </a:solidFill>
                  </a:tcPr>
                </a:tc>
                <a:extLst>
                  <a:ext uri="{0D108BD9-81ED-4DB2-BD59-A6C34878D82A}">
                    <a16:rowId xmlns:a16="http://schemas.microsoft.com/office/drawing/2014/main" val="10000"/>
                  </a:ext>
                </a:extLst>
              </a:tr>
              <a:tr h="710184">
                <a:tc>
                  <a:txBody>
                    <a:bodyPr/>
                    <a:lstStyle/>
                    <a:p>
                      <a:pPr marL="0" indent="0">
                        <a:buNone/>
                      </a:pPr>
                      <a:r>
                        <a:rPr lang="en-US" sz="1200" dirty="0">
                          <a:solidFill>
                            <a:srgbClr val="1A1A2E"/>
                          </a:solidFill>
                        </a:rPr>
                        <a:t>1</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rPr>
                        <a:t>0 + 1 = 1</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rPr>
                        <a:t>1</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0184">
                <a:tc>
                  <a:txBody>
                    <a:bodyPr/>
                    <a:lstStyle/>
                    <a:p>
                      <a:pPr marL="0" indent="0">
                        <a:buNone/>
                      </a:pPr>
                      <a:r>
                        <a:rPr lang="en-US" sz="1200" dirty="0">
                          <a:solidFill>
                            <a:srgbClr val="1A1A2E"/>
                          </a:solidFill>
                        </a:rPr>
                        <a:t>2</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rPr>
                        <a:t>1 + 2 = 3</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rPr>
                        <a:t>3</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0184">
                <a:tc>
                  <a:txBody>
                    <a:bodyPr/>
                    <a:lstStyle/>
                    <a:p>
                      <a:pPr marL="0" indent="0">
                        <a:buNone/>
                      </a:pPr>
                      <a:r>
                        <a:rPr lang="en-US" sz="1200" dirty="0">
                          <a:solidFill>
                            <a:srgbClr val="1A1A2E"/>
                          </a:solidFill>
                        </a:rPr>
                        <a:t>3</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rPr>
                        <a:t>3 + 3 = 6</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rPr>
                        <a:t>6</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0184">
                <a:tc>
                  <a:txBody>
                    <a:bodyPr/>
                    <a:lstStyle/>
                    <a:p>
                      <a:pPr marL="0" indent="0">
                        <a:buNone/>
                      </a:pPr>
                      <a:r>
                        <a:rPr lang="en-US" sz="1200" dirty="0">
                          <a:solidFill>
                            <a:srgbClr val="1A1A2E"/>
                          </a:solidFill>
                        </a:rPr>
                        <a:t>4</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rPr>
                        <a:t>6 + 4 = 10</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rPr>
                        <a:t>10</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10184">
                <a:tc>
                  <a:txBody>
                    <a:bodyPr/>
                    <a:lstStyle/>
                    <a:p>
                      <a:pPr marL="0" indent="0">
                        <a:buNone/>
                      </a:pPr>
                      <a:r>
                        <a:rPr lang="en-US" sz="1200" dirty="0">
                          <a:solidFill>
                            <a:srgbClr val="1A1A2E"/>
                          </a:solidFill>
                        </a:rPr>
                        <a:t>5</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rPr>
                        <a:t>10 + 5 = 15</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rPr>
                        <a:t>15</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Text 4"/>
          <p:cNvSpPr txBox="1"/>
          <p:nvPr/>
        </p:nvSpPr>
        <p:spPr>
          <a:xfrm>
            <a:off x="274320" y="6537960"/>
            <a:ext cx="11612880" cy="274320"/>
          </a:xfrm>
          <a:prstGeom prst="rect">
            <a:avLst/>
          </a:prstGeom>
          <a:noFill/>
          <a:ln/>
        </p:spPr>
        <p:txBody>
          <a:bodyPr wrap="square" rtlCol="0" anchor="ctr"/>
          <a:lstStyle/>
          <a:p>
            <a:pPr marL="0" indent="0" algn="r">
              <a:buNone/>
            </a:pPr>
            <a:r>
              <a:rPr lang="en-US" sz="1100" dirty="0">
                <a:solidFill>
                  <a:srgbClr val="888888"/>
                </a:solidFill>
              </a:rPr>
              <a:t>CSE 120 · Module 1</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822960"/>
          </a:xfrm>
          <a:prstGeom prst="rect">
            <a:avLst/>
          </a:prstGeom>
          <a:solidFill>
            <a:srgbClr val="003767"/>
          </a:solidFill>
          <a:ln w="12700">
            <a:solidFill>
              <a:srgbClr val="003767"/>
            </a:solidFill>
            <a:prstDash val="solid"/>
          </a:ln>
        </p:spPr>
        <p:txBody>
          <a:bodyPr/>
          <a:lstStyle/>
          <a:p>
            <a:endParaRPr lang="en-US"/>
          </a:p>
        </p:txBody>
      </p:sp>
      <p:sp>
        <p:nvSpPr>
          <p:cNvPr id="3" name="Text 1"/>
          <p:cNvSpPr txBox="1"/>
          <p:nvPr/>
        </p:nvSpPr>
        <p:spPr>
          <a:xfrm>
            <a:off x="274320" y="73152"/>
            <a:ext cx="11612880" cy="685800"/>
          </a:xfrm>
          <a:prstGeom prst="rect">
            <a:avLst/>
          </a:prstGeom>
          <a:noFill/>
          <a:ln/>
        </p:spPr>
        <p:txBody>
          <a:bodyPr wrap="square" rtlCol="0" anchor="ctr"/>
          <a:lstStyle/>
          <a:p>
            <a:pPr marL="0" indent="0">
              <a:buNone/>
            </a:pPr>
            <a:r>
              <a:rPr lang="en-US" sz="2000" b="1" dirty="0">
                <a:solidFill>
                  <a:srgbClr val="FFFFFF"/>
                </a:solidFill>
              </a:rPr>
              <a:t>for Example 4 — Sensor Readings Average</a:t>
            </a:r>
            <a:endParaRPr lang="en-US" sz="2000" dirty="0"/>
          </a:p>
        </p:txBody>
      </p:sp>
      <p:sp>
        <p:nvSpPr>
          <p:cNvPr id="4" name="Shape 2"/>
          <p:cNvSpPr/>
          <p:nvPr/>
        </p:nvSpPr>
        <p:spPr>
          <a:xfrm>
            <a:off x="274320" y="914400"/>
            <a:ext cx="6400800" cy="5394960"/>
          </a:xfrm>
          <a:prstGeom prst="rect">
            <a:avLst/>
          </a:prstGeom>
          <a:solidFill>
            <a:srgbClr val="1E2D40"/>
          </a:solidFill>
          <a:ln w="12700">
            <a:solidFill>
              <a:srgbClr val="2A4060"/>
            </a:solidFill>
            <a:prstDash val="solid"/>
          </a:ln>
        </p:spPr>
        <p:txBody>
          <a:bodyPr/>
          <a:lstStyle/>
          <a:p>
            <a:endParaRPr lang="en-US"/>
          </a:p>
        </p:txBody>
      </p:sp>
      <p:sp>
        <p:nvSpPr>
          <p:cNvPr id="5" name="Text 3"/>
          <p:cNvSpPr txBox="1"/>
          <p:nvPr/>
        </p:nvSpPr>
        <p:spPr>
          <a:xfrm>
            <a:off x="365760" y="960120"/>
            <a:ext cx="6217920" cy="320040"/>
          </a:xfrm>
          <a:prstGeom prst="rect">
            <a:avLst/>
          </a:prstGeom>
          <a:noFill/>
          <a:ln/>
        </p:spPr>
        <p:txBody>
          <a:bodyPr wrap="square" rtlCol="0" anchor="ctr"/>
          <a:lstStyle/>
          <a:p>
            <a:pPr marL="0" indent="0">
              <a:buNone/>
            </a:pPr>
            <a:r>
              <a:rPr lang="en-US" sz="1100" b="1" dirty="0">
                <a:solidFill>
                  <a:srgbClr val="88AACC"/>
                </a:solidFill>
              </a:rPr>
              <a:t>python</a:t>
            </a:r>
            <a:endParaRPr lang="en-US" sz="1100" dirty="0"/>
          </a:p>
        </p:txBody>
      </p:sp>
      <p:sp>
        <p:nvSpPr>
          <p:cNvPr id="6" name="Text 4"/>
          <p:cNvSpPr txBox="1"/>
          <p:nvPr/>
        </p:nvSpPr>
        <p:spPr>
          <a:xfrm>
            <a:off x="365760" y="1325880"/>
            <a:ext cx="6217920" cy="4846320"/>
          </a:xfrm>
          <a:prstGeom prst="rect">
            <a:avLst/>
          </a:prstGeom>
          <a:noFill/>
          <a:ln/>
        </p:spPr>
        <p:txBody>
          <a:bodyPr wrap="square" rtlCol="0" anchor="t"/>
          <a:lstStyle/>
          <a:p>
            <a:pPr marL="0" indent="0">
              <a:buNone/>
            </a:pPr>
            <a:r>
              <a:rPr lang="en-US" sz="1300" dirty="0">
                <a:solidFill>
                  <a:srgbClr val="E8F4FD"/>
                </a:solidFill>
                <a:latin typeface="Courier New" pitchFamily="34" charset="0"/>
                <a:ea typeface="Courier New" pitchFamily="34" charset="-122"/>
                <a:cs typeface="Courier New" pitchFamily="34" charset="-120"/>
              </a:rPr>
              <a:t>total = 0   # start at zero</a:t>
            </a:r>
            <a:endParaRPr lang="en-US" sz="1300" dirty="0"/>
          </a:p>
          <a:p>
            <a:pPr marL="0" indent="0">
              <a:buNone/>
            </a:pPr>
            <a:endParaRPr lang="en-US" sz="1300" dirty="0"/>
          </a:p>
          <a:p>
            <a:pPr marL="0" indent="0">
              <a:buNone/>
            </a:pPr>
            <a:r>
              <a:rPr lang="en-US" sz="1300" dirty="0">
                <a:solidFill>
                  <a:srgbClr val="E8F4FD"/>
                </a:solidFill>
                <a:latin typeface="Courier New" pitchFamily="34" charset="0"/>
                <a:ea typeface="Courier New" pitchFamily="34" charset="-122"/>
                <a:cs typeface="Courier New" pitchFamily="34" charset="-120"/>
              </a:rPr>
              <a:t>for i in range(5):</a:t>
            </a:r>
            <a:endParaRPr lang="en-US" sz="1300" dirty="0"/>
          </a:p>
          <a:p>
            <a:pPr marL="0" indent="0">
              <a:buNone/>
            </a:pPr>
            <a:r>
              <a:rPr lang="en-US" sz="1300" dirty="0">
                <a:solidFill>
                  <a:srgbClr val="E8F4FD"/>
                </a:solidFill>
                <a:latin typeface="Courier New" pitchFamily="34" charset="0"/>
                <a:ea typeface="Courier New" pitchFamily="34" charset="-122"/>
                <a:cs typeface="Courier New" pitchFamily="34" charset="-120"/>
              </a:rPr>
              <a:t>    reading = float(input("Enter temperature: "))</a:t>
            </a:r>
            <a:endParaRPr lang="en-US" sz="1300" dirty="0"/>
          </a:p>
          <a:p>
            <a:pPr marL="0" indent="0">
              <a:buNone/>
            </a:pPr>
            <a:r>
              <a:rPr lang="en-US" sz="1300" dirty="0">
                <a:solidFill>
                  <a:srgbClr val="E8F4FD"/>
                </a:solidFill>
                <a:latin typeface="Courier New" pitchFamily="34" charset="0"/>
                <a:ea typeface="Courier New" pitchFamily="34" charset="-122"/>
                <a:cs typeface="Courier New" pitchFamily="34" charset="-120"/>
              </a:rPr>
              <a:t>    total = total + reading</a:t>
            </a:r>
            <a:endParaRPr lang="en-US" sz="1300" dirty="0"/>
          </a:p>
          <a:p>
            <a:pPr marL="0" indent="0">
              <a:buNone/>
            </a:pPr>
            <a:endParaRPr lang="en-US" sz="1300" dirty="0"/>
          </a:p>
          <a:p>
            <a:pPr marL="0" indent="0">
              <a:buNone/>
            </a:pPr>
            <a:r>
              <a:rPr lang="en-US" sz="1300" dirty="0">
                <a:solidFill>
                  <a:srgbClr val="E8F4FD"/>
                </a:solidFill>
                <a:latin typeface="Courier New" pitchFamily="34" charset="0"/>
                <a:ea typeface="Courier New" pitchFamily="34" charset="-122"/>
                <a:cs typeface="Courier New" pitchFamily="34" charset="-120"/>
              </a:rPr>
              <a:t>average = total / 5</a:t>
            </a:r>
            <a:endParaRPr lang="en-US" sz="1300" dirty="0"/>
          </a:p>
          <a:p>
            <a:pPr marL="0" indent="0">
              <a:buNone/>
            </a:pPr>
            <a:r>
              <a:rPr lang="en-US" sz="1300" dirty="0">
                <a:solidFill>
                  <a:srgbClr val="E8F4FD"/>
                </a:solidFill>
                <a:latin typeface="Courier New" pitchFamily="34" charset="0"/>
                <a:ea typeface="Courier New" pitchFamily="34" charset="-122"/>
                <a:cs typeface="Courier New" pitchFamily="34" charset="-120"/>
              </a:rPr>
              <a:t>print("Average temperature:", average)</a:t>
            </a:r>
            <a:endParaRPr lang="en-US" sz="1300" dirty="0"/>
          </a:p>
        </p:txBody>
      </p:sp>
      <p:sp>
        <p:nvSpPr>
          <p:cNvPr id="7" name="Text 5"/>
          <p:cNvSpPr txBox="1"/>
          <p:nvPr/>
        </p:nvSpPr>
        <p:spPr>
          <a:xfrm>
            <a:off x="6949440" y="914400"/>
            <a:ext cx="4937760" cy="5394960"/>
          </a:xfrm>
          <a:prstGeom prst="rect">
            <a:avLst/>
          </a:prstGeom>
          <a:noFill/>
          <a:ln/>
        </p:spPr>
        <p:txBody>
          <a:bodyPr wrap="square" rtlCol="0" anchor="t"/>
          <a:lstStyle/>
          <a:p>
            <a:pPr marL="342900" indent="-342900">
              <a:spcAft>
                <a:spcPts val="800"/>
              </a:spcAft>
              <a:buSzPct val="100000"/>
              <a:buChar char="•"/>
            </a:pPr>
            <a:r>
              <a:rPr lang="en-US" sz="1400" dirty="0">
                <a:solidFill>
                  <a:srgbClr val="1A1A2E"/>
                </a:solidFill>
              </a:rPr>
              <a:t>The loop asks for a reading 5 times</a:t>
            </a:r>
            <a:endParaRPr lang="en-US" sz="1400" dirty="0"/>
          </a:p>
          <a:p>
            <a:pPr marL="342900" indent="-342900">
              <a:spcAft>
                <a:spcPts val="800"/>
              </a:spcAft>
              <a:buSzPct val="100000"/>
              <a:buChar char="•"/>
            </a:pPr>
            <a:r>
              <a:rPr lang="en-US" sz="1400" dirty="0">
                <a:solidFill>
                  <a:srgbClr val="1A1A2E"/>
                </a:solidFill>
              </a:rPr>
              <a:t>Each reading gets added to total inside the loop</a:t>
            </a:r>
            <a:endParaRPr lang="en-US" sz="1400" dirty="0"/>
          </a:p>
          <a:p>
            <a:pPr marL="342900" indent="-342900">
              <a:spcAft>
                <a:spcPts val="1600"/>
              </a:spcAft>
              <a:buSzPct val="100000"/>
              <a:buChar char="•"/>
            </a:pPr>
            <a:r>
              <a:rPr lang="en-US" sz="1400" b="1" dirty="0">
                <a:solidFill>
                  <a:srgbClr val="0074B7"/>
                </a:solidFill>
              </a:rPr>
              <a:t>The average is calculated AFTER the loop</a:t>
            </a:r>
            <a:endParaRPr lang="en-US" sz="1400" dirty="0"/>
          </a:p>
          <a:p>
            <a:pPr marL="342900" indent="-342900">
              <a:spcAft>
                <a:spcPts val="1200"/>
              </a:spcAft>
              <a:buSzPct val="100000"/>
              <a:buChar char="•"/>
            </a:pPr>
            <a:r>
              <a:rPr lang="en-US" sz="1400" dirty="0">
                <a:solidFill>
                  <a:srgbClr val="1A1A2E"/>
                </a:solidFill>
              </a:rPr>
              <a:t>We only need the average once — after all readings are in</a:t>
            </a:r>
            <a:endParaRPr lang="en-US" sz="1400" dirty="0"/>
          </a:p>
          <a:p>
            <a:pPr marL="0" indent="0">
              <a:spcAft>
                <a:spcPts val="500"/>
              </a:spcAft>
              <a:buNone/>
            </a:pPr>
            <a:r>
              <a:rPr lang="en-US" sz="1400" b="1" dirty="0">
                <a:solidFill>
                  <a:srgbClr val="003767"/>
                </a:solidFill>
              </a:rPr>
              <a:t>Pattern: initialize → loop &amp; accumulate → calculate after</a:t>
            </a:r>
            <a:endParaRPr lang="en-US" sz="1400" dirty="0"/>
          </a:p>
        </p:txBody>
      </p:sp>
      <p:sp>
        <p:nvSpPr>
          <p:cNvPr id="8" name="Text 6"/>
          <p:cNvSpPr txBox="1"/>
          <p:nvPr/>
        </p:nvSpPr>
        <p:spPr>
          <a:xfrm>
            <a:off x="274320" y="6537960"/>
            <a:ext cx="11612880" cy="274320"/>
          </a:xfrm>
          <a:prstGeom prst="rect">
            <a:avLst/>
          </a:prstGeom>
          <a:noFill/>
          <a:ln/>
        </p:spPr>
        <p:txBody>
          <a:bodyPr wrap="square" rtlCol="0" anchor="ctr"/>
          <a:lstStyle/>
          <a:p>
            <a:pPr marL="0" indent="0" algn="r">
              <a:buNone/>
            </a:pPr>
            <a:r>
              <a:rPr lang="en-US" sz="1100" dirty="0">
                <a:solidFill>
                  <a:srgbClr val="999999"/>
                </a:solidFill>
              </a:rPr>
              <a:t>CSE 120 · Module 1</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822960"/>
          </a:xfrm>
          <a:prstGeom prst="rect">
            <a:avLst/>
          </a:prstGeom>
          <a:solidFill>
            <a:srgbClr val="003767"/>
          </a:solidFill>
          <a:ln w="12700">
            <a:solidFill>
              <a:srgbClr val="003767"/>
            </a:solidFill>
            <a:prstDash val="solid"/>
          </a:ln>
        </p:spPr>
        <p:txBody>
          <a:bodyPr/>
          <a:lstStyle/>
          <a:p>
            <a:endParaRPr lang="en-US"/>
          </a:p>
        </p:txBody>
      </p:sp>
      <p:sp>
        <p:nvSpPr>
          <p:cNvPr id="3" name="Text 1"/>
          <p:cNvSpPr txBox="1"/>
          <p:nvPr/>
        </p:nvSpPr>
        <p:spPr>
          <a:xfrm>
            <a:off x="274320" y="73152"/>
            <a:ext cx="11612880" cy="685800"/>
          </a:xfrm>
          <a:prstGeom prst="rect">
            <a:avLst/>
          </a:prstGeom>
          <a:noFill/>
          <a:ln/>
        </p:spPr>
        <p:txBody>
          <a:bodyPr wrap="square" rtlCol="0" anchor="ctr"/>
          <a:lstStyle/>
          <a:p>
            <a:pPr marL="0" indent="0">
              <a:buNone/>
            </a:pPr>
            <a:r>
              <a:rPr lang="en-US" sz="2000" b="1" dirty="0">
                <a:solidFill>
                  <a:srgbClr val="FFFFFF"/>
                </a:solidFill>
              </a:rPr>
              <a:t>for Example 5 — Loop with if Inside</a:t>
            </a:r>
            <a:endParaRPr lang="en-US" sz="2000" dirty="0"/>
          </a:p>
        </p:txBody>
      </p:sp>
      <p:sp>
        <p:nvSpPr>
          <p:cNvPr id="4" name="Shape 2"/>
          <p:cNvSpPr/>
          <p:nvPr/>
        </p:nvSpPr>
        <p:spPr>
          <a:xfrm>
            <a:off x="274320" y="914400"/>
            <a:ext cx="6400800" cy="5394960"/>
          </a:xfrm>
          <a:prstGeom prst="rect">
            <a:avLst/>
          </a:prstGeom>
          <a:solidFill>
            <a:srgbClr val="1E2D40"/>
          </a:solidFill>
          <a:ln w="12700">
            <a:solidFill>
              <a:srgbClr val="2A4060"/>
            </a:solidFill>
            <a:prstDash val="solid"/>
          </a:ln>
        </p:spPr>
        <p:txBody>
          <a:bodyPr/>
          <a:lstStyle/>
          <a:p>
            <a:endParaRPr lang="en-US"/>
          </a:p>
        </p:txBody>
      </p:sp>
      <p:sp>
        <p:nvSpPr>
          <p:cNvPr id="5" name="Text 3"/>
          <p:cNvSpPr txBox="1"/>
          <p:nvPr/>
        </p:nvSpPr>
        <p:spPr>
          <a:xfrm>
            <a:off x="365760" y="960120"/>
            <a:ext cx="6217920" cy="320040"/>
          </a:xfrm>
          <a:prstGeom prst="rect">
            <a:avLst/>
          </a:prstGeom>
          <a:noFill/>
          <a:ln/>
        </p:spPr>
        <p:txBody>
          <a:bodyPr wrap="square" rtlCol="0" anchor="ctr"/>
          <a:lstStyle/>
          <a:p>
            <a:pPr marL="0" indent="0">
              <a:buNone/>
            </a:pPr>
            <a:r>
              <a:rPr lang="en-US" sz="1100" b="1" dirty="0">
                <a:solidFill>
                  <a:srgbClr val="88AACC"/>
                </a:solidFill>
              </a:rPr>
              <a:t>python</a:t>
            </a:r>
            <a:endParaRPr lang="en-US" sz="1100" dirty="0"/>
          </a:p>
        </p:txBody>
      </p:sp>
      <p:sp>
        <p:nvSpPr>
          <p:cNvPr id="6" name="Text 4"/>
          <p:cNvSpPr txBox="1"/>
          <p:nvPr/>
        </p:nvSpPr>
        <p:spPr>
          <a:xfrm>
            <a:off x="365760" y="1325880"/>
            <a:ext cx="6217920" cy="4846320"/>
          </a:xfrm>
          <a:prstGeom prst="rect">
            <a:avLst/>
          </a:prstGeom>
          <a:noFill/>
          <a:ln/>
        </p:spPr>
        <p:txBody>
          <a:bodyPr wrap="square" rtlCol="0" anchor="t"/>
          <a:lstStyle/>
          <a:p>
            <a:pPr marL="0" indent="0">
              <a:buNone/>
            </a:pPr>
            <a:r>
              <a:rPr lang="en-US" sz="1300" dirty="0">
                <a:solidFill>
                  <a:srgbClr val="E8F4FD"/>
                </a:solidFill>
                <a:latin typeface="Courier New" pitchFamily="34" charset="0"/>
                <a:ea typeface="Courier New" pitchFamily="34" charset="-122"/>
                <a:cs typeface="Courier New" pitchFamily="34" charset="-120"/>
              </a:rPr>
              <a:t>for i in range(3):</a:t>
            </a:r>
            <a:endParaRPr lang="en-US" sz="1300" dirty="0"/>
          </a:p>
          <a:p>
            <a:pPr marL="0" indent="0">
              <a:buNone/>
            </a:pPr>
            <a:r>
              <a:rPr lang="en-US" sz="1300" dirty="0">
                <a:solidFill>
                  <a:srgbClr val="E8F4FD"/>
                </a:solidFill>
                <a:latin typeface="Courier New" pitchFamily="34" charset="0"/>
                <a:ea typeface="Courier New" pitchFamily="34" charset="-122"/>
                <a:cs typeface="Courier New" pitchFamily="34" charset="-120"/>
              </a:rPr>
              <a:t>    temperature = float(input("Enter temp: "))</a:t>
            </a:r>
            <a:endParaRPr lang="en-US" sz="1300" dirty="0"/>
          </a:p>
          <a:p>
            <a:pPr marL="0" indent="0">
              <a:buNone/>
            </a:pPr>
            <a:endParaRPr lang="en-US" sz="1300" dirty="0"/>
          </a:p>
          <a:p>
            <a:pPr marL="0" indent="0">
              <a:buNone/>
            </a:pPr>
            <a:r>
              <a:rPr lang="en-US" sz="1300" dirty="0">
                <a:solidFill>
                  <a:srgbClr val="E8F4FD"/>
                </a:solidFill>
                <a:latin typeface="Courier New" pitchFamily="34" charset="0"/>
                <a:ea typeface="Courier New" pitchFamily="34" charset="-122"/>
                <a:cs typeface="Courier New" pitchFamily="34" charset="-120"/>
              </a:rPr>
              <a:t>    if temperature &gt; 100:</a:t>
            </a:r>
            <a:endParaRPr lang="en-US" sz="1300" dirty="0"/>
          </a:p>
          <a:p>
            <a:pPr marL="0" indent="0">
              <a:buNone/>
            </a:pPr>
            <a:r>
              <a:rPr lang="en-US" sz="1300" dirty="0">
                <a:solidFill>
                  <a:srgbClr val="E8F4FD"/>
                </a:solidFill>
                <a:latin typeface="Courier New" pitchFamily="34" charset="0"/>
                <a:ea typeface="Courier New" pitchFamily="34" charset="-122"/>
                <a:cs typeface="Courier New" pitchFamily="34" charset="-120"/>
              </a:rPr>
              <a:t>        print("⚠ Danger: Overheating!")</a:t>
            </a:r>
            <a:endParaRPr lang="en-US" sz="1300" dirty="0"/>
          </a:p>
          <a:p>
            <a:pPr marL="0" indent="0">
              <a:buNone/>
            </a:pPr>
            <a:r>
              <a:rPr lang="en-US" sz="1300" dirty="0">
                <a:solidFill>
                  <a:srgbClr val="E8F4FD"/>
                </a:solidFill>
                <a:latin typeface="Courier New" pitchFamily="34" charset="0"/>
                <a:ea typeface="Courier New" pitchFamily="34" charset="-122"/>
                <a:cs typeface="Courier New" pitchFamily="34" charset="-120"/>
              </a:rPr>
              <a:t>    else:</a:t>
            </a:r>
            <a:endParaRPr lang="en-US" sz="1300" dirty="0"/>
          </a:p>
          <a:p>
            <a:pPr marL="0" indent="0">
              <a:buNone/>
            </a:pPr>
            <a:r>
              <a:rPr lang="en-US" sz="1300" dirty="0">
                <a:solidFill>
                  <a:srgbClr val="E8F4FD"/>
                </a:solidFill>
                <a:latin typeface="Courier New" pitchFamily="34" charset="0"/>
                <a:ea typeface="Courier New" pitchFamily="34" charset="-122"/>
                <a:cs typeface="Courier New" pitchFamily="34" charset="-120"/>
              </a:rPr>
              <a:t>        print("✓ Safe.")</a:t>
            </a:r>
            <a:endParaRPr lang="en-US" sz="1300" dirty="0"/>
          </a:p>
        </p:txBody>
      </p:sp>
      <p:sp>
        <p:nvSpPr>
          <p:cNvPr id="7" name="Text 5"/>
          <p:cNvSpPr txBox="1"/>
          <p:nvPr/>
        </p:nvSpPr>
        <p:spPr>
          <a:xfrm>
            <a:off x="6949440" y="914400"/>
            <a:ext cx="4937760" cy="5394960"/>
          </a:xfrm>
          <a:prstGeom prst="rect">
            <a:avLst/>
          </a:prstGeom>
          <a:noFill/>
          <a:ln/>
        </p:spPr>
        <p:txBody>
          <a:bodyPr wrap="square" rtlCol="0" anchor="t"/>
          <a:lstStyle/>
          <a:p>
            <a:pPr marL="0" indent="0">
              <a:spcAft>
                <a:spcPts val="800"/>
              </a:spcAft>
              <a:buNone/>
            </a:pPr>
            <a:r>
              <a:rPr lang="en-US" sz="1400" b="1" dirty="0">
                <a:solidFill>
                  <a:srgbClr val="1A1A2E"/>
                </a:solidFill>
              </a:rPr>
              <a:t>The if and else are INSIDE the for loop</a:t>
            </a:r>
            <a:endParaRPr lang="en-US" sz="1400" dirty="0"/>
          </a:p>
          <a:p>
            <a:pPr marL="342900" indent="-342900">
              <a:spcAft>
                <a:spcPts val="800"/>
              </a:spcAft>
              <a:buSzPct val="100000"/>
              <a:buChar char="•"/>
            </a:pPr>
            <a:r>
              <a:rPr lang="en-US" sz="1400" dirty="0">
                <a:solidFill>
                  <a:srgbClr val="1A1A2E"/>
                </a:solidFill>
              </a:rPr>
              <a:t>They run once for EVERY reading</a:t>
            </a:r>
            <a:endParaRPr lang="en-US" sz="1400" dirty="0"/>
          </a:p>
          <a:p>
            <a:pPr marL="342900" indent="-342900">
              <a:spcAft>
                <a:spcPts val="1800"/>
              </a:spcAft>
              <a:buSzPct val="100000"/>
              <a:buChar char="•"/>
            </a:pPr>
            <a:r>
              <a:rPr lang="en-US" sz="1400" dirty="0">
                <a:solidFill>
                  <a:srgbClr val="1A1A2E"/>
                </a:solidFill>
              </a:rPr>
              <a:t>After 3 readings, the loop stops</a:t>
            </a:r>
            <a:endParaRPr lang="en-US" sz="1400" dirty="0"/>
          </a:p>
          <a:p>
            <a:pPr marL="0" indent="0">
              <a:spcAft>
                <a:spcPts val="800"/>
              </a:spcAft>
              <a:buNone/>
            </a:pPr>
            <a:r>
              <a:rPr lang="en-US" sz="1400" b="1" dirty="0">
                <a:solidFill>
                  <a:srgbClr val="5B21B6"/>
                </a:solidFill>
              </a:rPr>
              <a:t>🤔  Predict: user enters 95, 107, 88 — what prints?</a:t>
            </a:r>
            <a:endParaRPr lang="en-US" sz="1400" dirty="0"/>
          </a:p>
          <a:p>
            <a:pPr marL="0" indent="0">
              <a:spcAft>
                <a:spcPts val="500"/>
              </a:spcAft>
              <a:buNone/>
            </a:pPr>
            <a:r>
              <a:rPr lang="en-US" sz="1400" dirty="0">
                <a:solidFill>
                  <a:srgbClr val="2D6A4F"/>
                </a:solidFill>
              </a:rPr>
              <a:t>✓ Safe.     ⚠ Danger: Overheating!     ✓ Safe.</a:t>
            </a:r>
            <a:endParaRPr lang="en-US" sz="1400" dirty="0"/>
          </a:p>
        </p:txBody>
      </p:sp>
      <p:sp>
        <p:nvSpPr>
          <p:cNvPr id="8" name="Text 6"/>
          <p:cNvSpPr txBox="1"/>
          <p:nvPr/>
        </p:nvSpPr>
        <p:spPr>
          <a:xfrm>
            <a:off x="274320" y="6537960"/>
            <a:ext cx="11612880" cy="274320"/>
          </a:xfrm>
          <a:prstGeom prst="rect">
            <a:avLst/>
          </a:prstGeom>
          <a:noFill/>
          <a:ln/>
        </p:spPr>
        <p:txBody>
          <a:bodyPr wrap="square" rtlCol="0" anchor="ctr"/>
          <a:lstStyle/>
          <a:p>
            <a:pPr marL="0" indent="0" algn="r">
              <a:buNone/>
            </a:pPr>
            <a:r>
              <a:rPr lang="en-US" sz="1100" dirty="0">
                <a:solidFill>
                  <a:srgbClr val="999999"/>
                </a:solidFill>
              </a:rPr>
              <a:t>CSE 120 · Module 1</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AF5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4C1D95"/>
          </a:solidFill>
          <a:ln w="12700">
            <a:solidFill>
              <a:srgbClr val="4C1D95"/>
            </a:solidFill>
            <a:prstDash val="solid"/>
          </a:ln>
        </p:spPr>
        <p:txBody>
          <a:bodyPr/>
          <a:lstStyle/>
          <a:p>
            <a:endParaRPr lang="en-US"/>
          </a:p>
        </p:txBody>
      </p:sp>
      <p:sp>
        <p:nvSpPr>
          <p:cNvPr id="3" name="Text 1"/>
          <p:cNvSpPr txBox="1"/>
          <p:nvPr/>
        </p:nvSpPr>
        <p:spPr>
          <a:xfrm>
            <a:off x="274320" y="91440"/>
            <a:ext cx="11612880" cy="777240"/>
          </a:xfrm>
          <a:prstGeom prst="rect">
            <a:avLst/>
          </a:prstGeom>
          <a:noFill/>
          <a:ln/>
        </p:spPr>
        <p:txBody>
          <a:bodyPr wrap="square" rtlCol="0" anchor="ctr"/>
          <a:lstStyle/>
          <a:p>
            <a:pPr marL="0" indent="0">
              <a:buNone/>
            </a:pPr>
            <a:r>
              <a:rPr lang="en-US" sz="2200" b="1" dirty="0">
                <a:solidFill>
                  <a:srgbClr val="FFFFFF"/>
                </a:solidFill>
              </a:rPr>
              <a:t>🔍  Trace It — for Example 6 — Counting Dangerous Readings</a:t>
            </a:r>
            <a:endParaRPr lang="en-US" sz="2200" dirty="0"/>
          </a:p>
        </p:txBody>
      </p:sp>
      <p:sp>
        <p:nvSpPr>
          <p:cNvPr id="4" name="Text 2"/>
          <p:cNvSpPr txBox="1"/>
          <p:nvPr/>
        </p:nvSpPr>
        <p:spPr>
          <a:xfrm>
            <a:off x="457200" y="1051560"/>
            <a:ext cx="11247120" cy="502920"/>
          </a:xfrm>
          <a:prstGeom prst="rect">
            <a:avLst/>
          </a:prstGeom>
          <a:noFill/>
          <a:ln/>
        </p:spPr>
        <p:txBody>
          <a:bodyPr wrap="square" rtlCol="0" anchor="ctr"/>
          <a:lstStyle/>
          <a:p>
            <a:pPr marL="0" indent="0">
              <a:buNone/>
            </a:pPr>
            <a:r>
              <a:rPr lang="en-US" sz="1400" dirty="0">
                <a:solidFill>
                  <a:srgbClr val="1A1A2E"/>
                </a:solidFill>
              </a:rPr>
              <a:t>danger_count starts at 0. Increases by 1 each time temperature &gt; 100.</a:t>
            </a:r>
            <a:endParaRPr lang="en-US" sz="1400" dirty="0"/>
          </a:p>
        </p:txBody>
      </p:sp>
      <p:sp>
        <p:nvSpPr>
          <p:cNvPr id="5" name="Shape 3"/>
          <p:cNvSpPr/>
          <p:nvPr/>
        </p:nvSpPr>
        <p:spPr>
          <a:xfrm>
            <a:off x="274320" y="1600200"/>
            <a:ext cx="11917680" cy="1856232"/>
          </a:xfrm>
          <a:prstGeom prst="rect">
            <a:avLst/>
          </a:prstGeom>
          <a:solidFill>
            <a:srgbClr val="1E2D40"/>
          </a:solidFill>
          <a:ln w="12700">
            <a:solidFill>
              <a:srgbClr val="2A4060"/>
            </a:solidFill>
            <a:prstDash val="solid"/>
          </a:ln>
        </p:spPr>
        <p:txBody>
          <a:bodyPr/>
          <a:lstStyle/>
          <a:p>
            <a:endParaRPr lang="en-US"/>
          </a:p>
        </p:txBody>
      </p:sp>
      <p:sp>
        <p:nvSpPr>
          <p:cNvPr id="6" name="Text 4"/>
          <p:cNvSpPr txBox="1"/>
          <p:nvPr/>
        </p:nvSpPr>
        <p:spPr>
          <a:xfrm>
            <a:off x="365760" y="1645920"/>
            <a:ext cx="5120640" cy="1719072"/>
          </a:xfrm>
          <a:prstGeom prst="rect">
            <a:avLst/>
          </a:prstGeom>
          <a:noFill/>
          <a:ln/>
        </p:spPr>
        <p:txBody>
          <a:bodyPr wrap="square" rtlCol="0" anchor="ctr"/>
          <a:lstStyle/>
          <a:p>
            <a:pPr marL="0" indent="0">
              <a:buNone/>
            </a:pPr>
            <a:r>
              <a:rPr lang="en-US" sz="1200" dirty="0">
                <a:solidFill>
                  <a:srgbClr val="E8F4FD"/>
                </a:solidFill>
                <a:latin typeface="Courier New" pitchFamily="34" charset="0"/>
                <a:ea typeface="Courier New" pitchFamily="34" charset="-122"/>
                <a:cs typeface="Courier New" pitchFamily="34" charset="-120"/>
              </a:rPr>
              <a:t>danger_count = 0</a:t>
            </a:r>
            <a:endParaRPr lang="en-US" sz="1200" dirty="0"/>
          </a:p>
          <a:p>
            <a:pPr marL="0" indent="0">
              <a:buNone/>
            </a:pPr>
            <a:r>
              <a:rPr lang="en-US" sz="1200" dirty="0">
                <a:solidFill>
                  <a:srgbClr val="E8F4FD"/>
                </a:solidFill>
                <a:latin typeface="Courier New" pitchFamily="34" charset="0"/>
                <a:ea typeface="Courier New" pitchFamily="34" charset="-122"/>
                <a:cs typeface="Courier New" pitchFamily="34" charset="-120"/>
              </a:rPr>
              <a:t>for i in range(5):</a:t>
            </a:r>
            <a:endParaRPr lang="en-US" sz="1200" dirty="0"/>
          </a:p>
          <a:p>
            <a:pPr marL="0" indent="0">
              <a:buNone/>
            </a:pPr>
            <a:r>
              <a:rPr lang="en-US" sz="1200" dirty="0">
                <a:solidFill>
                  <a:srgbClr val="E8F4FD"/>
                </a:solidFill>
                <a:latin typeface="Courier New" pitchFamily="34" charset="0"/>
                <a:ea typeface="Courier New" pitchFamily="34" charset="-122"/>
                <a:cs typeface="Courier New" pitchFamily="34" charset="-120"/>
              </a:rPr>
              <a:t>    temp = float(input("Enter temp: "))</a:t>
            </a:r>
            <a:endParaRPr lang="en-US" sz="1200" dirty="0"/>
          </a:p>
          <a:p>
            <a:pPr marL="0" indent="0">
              <a:buNone/>
            </a:pPr>
            <a:r>
              <a:rPr lang="en-US" sz="1200" dirty="0">
                <a:solidFill>
                  <a:srgbClr val="E8F4FD"/>
                </a:solidFill>
                <a:latin typeface="Courier New" pitchFamily="34" charset="0"/>
                <a:ea typeface="Courier New" pitchFamily="34" charset="-122"/>
                <a:cs typeface="Courier New" pitchFamily="34" charset="-120"/>
              </a:rPr>
              <a:t>    if temp &gt; 100:</a:t>
            </a:r>
            <a:endParaRPr lang="en-US" sz="1200" dirty="0"/>
          </a:p>
          <a:p>
            <a:pPr marL="0" indent="0">
              <a:buNone/>
            </a:pPr>
            <a:r>
              <a:rPr lang="en-US" sz="1200" dirty="0">
                <a:solidFill>
                  <a:srgbClr val="E8F4FD"/>
                </a:solidFill>
                <a:latin typeface="Courier New" pitchFamily="34" charset="0"/>
                <a:ea typeface="Courier New" pitchFamily="34" charset="-122"/>
                <a:cs typeface="Courier New" pitchFamily="34" charset="-120"/>
              </a:rPr>
              <a:t>        danger_count = danger_count + 1</a:t>
            </a:r>
            <a:endParaRPr lang="en-US" sz="1200" dirty="0"/>
          </a:p>
          <a:p>
            <a:pPr marL="0" indent="0">
              <a:buNone/>
            </a:pPr>
            <a:r>
              <a:rPr lang="en-US" sz="1200" dirty="0">
                <a:solidFill>
                  <a:srgbClr val="E8F4FD"/>
                </a:solidFill>
                <a:latin typeface="Courier New" pitchFamily="34" charset="0"/>
                <a:ea typeface="Courier New" pitchFamily="34" charset="-122"/>
                <a:cs typeface="Courier New" pitchFamily="34" charset="-120"/>
              </a:rPr>
              <a:t>print("Dangerous readings:", danger_count)</a:t>
            </a:r>
            <a:endParaRPr lang="en-US" sz="1200" dirty="0"/>
          </a:p>
        </p:txBody>
      </p:sp>
      <p:graphicFrame>
        <p:nvGraphicFramePr>
          <p:cNvPr id="51" name="Table 0"/>
          <p:cNvGraphicFramePr>
            <a:graphicFrameLocks noGrp="1"/>
          </p:cNvGraphicFramePr>
          <p:nvPr>
            <p:extLst>
              <p:ext uri="{D42A27DB-BD31-4B8C-83A1-F6EECF244321}">
                <p14:modId xmlns:p14="http://schemas.microsoft.com/office/powerpoint/2010/main" val="1693079618"/>
              </p:ext>
            </p:extLst>
          </p:nvPr>
        </p:nvGraphicFramePr>
        <p:xfrm>
          <a:off x="1789552" y="3672567"/>
          <a:ext cx="8887216" cy="2649258"/>
        </p:xfrm>
        <a:graphic>
          <a:graphicData uri="http://schemas.openxmlformats.org/drawingml/2006/table">
            <a:tbl>
              <a:tblPr/>
              <a:tblGrid>
                <a:gridCol w="2221804">
                  <a:extLst>
                    <a:ext uri="{9D8B030D-6E8A-4147-A177-3AD203B41FA5}">
                      <a16:colId xmlns:a16="http://schemas.microsoft.com/office/drawing/2014/main" val="20000"/>
                    </a:ext>
                  </a:extLst>
                </a:gridCol>
                <a:gridCol w="2221804">
                  <a:extLst>
                    <a:ext uri="{9D8B030D-6E8A-4147-A177-3AD203B41FA5}">
                      <a16:colId xmlns:a16="http://schemas.microsoft.com/office/drawing/2014/main" val="20001"/>
                    </a:ext>
                  </a:extLst>
                </a:gridCol>
                <a:gridCol w="2221804">
                  <a:extLst>
                    <a:ext uri="{9D8B030D-6E8A-4147-A177-3AD203B41FA5}">
                      <a16:colId xmlns:a16="http://schemas.microsoft.com/office/drawing/2014/main" val="20002"/>
                    </a:ext>
                  </a:extLst>
                </a:gridCol>
                <a:gridCol w="2221804">
                  <a:extLst>
                    <a:ext uri="{9D8B030D-6E8A-4147-A177-3AD203B41FA5}">
                      <a16:colId xmlns:a16="http://schemas.microsoft.com/office/drawing/2014/main" val="20003"/>
                    </a:ext>
                  </a:extLst>
                </a:gridCol>
              </a:tblGrid>
              <a:tr h="441543">
                <a:tc>
                  <a:txBody>
                    <a:bodyPr/>
                    <a:lstStyle/>
                    <a:p>
                      <a:pPr marL="0" indent="0">
                        <a:buNone/>
                      </a:pPr>
                      <a:r>
                        <a:rPr lang="en-US" sz="1200" b="1" dirty="0">
                          <a:solidFill>
                            <a:srgbClr val="FFFFFF"/>
                          </a:solidFill>
                        </a:rPr>
                        <a:t>i</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03767"/>
                    </a:solidFill>
                  </a:tcPr>
                </a:tc>
                <a:tc>
                  <a:txBody>
                    <a:bodyPr/>
                    <a:lstStyle/>
                    <a:p>
                      <a:pPr marL="0" indent="0">
                        <a:buNone/>
                      </a:pPr>
                      <a:r>
                        <a:rPr lang="en-US" sz="1200" b="1" dirty="0">
                          <a:solidFill>
                            <a:srgbClr val="FFFFFF"/>
                          </a:solidFill>
                        </a:rPr>
                        <a:t>temperature</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03767"/>
                    </a:solidFill>
                  </a:tcPr>
                </a:tc>
                <a:tc>
                  <a:txBody>
                    <a:bodyPr/>
                    <a:lstStyle/>
                    <a:p>
                      <a:pPr marL="0" indent="0">
                        <a:buNone/>
                      </a:pPr>
                      <a:r>
                        <a:rPr lang="en-US" sz="1200" b="1" dirty="0">
                          <a:solidFill>
                            <a:srgbClr val="FFFFFF"/>
                          </a:solidFill>
                        </a:rPr>
                        <a:t>temp &gt; 100?</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03767"/>
                    </a:solidFill>
                  </a:tcPr>
                </a:tc>
                <a:tc>
                  <a:txBody>
                    <a:bodyPr/>
                    <a:lstStyle/>
                    <a:p>
                      <a:pPr marL="0" indent="0">
                        <a:buNone/>
                      </a:pPr>
                      <a:r>
                        <a:rPr lang="en-US" sz="1200" b="1" dirty="0">
                          <a:solidFill>
                            <a:srgbClr val="FFFFFF"/>
                          </a:solidFill>
                        </a:rPr>
                        <a:t>danger_count after</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03767"/>
                    </a:solidFill>
                  </a:tcPr>
                </a:tc>
                <a:extLst>
                  <a:ext uri="{0D108BD9-81ED-4DB2-BD59-A6C34878D82A}">
                    <a16:rowId xmlns:a16="http://schemas.microsoft.com/office/drawing/2014/main" val="10000"/>
                  </a:ext>
                </a:extLst>
              </a:tr>
              <a:tr h="441543">
                <a:tc>
                  <a:txBody>
                    <a:bodyPr/>
                    <a:lstStyle/>
                    <a:p>
                      <a:pPr marL="0" indent="0">
                        <a:buNone/>
                      </a:pPr>
                      <a:r>
                        <a:rPr lang="en-US" sz="1200" dirty="0">
                          <a:solidFill>
                            <a:srgbClr val="1A1A2E"/>
                          </a:solidFill>
                        </a:rPr>
                        <a:t>0</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rPr>
                        <a:t>95</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BBBBBB"/>
                          </a:solidFill>
                        </a:rPr>
                        <a:t>?</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tc>
                  <a:txBody>
                    <a:bodyPr/>
                    <a:lstStyle/>
                    <a:p>
                      <a:pPr marL="0" indent="0">
                        <a:buNone/>
                      </a:pPr>
                      <a:r>
                        <a:rPr lang="en-US" sz="1200" dirty="0">
                          <a:solidFill>
                            <a:srgbClr val="BBBBBB"/>
                          </a:solidFill>
                        </a:rPr>
                        <a:t>?</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extLst>
                  <a:ext uri="{0D108BD9-81ED-4DB2-BD59-A6C34878D82A}">
                    <a16:rowId xmlns:a16="http://schemas.microsoft.com/office/drawing/2014/main" val="10001"/>
                  </a:ext>
                </a:extLst>
              </a:tr>
              <a:tr h="441543">
                <a:tc>
                  <a:txBody>
                    <a:bodyPr/>
                    <a:lstStyle/>
                    <a:p>
                      <a:pPr marL="0" indent="0">
                        <a:buNone/>
                      </a:pPr>
                      <a:r>
                        <a:rPr lang="en-US" sz="1200" dirty="0">
                          <a:solidFill>
                            <a:srgbClr val="1A1A2E"/>
                          </a:solidFill>
                        </a:rPr>
                        <a:t>1</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rPr>
                        <a:t>110</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BBBBBB"/>
                          </a:solidFill>
                        </a:rPr>
                        <a:t>?</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tc>
                  <a:txBody>
                    <a:bodyPr/>
                    <a:lstStyle/>
                    <a:p>
                      <a:pPr marL="0" indent="0">
                        <a:buNone/>
                      </a:pPr>
                      <a:r>
                        <a:rPr lang="en-US" sz="1200" dirty="0">
                          <a:solidFill>
                            <a:srgbClr val="BBBBBB"/>
                          </a:solidFill>
                        </a:rPr>
                        <a:t>?</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441543">
                <a:tc>
                  <a:txBody>
                    <a:bodyPr/>
                    <a:lstStyle/>
                    <a:p>
                      <a:pPr marL="0" indent="0">
                        <a:buNone/>
                      </a:pPr>
                      <a:r>
                        <a:rPr lang="en-US" sz="1200" dirty="0">
                          <a:solidFill>
                            <a:srgbClr val="1A1A2E"/>
                          </a:solidFill>
                        </a:rPr>
                        <a:t>2</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rPr>
                        <a:t>88</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BBBBBB"/>
                          </a:solidFill>
                        </a:rPr>
                        <a:t>?</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tc>
                  <a:txBody>
                    <a:bodyPr/>
                    <a:lstStyle/>
                    <a:p>
                      <a:pPr marL="0" indent="0">
                        <a:buNone/>
                      </a:pPr>
                      <a:r>
                        <a:rPr lang="en-US" sz="1200" dirty="0">
                          <a:solidFill>
                            <a:srgbClr val="BBBBBB"/>
                          </a:solidFill>
                        </a:rPr>
                        <a:t>?</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extLst>
                  <a:ext uri="{0D108BD9-81ED-4DB2-BD59-A6C34878D82A}">
                    <a16:rowId xmlns:a16="http://schemas.microsoft.com/office/drawing/2014/main" val="10003"/>
                  </a:ext>
                </a:extLst>
              </a:tr>
              <a:tr h="441543">
                <a:tc>
                  <a:txBody>
                    <a:bodyPr/>
                    <a:lstStyle/>
                    <a:p>
                      <a:pPr marL="0" indent="0">
                        <a:buNone/>
                      </a:pPr>
                      <a:r>
                        <a:rPr lang="en-US" sz="1200" dirty="0">
                          <a:solidFill>
                            <a:srgbClr val="1A1A2E"/>
                          </a:solidFill>
                        </a:rPr>
                        <a:t>3</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rPr>
                        <a:t>102</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BBBBBB"/>
                          </a:solidFill>
                        </a:rPr>
                        <a:t>?</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tc>
                  <a:txBody>
                    <a:bodyPr/>
                    <a:lstStyle/>
                    <a:p>
                      <a:pPr marL="0" indent="0">
                        <a:buNone/>
                      </a:pPr>
                      <a:r>
                        <a:rPr lang="en-US" sz="1200" dirty="0">
                          <a:solidFill>
                            <a:srgbClr val="BBBBBB"/>
                          </a:solidFill>
                        </a:rPr>
                        <a:t>?</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r h="441543">
                <a:tc>
                  <a:txBody>
                    <a:bodyPr/>
                    <a:lstStyle/>
                    <a:p>
                      <a:pPr marL="0" indent="0">
                        <a:buNone/>
                      </a:pPr>
                      <a:r>
                        <a:rPr lang="en-US" sz="1200" dirty="0">
                          <a:solidFill>
                            <a:srgbClr val="1A1A2E"/>
                          </a:solidFill>
                        </a:rPr>
                        <a:t>4</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rPr>
                        <a:t>97</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BBBBBB"/>
                          </a:solidFill>
                        </a:rPr>
                        <a:t>?</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tc>
                  <a:txBody>
                    <a:bodyPr/>
                    <a:lstStyle/>
                    <a:p>
                      <a:pPr marL="0" indent="0">
                        <a:buNone/>
                      </a:pPr>
                      <a:r>
                        <a:rPr lang="en-US" sz="1200" dirty="0">
                          <a:solidFill>
                            <a:srgbClr val="BBBBBB"/>
                          </a:solidFill>
                        </a:rPr>
                        <a:t>?</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extLst>
                  <a:ext uri="{0D108BD9-81ED-4DB2-BD59-A6C34878D82A}">
                    <a16:rowId xmlns:a16="http://schemas.microsoft.com/office/drawing/2014/main" val="10005"/>
                  </a:ext>
                </a:extLst>
              </a:tr>
            </a:tbl>
          </a:graphicData>
        </a:graphic>
      </p:graphicFrame>
      <p:sp>
        <p:nvSpPr>
          <p:cNvPr id="8" name="Text 5"/>
          <p:cNvSpPr txBox="1"/>
          <p:nvPr/>
        </p:nvSpPr>
        <p:spPr>
          <a:xfrm>
            <a:off x="274320" y="6537960"/>
            <a:ext cx="11612880" cy="274320"/>
          </a:xfrm>
          <a:prstGeom prst="rect">
            <a:avLst/>
          </a:prstGeom>
          <a:noFill/>
          <a:ln/>
        </p:spPr>
        <p:txBody>
          <a:bodyPr wrap="square" rtlCol="0" anchor="ctr"/>
          <a:lstStyle/>
          <a:p>
            <a:pPr marL="0" indent="0" algn="r">
              <a:buNone/>
            </a:pPr>
            <a:r>
              <a:rPr lang="en-US" sz="1100" dirty="0">
                <a:solidFill>
                  <a:srgbClr val="888888"/>
                </a:solidFill>
              </a:rPr>
              <a:t>CSE 120 · Module 1  ·  Try it first — answer on next slide</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0FFF4"/>
        </a:solidFill>
        <a:effectLst/>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2D6A4F"/>
          </a:solidFill>
          <a:ln w="12700">
            <a:solidFill>
              <a:srgbClr val="2D6A4F"/>
            </a:solidFill>
            <a:prstDash val="solid"/>
          </a:ln>
        </p:spPr>
        <p:txBody>
          <a:bodyPr/>
          <a:lstStyle/>
          <a:p>
            <a:endParaRPr lang="en-US"/>
          </a:p>
        </p:txBody>
      </p:sp>
      <p:sp>
        <p:nvSpPr>
          <p:cNvPr id="3" name="Text 1"/>
          <p:cNvSpPr txBox="1"/>
          <p:nvPr/>
        </p:nvSpPr>
        <p:spPr>
          <a:xfrm>
            <a:off x="274320" y="91440"/>
            <a:ext cx="11612880" cy="777240"/>
          </a:xfrm>
          <a:prstGeom prst="rect">
            <a:avLst/>
          </a:prstGeom>
          <a:noFill/>
          <a:ln/>
        </p:spPr>
        <p:txBody>
          <a:bodyPr wrap="square" rtlCol="0" anchor="ctr"/>
          <a:lstStyle/>
          <a:p>
            <a:pPr marL="0" indent="0">
              <a:buNone/>
            </a:pPr>
            <a:r>
              <a:rPr lang="en-US" sz="2200" b="1" dirty="0">
                <a:solidFill>
                  <a:srgbClr val="FFFFFF"/>
                </a:solidFill>
              </a:rPr>
              <a:t>✅  Answer — for Example 6 — Danger Counter</a:t>
            </a:r>
            <a:endParaRPr lang="en-US" sz="2200" dirty="0"/>
          </a:p>
        </p:txBody>
      </p:sp>
      <p:sp>
        <p:nvSpPr>
          <p:cNvPr id="4" name="Shape 2"/>
          <p:cNvSpPr/>
          <p:nvPr/>
        </p:nvSpPr>
        <p:spPr>
          <a:xfrm>
            <a:off x="0" y="1051560"/>
            <a:ext cx="12161520" cy="1344168"/>
          </a:xfrm>
          <a:prstGeom prst="rect">
            <a:avLst/>
          </a:prstGeom>
          <a:solidFill>
            <a:srgbClr val="1E2D40"/>
          </a:solidFill>
          <a:ln w="12700">
            <a:solidFill>
              <a:srgbClr val="2A4060"/>
            </a:solidFill>
            <a:prstDash val="solid"/>
          </a:ln>
        </p:spPr>
        <p:txBody>
          <a:bodyPr/>
          <a:lstStyle/>
          <a:p>
            <a:endParaRPr lang="en-US"/>
          </a:p>
        </p:txBody>
      </p:sp>
      <p:sp>
        <p:nvSpPr>
          <p:cNvPr id="5" name="Text 3"/>
          <p:cNvSpPr txBox="1"/>
          <p:nvPr/>
        </p:nvSpPr>
        <p:spPr>
          <a:xfrm>
            <a:off x="365760" y="1097280"/>
            <a:ext cx="5120640" cy="1207008"/>
          </a:xfrm>
          <a:prstGeom prst="rect">
            <a:avLst/>
          </a:prstGeom>
          <a:noFill/>
          <a:ln/>
        </p:spPr>
        <p:txBody>
          <a:bodyPr wrap="square" rtlCol="0" anchor="ctr"/>
          <a:lstStyle/>
          <a:p>
            <a:pPr marL="0" indent="0">
              <a:buNone/>
            </a:pPr>
            <a:r>
              <a:rPr lang="en-US" sz="1200" dirty="0">
                <a:solidFill>
                  <a:srgbClr val="E8F4FD"/>
                </a:solidFill>
                <a:latin typeface="Courier New" pitchFamily="34" charset="0"/>
                <a:ea typeface="Courier New" pitchFamily="34" charset="-122"/>
                <a:cs typeface="Courier New" pitchFamily="34" charset="-120"/>
              </a:rPr>
              <a:t>danger_count = 0</a:t>
            </a:r>
            <a:endParaRPr lang="en-US" sz="1200" dirty="0"/>
          </a:p>
          <a:p>
            <a:pPr marL="0" indent="0">
              <a:buNone/>
            </a:pPr>
            <a:r>
              <a:rPr lang="en-US" sz="1200" dirty="0">
                <a:solidFill>
                  <a:srgbClr val="E8F4FD"/>
                </a:solidFill>
                <a:latin typeface="Courier New" pitchFamily="34" charset="0"/>
                <a:ea typeface="Courier New" pitchFamily="34" charset="-122"/>
                <a:cs typeface="Courier New" pitchFamily="34" charset="-120"/>
              </a:rPr>
              <a:t>for i in range(5):</a:t>
            </a:r>
            <a:endParaRPr lang="en-US" sz="1200" dirty="0"/>
          </a:p>
          <a:p>
            <a:pPr marL="0" indent="0">
              <a:buNone/>
            </a:pPr>
            <a:r>
              <a:rPr lang="en-US" sz="1200" dirty="0">
                <a:solidFill>
                  <a:srgbClr val="E8F4FD"/>
                </a:solidFill>
                <a:latin typeface="Courier New" pitchFamily="34" charset="0"/>
                <a:ea typeface="Courier New" pitchFamily="34" charset="-122"/>
                <a:cs typeface="Courier New" pitchFamily="34" charset="-120"/>
              </a:rPr>
              <a:t>    if temp &gt; 100:</a:t>
            </a:r>
            <a:endParaRPr lang="en-US" sz="1200" dirty="0"/>
          </a:p>
          <a:p>
            <a:pPr marL="0" indent="0">
              <a:buNone/>
            </a:pPr>
            <a:r>
              <a:rPr lang="en-US" sz="1200" dirty="0">
                <a:solidFill>
                  <a:srgbClr val="E8F4FD"/>
                </a:solidFill>
                <a:latin typeface="Courier New" pitchFamily="34" charset="0"/>
                <a:ea typeface="Courier New" pitchFamily="34" charset="-122"/>
                <a:cs typeface="Courier New" pitchFamily="34" charset="-120"/>
              </a:rPr>
              <a:t>        danger_count = danger_count + 1</a:t>
            </a:r>
            <a:endParaRPr lang="en-US" sz="1200" dirty="0"/>
          </a:p>
        </p:txBody>
      </p:sp>
      <p:graphicFrame>
        <p:nvGraphicFramePr>
          <p:cNvPr id="52" name="Table 0"/>
          <p:cNvGraphicFramePr>
            <a:graphicFrameLocks noGrp="1"/>
          </p:cNvGraphicFramePr>
          <p:nvPr>
            <p:extLst>
              <p:ext uri="{D42A27DB-BD31-4B8C-83A1-F6EECF244321}">
                <p14:modId xmlns:p14="http://schemas.microsoft.com/office/powerpoint/2010/main" val="668550352"/>
              </p:ext>
            </p:extLst>
          </p:nvPr>
        </p:nvGraphicFramePr>
        <p:xfrm>
          <a:off x="1715440" y="2602408"/>
          <a:ext cx="8730640" cy="4005072"/>
        </p:xfrm>
        <a:graphic>
          <a:graphicData uri="http://schemas.openxmlformats.org/drawingml/2006/table">
            <a:tbl>
              <a:tblPr/>
              <a:tblGrid>
                <a:gridCol w="2182660">
                  <a:extLst>
                    <a:ext uri="{9D8B030D-6E8A-4147-A177-3AD203B41FA5}">
                      <a16:colId xmlns:a16="http://schemas.microsoft.com/office/drawing/2014/main" val="20000"/>
                    </a:ext>
                  </a:extLst>
                </a:gridCol>
                <a:gridCol w="2182660">
                  <a:extLst>
                    <a:ext uri="{9D8B030D-6E8A-4147-A177-3AD203B41FA5}">
                      <a16:colId xmlns:a16="http://schemas.microsoft.com/office/drawing/2014/main" val="20001"/>
                    </a:ext>
                  </a:extLst>
                </a:gridCol>
                <a:gridCol w="2182660">
                  <a:extLst>
                    <a:ext uri="{9D8B030D-6E8A-4147-A177-3AD203B41FA5}">
                      <a16:colId xmlns:a16="http://schemas.microsoft.com/office/drawing/2014/main" val="20002"/>
                    </a:ext>
                  </a:extLst>
                </a:gridCol>
                <a:gridCol w="2182660">
                  <a:extLst>
                    <a:ext uri="{9D8B030D-6E8A-4147-A177-3AD203B41FA5}">
                      <a16:colId xmlns:a16="http://schemas.microsoft.com/office/drawing/2014/main" val="20003"/>
                    </a:ext>
                  </a:extLst>
                </a:gridCol>
              </a:tblGrid>
              <a:tr h="667512">
                <a:tc>
                  <a:txBody>
                    <a:bodyPr/>
                    <a:lstStyle/>
                    <a:p>
                      <a:pPr marL="0" indent="0">
                        <a:buNone/>
                      </a:pPr>
                      <a:r>
                        <a:rPr lang="en-US" sz="1200" b="1" dirty="0">
                          <a:solidFill>
                            <a:srgbClr val="FFFFFF"/>
                          </a:solidFill>
                        </a:rPr>
                        <a:t>i</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2D6A4F"/>
                    </a:solidFill>
                  </a:tcPr>
                </a:tc>
                <a:tc>
                  <a:txBody>
                    <a:bodyPr/>
                    <a:lstStyle/>
                    <a:p>
                      <a:pPr marL="0" indent="0">
                        <a:buNone/>
                      </a:pPr>
                      <a:r>
                        <a:rPr lang="en-US" sz="1200" b="1" dirty="0">
                          <a:solidFill>
                            <a:srgbClr val="FFFFFF"/>
                          </a:solidFill>
                        </a:rPr>
                        <a:t>temperature</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2D6A4F"/>
                    </a:solidFill>
                  </a:tcPr>
                </a:tc>
                <a:tc>
                  <a:txBody>
                    <a:bodyPr/>
                    <a:lstStyle/>
                    <a:p>
                      <a:pPr marL="0" indent="0">
                        <a:buNone/>
                      </a:pPr>
                      <a:r>
                        <a:rPr lang="en-US" sz="1200" b="1" dirty="0">
                          <a:solidFill>
                            <a:srgbClr val="FFFFFF"/>
                          </a:solidFill>
                        </a:rPr>
                        <a:t>temp &gt; 100?</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2D6A4F"/>
                    </a:solidFill>
                  </a:tcPr>
                </a:tc>
                <a:tc>
                  <a:txBody>
                    <a:bodyPr/>
                    <a:lstStyle/>
                    <a:p>
                      <a:pPr marL="0" indent="0">
                        <a:buNone/>
                      </a:pPr>
                      <a:r>
                        <a:rPr lang="en-US" sz="1200" b="1" dirty="0">
                          <a:solidFill>
                            <a:srgbClr val="FFFFFF"/>
                          </a:solidFill>
                        </a:rPr>
                        <a:t>danger_count after</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2D6A4F"/>
                    </a:solidFill>
                  </a:tcPr>
                </a:tc>
                <a:extLst>
                  <a:ext uri="{0D108BD9-81ED-4DB2-BD59-A6C34878D82A}">
                    <a16:rowId xmlns:a16="http://schemas.microsoft.com/office/drawing/2014/main" val="10000"/>
                  </a:ext>
                </a:extLst>
              </a:tr>
              <a:tr h="667512">
                <a:tc>
                  <a:txBody>
                    <a:bodyPr/>
                    <a:lstStyle/>
                    <a:p>
                      <a:pPr marL="0" indent="0">
                        <a:buNone/>
                      </a:pPr>
                      <a:r>
                        <a:rPr lang="en-US" sz="1200" dirty="0">
                          <a:solidFill>
                            <a:srgbClr val="1A1A2E"/>
                          </a:solidFill>
                        </a:rPr>
                        <a:t>0</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rPr>
                        <a:t>95</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rPr>
                        <a:t>No (95 ≤ 100)</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rPr>
                        <a:t>0</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67512">
                <a:tc>
                  <a:txBody>
                    <a:bodyPr/>
                    <a:lstStyle/>
                    <a:p>
                      <a:pPr marL="0" indent="0">
                        <a:buNone/>
                      </a:pPr>
                      <a:r>
                        <a:rPr lang="en-US" sz="1200" dirty="0">
                          <a:solidFill>
                            <a:srgbClr val="1A1A2E"/>
                          </a:solidFill>
                        </a:rPr>
                        <a:t>1</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rPr>
                        <a:t>110</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rPr>
                        <a:t>Yes (110 &gt; 100)</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rPr>
                        <a:t>1</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67512">
                <a:tc>
                  <a:txBody>
                    <a:bodyPr/>
                    <a:lstStyle/>
                    <a:p>
                      <a:pPr marL="0" indent="0">
                        <a:buNone/>
                      </a:pPr>
                      <a:r>
                        <a:rPr lang="en-US" sz="1200" dirty="0">
                          <a:solidFill>
                            <a:srgbClr val="1A1A2E"/>
                          </a:solidFill>
                        </a:rPr>
                        <a:t>2</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rPr>
                        <a:t>88</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rPr>
                        <a:t>No (88 ≤ 100)</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rPr>
                        <a:t>1</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67512">
                <a:tc>
                  <a:txBody>
                    <a:bodyPr/>
                    <a:lstStyle/>
                    <a:p>
                      <a:pPr marL="0" indent="0">
                        <a:buNone/>
                      </a:pPr>
                      <a:r>
                        <a:rPr lang="en-US" sz="1200" dirty="0">
                          <a:solidFill>
                            <a:srgbClr val="1A1A2E"/>
                          </a:solidFill>
                        </a:rPr>
                        <a:t>3</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rPr>
                        <a:t>102</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rPr>
                        <a:t>Yes (102 &gt; 100)</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rPr>
                        <a:t>2</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67512">
                <a:tc>
                  <a:txBody>
                    <a:bodyPr/>
                    <a:lstStyle/>
                    <a:p>
                      <a:pPr marL="0" indent="0">
                        <a:buNone/>
                      </a:pPr>
                      <a:r>
                        <a:rPr lang="en-US" sz="1200" dirty="0">
                          <a:solidFill>
                            <a:srgbClr val="1A1A2E"/>
                          </a:solidFill>
                        </a:rPr>
                        <a:t>4</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rPr>
                        <a:t>97</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rPr>
                        <a:t>No (97 ≤ 100)</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rPr>
                        <a:t>2</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Text 4"/>
          <p:cNvSpPr txBox="1"/>
          <p:nvPr/>
        </p:nvSpPr>
        <p:spPr>
          <a:xfrm>
            <a:off x="274320" y="6537960"/>
            <a:ext cx="11612880" cy="274320"/>
          </a:xfrm>
          <a:prstGeom prst="rect">
            <a:avLst/>
          </a:prstGeom>
          <a:noFill/>
          <a:ln/>
        </p:spPr>
        <p:txBody>
          <a:bodyPr wrap="square" rtlCol="0" anchor="ctr"/>
          <a:lstStyle/>
          <a:p>
            <a:pPr marL="0" indent="0" algn="r">
              <a:buNone/>
            </a:pPr>
            <a:r>
              <a:rPr lang="en-US" sz="1100" dirty="0">
                <a:solidFill>
                  <a:srgbClr val="888888"/>
                </a:solidFill>
              </a:rPr>
              <a:t>CSE 120 · Module 1</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822960"/>
          </a:xfrm>
          <a:prstGeom prst="rect">
            <a:avLst/>
          </a:prstGeom>
          <a:solidFill>
            <a:srgbClr val="003767"/>
          </a:solidFill>
          <a:ln w="12700">
            <a:solidFill>
              <a:srgbClr val="003767"/>
            </a:solidFill>
            <a:prstDash val="solid"/>
          </a:ln>
        </p:spPr>
        <p:txBody>
          <a:bodyPr/>
          <a:lstStyle/>
          <a:p>
            <a:endParaRPr lang="en-US"/>
          </a:p>
        </p:txBody>
      </p:sp>
      <p:sp>
        <p:nvSpPr>
          <p:cNvPr id="3" name="Text 1"/>
          <p:cNvSpPr txBox="1"/>
          <p:nvPr/>
        </p:nvSpPr>
        <p:spPr>
          <a:xfrm>
            <a:off x="274320" y="73152"/>
            <a:ext cx="11612880" cy="685800"/>
          </a:xfrm>
          <a:prstGeom prst="rect">
            <a:avLst/>
          </a:prstGeom>
          <a:noFill/>
          <a:ln/>
        </p:spPr>
        <p:txBody>
          <a:bodyPr wrap="square" rtlCol="0" anchor="ctr"/>
          <a:lstStyle/>
          <a:p>
            <a:pPr marL="0" indent="0">
              <a:buNone/>
            </a:pPr>
            <a:r>
              <a:rPr lang="en-US" sz="2000" b="1" dirty="0">
                <a:solidFill>
                  <a:srgbClr val="FFFFFF"/>
                </a:solidFill>
              </a:rPr>
              <a:t>The while Loop — When You Don't Know How Many Times</a:t>
            </a:r>
            <a:endParaRPr lang="en-US" sz="2000" dirty="0"/>
          </a:p>
        </p:txBody>
      </p:sp>
      <p:sp>
        <p:nvSpPr>
          <p:cNvPr id="4" name="Text 2"/>
          <p:cNvSpPr txBox="1"/>
          <p:nvPr/>
        </p:nvSpPr>
        <p:spPr>
          <a:xfrm>
            <a:off x="365760" y="914400"/>
            <a:ext cx="11430000" cy="5577840"/>
          </a:xfrm>
          <a:prstGeom prst="rect">
            <a:avLst/>
          </a:prstGeom>
          <a:noFill/>
          <a:ln/>
        </p:spPr>
        <p:txBody>
          <a:bodyPr wrap="square" rtlCol="0" anchor="t"/>
          <a:lstStyle/>
          <a:p>
            <a:pPr marL="342900" indent="-342900">
              <a:spcAft>
                <a:spcPts val="800"/>
              </a:spcAft>
              <a:buSzPct val="100000"/>
              <a:buChar char="•"/>
            </a:pPr>
            <a:r>
              <a:rPr lang="en-US" sz="1500" dirty="0">
                <a:solidFill>
                  <a:srgbClr val="1A1A2E"/>
                </a:solidFill>
              </a:rPr>
              <a:t>A for loop is perfect when you know exactly how many times to repeat</a:t>
            </a:r>
            <a:endParaRPr lang="en-US" sz="1500" dirty="0"/>
          </a:p>
          <a:p>
            <a:pPr marL="342900" indent="-342900">
              <a:spcAft>
                <a:spcPts val="1800"/>
              </a:spcAft>
              <a:buSzPct val="100000"/>
              <a:buChar char="•"/>
            </a:pPr>
            <a:r>
              <a:rPr lang="en-US" sz="1500" b="1" dirty="0">
                <a:solidFill>
                  <a:srgbClr val="1A1A2E"/>
                </a:solidFill>
              </a:rPr>
              <a:t>But sometimes you don't know in advance — you want to keep going until something changes</a:t>
            </a:r>
            <a:endParaRPr lang="en-US" sz="1500" dirty="0"/>
          </a:p>
          <a:p>
            <a:pPr marL="0" indent="0">
              <a:spcAft>
                <a:spcPts val="800"/>
              </a:spcAft>
              <a:buNone/>
            </a:pPr>
            <a:r>
              <a:rPr lang="en-US" sz="1500" b="1" dirty="0">
                <a:solidFill>
                  <a:srgbClr val="1A1A2E"/>
                </a:solidFill>
              </a:rPr>
              <a:t>A while loop repeats AS LONG AS a condition is True:</a:t>
            </a:r>
            <a:endParaRPr lang="en-US" sz="1500" dirty="0"/>
          </a:p>
          <a:p>
            <a:pPr marL="0" indent="0">
              <a:spcAft>
                <a:spcPts val="400"/>
              </a:spcAft>
              <a:buNone/>
            </a:pPr>
            <a:r>
              <a:rPr lang="en-US" sz="1600" dirty="0">
                <a:solidFill>
                  <a:srgbClr val="1E2D40"/>
                </a:solidFill>
              </a:rPr>
              <a:t>while &lt;condition&gt;:</a:t>
            </a:r>
            <a:endParaRPr lang="en-US" sz="1500" dirty="0"/>
          </a:p>
          <a:p>
            <a:pPr marL="0" indent="0">
              <a:spcAft>
                <a:spcPts val="1600"/>
              </a:spcAft>
              <a:buNone/>
            </a:pPr>
            <a:r>
              <a:rPr lang="en-US" sz="1400" dirty="0">
                <a:solidFill>
                  <a:srgbClr val="1E2D40"/>
                </a:solidFill>
              </a:rPr>
              <a:t>    # code that runs each time condition is True</a:t>
            </a:r>
            <a:endParaRPr lang="en-US" sz="1500" dirty="0"/>
          </a:p>
          <a:p>
            <a:pPr marL="342900" indent="-342900">
              <a:spcAft>
                <a:spcPts val="400"/>
              </a:spcAft>
              <a:buSzPct val="100000"/>
              <a:buChar char="•"/>
            </a:pPr>
            <a:r>
              <a:rPr lang="en-US" sz="1500" dirty="0">
                <a:solidFill>
                  <a:srgbClr val="1A1A2E"/>
                </a:solidFill>
              </a:rPr>
              <a:t>Python checks the condition before every iteration. When it's False, the loop stops.</a:t>
            </a:r>
            <a:endParaRPr lang="en-US" sz="1500" dirty="0"/>
          </a:p>
        </p:txBody>
      </p:sp>
      <p:sp>
        <p:nvSpPr>
          <p:cNvPr id="5" name="Text 3"/>
          <p:cNvSpPr txBox="1"/>
          <p:nvPr/>
        </p:nvSpPr>
        <p:spPr>
          <a:xfrm>
            <a:off x="274320" y="6537960"/>
            <a:ext cx="11612880" cy="274320"/>
          </a:xfrm>
          <a:prstGeom prst="rect">
            <a:avLst/>
          </a:prstGeom>
          <a:noFill/>
          <a:ln/>
        </p:spPr>
        <p:txBody>
          <a:bodyPr wrap="square" rtlCol="0" anchor="ctr"/>
          <a:lstStyle/>
          <a:p>
            <a:pPr marL="0" indent="0" algn="r">
              <a:buNone/>
            </a:pPr>
            <a:r>
              <a:rPr lang="en-US" sz="1100" dirty="0">
                <a:solidFill>
                  <a:srgbClr val="999999"/>
                </a:solidFill>
              </a:rPr>
              <a:t>CSE 120 · Module 1</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822960"/>
          </a:xfrm>
          <a:prstGeom prst="rect">
            <a:avLst/>
          </a:prstGeom>
          <a:solidFill>
            <a:srgbClr val="003767"/>
          </a:solidFill>
          <a:ln w="12700">
            <a:solidFill>
              <a:srgbClr val="003767"/>
            </a:solidFill>
            <a:prstDash val="solid"/>
          </a:ln>
        </p:spPr>
        <p:txBody>
          <a:bodyPr/>
          <a:lstStyle/>
          <a:p>
            <a:endParaRPr lang="en-US"/>
          </a:p>
        </p:txBody>
      </p:sp>
      <p:sp>
        <p:nvSpPr>
          <p:cNvPr id="3" name="Text 1"/>
          <p:cNvSpPr txBox="1"/>
          <p:nvPr/>
        </p:nvSpPr>
        <p:spPr>
          <a:xfrm>
            <a:off x="274320" y="73152"/>
            <a:ext cx="11612880" cy="685800"/>
          </a:xfrm>
          <a:prstGeom prst="rect">
            <a:avLst/>
          </a:prstGeom>
          <a:noFill/>
          <a:ln/>
        </p:spPr>
        <p:txBody>
          <a:bodyPr wrap="square" rtlCol="0" anchor="ctr"/>
          <a:lstStyle/>
          <a:p>
            <a:pPr marL="0" indent="0">
              <a:buNone/>
            </a:pPr>
            <a:r>
              <a:rPr lang="en-US" sz="2000" b="1" dirty="0">
                <a:solidFill>
                  <a:srgbClr val="FFFFFF"/>
                </a:solidFill>
              </a:rPr>
              <a:t>while Example 1 — Counting 1 to 5</a:t>
            </a:r>
            <a:endParaRPr lang="en-US" sz="2000" dirty="0"/>
          </a:p>
        </p:txBody>
      </p:sp>
      <p:sp>
        <p:nvSpPr>
          <p:cNvPr id="4" name="Shape 2"/>
          <p:cNvSpPr/>
          <p:nvPr/>
        </p:nvSpPr>
        <p:spPr>
          <a:xfrm>
            <a:off x="274320" y="914400"/>
            <a:ext cx="6400800" cy="5394960"/>
          </a:xfrm>
          <a:prstGeom prst="rect">
            <a:avLst/>
          </a:prstGeom>
          <a:solidFill>
            <a:srgbClr val="1E2D40"/>
          </a:solidFill>
          <a:ln w="12700">
            <a:solidFill>
              <a:srgbClr val="2A4060"/>
            </a:solidFill>
            <a:prstDash val="solid"/>
          </a:ln>
        </p:spPr>
        <p:txBody>
          <a:bodyPr/>
          <a:lstStyle/>
          <a:p>
            <a:endParaRPr lang="en-US"/>
          </a:p>
        </p:txBody>
      </p:sp>
      <p:sp>
        <p:nvSpPr>
          <p:cNvPr id="5" name="Text 3"/>
          <p:cNvSpPr txBox="1"/>
          <p:nvPr/>
        </p:nvSpPr>
        <p:spPr>
          <a:xfrm>
            <a:off x="365760" y="960120"/>
            <a:ext cx="6217920" cy="320040"/>
          </a:xfrm>
          <a:prstGeom prst="rect">
            <a:avLst/>
          </a:prstGeom>
          <a:noFill/>
          <a:ln/>
        </p:spPr>
        <p:txBody>
          <a:bodyPr wrap="square" rtlCol="0" anchor="ctr"/>
          <a:lstStyle/>
          <a:p>
            <a:pPr marL="0" indent="0">
              <a:buNone/>
            </a:pPr>
            <a:r>
              <a:rPr lang="en-US" sz="1100" b="1" dirty="0">
                <a:solidFill>
                  <a:srgbClr val="88AACC"/>
                </a:solidFill>
              </a:rPr>
              <a:t>python</a:t>
            </a:r>
            <a:endParaRPr lang="en-US" sz="1100" dirty="0"/>
          </a:p>
        </p:txBody>
      </p:sp>
      <p:sp>
        <p:nvSpPr>
          <p:cNvPr id="6" name="Text 4"/>
          <p:cNvSpPr txBox="1"/>
          <p:nvPr/>
        </p:nvSpPr>
        <p:spPr>
          <a:xfrm>
            <a:off x="365760" y="1325880"/>
            <a:ext cx="6217920" cy="4846320"/>
          </a:xfrm>
          <a:prstGeom prst="rect">
            <a:avLst/>
          </a:prstGeom>
          <a:noFill/>
          <a:ln/>
        </p:spPr>
        <p:txBody>
          <a:bodyPr wrap="square" rtlCol="0" anchor="t"/>
          <a:lstStyle/>
          <a:p>
            <a:pPr marL="0" indent="0">
              <a:buNone/>
            </a:pPr>
            <a:r>
              <a:rPr lang="en-US" sz="1300" dirty="0">
                <a:solidFill>
                  <a:srgbClr val="E8F4FD"/>
                </a:solidFill>
                <a:latin typeface="Courier New" pitchFamily="34" charset="0"/>
                <a:ea typeface="Courier New" pitchFamily="34" charset="-122"/>
                <a:cs typeface="Courier New" pitchFamily="34" charset="-120"/>
              </a:rPr>
              <a:t>count = 1   # start at 1</a:t>
            </a:r>
            <a:endParaRPr lang="en-US" sz="1300" dirty="0"/>
          </a:p>
          <a:p>
            <a:pPr marL="0" indent="0">
              <a:buNone/>
            </a:pPr>
            <a:endParaRPr lang="en-US" sz="1300" dirty="0"/>
          </a:p>
          <a:p>
            <a:pPr marL="0" indent="0">
              <a:buNone/>
            </a:pPr>
            <a:r>
              <a:rPr lang="en-US" sz="1300" dirty="0">
                <a:solidFill>
                  <a:srgbClr val="E8F4FD"/>
                </a:solidFill>
                <a:latin typeface="Courier New" pitchFamily="34" charset="0"/>
                <a:ea typeface="Courier New" pitchFamily="34" charset="-122"/>
                <a:cs typeface="Courier New" pitchFamily="34" charset="-120"/>
              </a:rPr>
              <a:t>while count &lt;= 5:</a:t>
            </a:r>
            <a:endParaRPr lang="en-US" sz="1300" dirty="0"/>
          </a:p>
          <a:p>
            <a:pPr marL="0" indent="0">
              <a:buNone/>
            </a:pPr>
            <a:r>
              <a:rPr lang="en-US" sz="1300" dirty="0">
                <a:solidFill>
                  <a:srgbClr val="E8F4FD"/>
                </a:solidFill>
                <a:latin typeface="Courier New" pitchFamily="34" charset="0"/>
                <a:ea typeface="Courier New" pitchFamily="34" charset="-122"/>
                <a:cs typeface="Courier New" pitchFamily="34" charset="-120"/>
              </a:rPr>
              <a:t>    print("Count is:", count)</a:t>
            </a:r>
            <a:endParaRPr lang="en-US" sz="1300" dirty="0"/>
          </a:p>
          <a:p>
            <a:pPr marL="0" indent="0">
              <a:buNone/>
            </a:pPr>
            <a:r>
              <a:rPr lang="en-US" sz="1300" dirty="0">
                <a:solidFill>
                  <a:srgbClr val="E8F4FD"/>
                </a:solidFill>
                <a:latin typeface="Courier New" pitchFamily="34" charset="0"/>
                <a:ea typeface="Courier New" pitchFamily="34" charset="-122"/>
                <a:cs typeface="Courier New" pitchFamily="34" charset="-120"/>
              </a:rPr>
              <a:t>    count = count + 1  # MUST update count!</a:t>
            </a:r>
            <a:endParaRPr lang="en-US" sz="1300" dirty="0"/>
          </a:p>
          <a:p>
            <a:pPr marL="0" indent="0">
              <a:buNone/>
            </a:pPr>
            <a:endParaRPr lang="en-US" sz="1300" dirty="0"/>
          </a:p>
          <a:p>
            <a:pPr marL="0" indent="0">
              <a:buNone/>
            </a:pPr>
            <a:r>
              <a:rPr lang="en-US" sz="1300" dirty="0">
                <a:solidFill>
                  <a:srgbClr val="E8F4FD"/>
                </a:solidFill>
                <a:latin typeface="Courier New" pitchFamily="34" charset="0"/>
                <a:ea typeface="Courier New" pitchFamily="34" charset="-122"/>
                <a:cs typeface="Courier New" pitchFamily="34" charset="-120"/>
              </a:rPr>
              <a:t>print("Done!")</a:t>
            </a:r>
            <a:endParaRPr lang="en-US" sz="1300" dirty="0"/>
          </a:p>
        </p:txBody>
      </p:sp>
      <p:sp>
        <p:nvSpPr>
          <p:cNvPr id="7" name="Text 5"/>
          <p:cNvSpPr txBox="1"/>
          <p:nvPr/>
        </p:nvSpPr>
        <p:spPr>
          <a:xfrm>
            <a:off x="6949440" y="914400"/>
            <a:ext cx="4937760" cy="5394960"/>
          </a:xfrm>
          <a:prstGeom prst="rect">
            <a:avLst/>
          </a:prstGeom>
          <a:noFill/>
          <a:ln/>
        </p:spPr>
        <p:txBody>
          <a:bodyPr wrap="square" rtlCol="0" anchor="t"/>
          <a:lstStyle/>
          <a:p>
            <a:pPr marL="0" indent="0">
              <a:spcAft>
                <a:spcPts val="600"/>
              </a:spcAft>
              <a:buNone/>
            </a:pPr>
            <a:r>
              <a:rPr lang="en-US" sz="1400" b="1" dirty="0">
                <a:solidFill>
                  <a:srgbClr val="1A1A2E"/>
                </a:solidFill>
              </a:rPr>
              <a:t>How Python reads this:</a:t>
            </a:r>
            <a:endParaRPr lang="en-US" sz="1400" dirty="0"/>
          </a:p>
          <a:p>
            <a:pPr marL="342900" indent="-342900">
              <a:spcAft>
                <a:spcPts val="400"/>
              </a:spcAft>
              <a:buSzPct val="100000"/>
              <a:buChar char="•"/>
            </a:pPr>
            <a:r>
              <a:rPr lang="en-US" sz="1400" dirty="0">
                <a:solidFill>
                  <a:srgbClr val="1A1A2E"/>
                </a:solidFill>
              </a:rPr>
              <a:t>Is count (1) ≤ 5?  Yes → print, count becomes 2</a:t>
            </a:r>
            <a:endParaRPr lang="en-US" sz="1400" dirty="0"/>
          </a:p>
          <a:p>
            <a:pPr marL="342900" indent="-342900">
              <a:spcAft>
                <a:spcPts val="400"/>
              </a:spcAft>
              <a:buSzPct val="100000"/>
              <a:buChar char="•"/>
            </a:pPr>
            <a:r>
              <a:rPr lang="en-US" sz="1400" dirty="0">
                <a:solidFill>
                  <a:srgbClr val="1A1A2E"/>
                </a:solidFill>
              </a:rPr>
              <a:t>Is count (2) ≤ 5?  Yes → print, count becomes 3</a:t>
            </a:r>
            <a:endParaRPr lang="en-US" sz="1400" dirty="0"/>
          </a:p>
          <a:p>
            <a:pPr marL="342900" indent="-342900">
              <a:spcAft>
                <a:spcPts val="400"/>
              </a:spcAft>
              <a:buSzPct val="100000"/>
              <a:buChar char="•"/>
            </a:pPr>
            <a:r>
              <a:rPr lang="en-US" sz="1400" dirty="0">
                <a:solidFill>
                  <a:srgbClr val="1A1A2E"/>
                </a:solidFill>
              </a:rPr>
              <a:t>Is count (3) ≤ 5?  Yes → print, count becomes 4</a:t>
            </a:r>
            <a:endParaRPr lang="en-US" sz="1400" dirty="0"/>
          </a:p>
          <a:p>
            <a:pPr marL="342900" indent="-342900">
              <a:spcAft>
                <a:spcPts val="400"/>
              </a:spcAft>
              <a:buSzPct val="100000"/>
              <a:buChar char="•"/>
            </a:pPr>
            <a:r>
              <a:rPr lang="en-US" sz="1400" dirty="0">
                <a:solidFill>
                  <a:srgbClr val="1A1A2E"/>
                </a:solidFill>
              </a:rPr>
              <a:t>Is count (4) ≤ 5?  Yes → print, count becomes 5</a:t>
            </a:r>
            <a:endParaRPr lang="en-US" sz="1400" dirty="0"/>
          </a:p>
          <a:p>
            <a:pPr marL="342900" indent="-342900">
              <a:spcAft>
                <a:spcPts val="400"/>
              </a:spcAft>
              <a:buSzPct val="100000"/>
              <a:buChar char="•"/>
            </a:pPr>
            <a:r>
              <a:rPr lang="en-US" sz="1400" dirty="0">
                <a:solidFill>
                  <a:srgbClr val="1A1A2E"/>
                </a:solidFill>
              </a:rPr>
              <a:t>Is count (5) ≤ 5?  Yes → print, count becomes 6</a:t>
            </a:r>
            <a:endParaRPr lang="en-US" sz="1400" dirty="0"/>
          </a:p>
          <a:p>
            <a:pPr marL="342900" indent="-342900">
              <a:spcAft>
                <a:spcPts val="1000"/>
              </a:spcAft>
              <a:buSzPct val="100000"/>
              <a:buChar char="•"/>
            </a:pPr>
            <a:r>
              <a:rPr lang="en-US" sz="1400" dirty="0">
                <a:solidFill>
                  <a:srgbClr val="1A1A2E"/>
                </a:solidFill>
              </a:rPr>
              <a:t>Is count (6) ≤ 5?  No  → loop ends → "Done!"</a:t>
            </a:r>
            <a:endParaRPr lang="en-US" sz="1400" dirty="0"/>
          </a:p>
          <a:p>
            <a:pPr marL="0" indent="0">
              <a:spcAft>
                <a:spcPts val="500"/>
              </a:spcAft>
              <a:buNone/>
            </a:pPr>
            <a:r>
              <a:rPr lang="en-US" sz="1400" b="1" dirty="0">
                <a:solidFill>
                  <a:srgbClr val="991B1B"/>
                </a:solidFill>
              </a:rPr>
              <a:t>count = count + 1 INSIDE the loop is critical!</a:t>
            </a:r>
            <a:endParaRPr lang="en-US" sz="1400" dirty="0"/>
          </a:p>
        </p:txBody>
      </p:sp>
      <p:sp>
        <p:nvSpPr>
          <p:cNvPr id="8" name="Text 6"/>
          <p:cNvSpPr txBox="1"/>
          <p:nvPr/>
        </p:nvSpPr>
        <p:spPr>
          <a:xfrm>
            <a:off x="274320" y="6537960"/>
            <a:ext cx="11612880" cy="274320"/>
          </a:xfrm>
          <a:prstGeom prst="rect">
            <a:avLst/>
          </a:prstGeom>
          <a:noFill/>
          <a:ln/>
        </p:spPr>
        <p:txBody>
          <a:bodyPr wrap="square" rtlCol="0" anchor="ctr"/>
          <a:lstStyle/>
          <a:p>
            <a:pPr marL="0" indent="0" algn="r">
              <a:buNone/>
            </a:pPr>
            <a:r>
              <a:rPr lang="en-US" sz="1100" dirty="0">
                <a:solidFill>
                  <a:srgbClr val="999999"/>
                </a:solidFill>
              </a:rPr>
              <a:t>CSE 120 · Module 1</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5F0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5B21B6"/>
          </a:solidFill>
          <a:ln w="12700">
            <a:solidFill>
              <a:srgbClr val="5B21B6"/>
            </a:solidFill>
            <a:prstDash val="solid"/>
          </a:ln>
        </p:spPr>
        <p:txBody>
          <a:bodyPr/>
          <a:lstStyle/>
          <a:p>
            <a:endParaRPr lang="en-US"/>
          </a:p>
        </p:txBody>
      </p:sp>
      <p:sp>
        <p:nvSpPr>
          <p:cNvPr id="3" name="Text 1"/>
          <p:cNvSpPr txBox="1"/>
          <p:nvPr/>
        </p:nvSpPr>
        <p:spPr>
          <a:xfrm>
            <a:off x="274320" y="91440"/>
            <a:ext cx="11612880" cy="777240"/>
          </a:xfrm>
          <a:prstGeom prst="rect">
            <a:avLst/>
          </a:prstGeom>
          <a:noFill/>
          <a:ln/>
        </p:spPr>
        <p:txBody>
          <a:bodyPr wrap="square" rtlCol="0" anchor="ctr"/>
          <a:lstStyle/>
          <a:p>
            <a:pPr marL="0" indent="0">
              <a:buNone/>
            </a:pPr>
            <a:r>
              <a:rPr lang="en-US" sz="2200" b="1" dirty="0">
                <a:solidFill>
                  <a:srgbClr val="FFFFFF"/>
                </a:solidFill>
              </a:rPr>
              <a:t>🤔  while Example 2 — Predict the Countdown</a:t>
            </a:r>
            <a:endParaRPr lang="en-US" sz="2200" dirty="0"/>
          </a:p>
        </p:txBody>
      </p:sp>
      <p:sp>
        <p:nvSpPr>
          <p:cNvPr id="4" name="Text 2"/>
          <p:cNvSpPr txBox="1"/>
          <p:nvPr/>
        </p:nvSpPr>
        <p:spPr>
          <a:xfrm>
            <a:off x="457200" y="1097280"/>
            <a:ext cx="11247120" cy="5394960"/>
          </a:xfrm>
          <a:prstGeom prst="rect">
            <a:avLst/>
          </a:prstGeom>
          <a:noFill/>
          <a:ln/>
        </p:spPr>
        <p:txBody>
          <a:bodyPr wrap="square" rtlCol="0" anchor="t"/>
          <a:lstStyle/>
          <a:p>
            <a:pPr marL="0" indent="0">
              <a:spcAft>
                <a:spcPts val="1200"/>
              </a:spcAft>
              <a:buNone/>
            </a:pPr>
            <a:r>
              <a:rPr lang="en-US" sz="1500" dirty="0">
                <a:solidFill>
                  <a:srgbClr val="1A1A2E"/>
                </a:solidFill>
              </a:rPr>
              <a:t>What is the complete output of this program?</a:t>
            </a:r>
            <a:endParaRPr lang="en-US" sz="1500" dirty="0"/>
          </a:p>
          <a:p>
            <a:pPr marL="0" indent="0">
              <a:spcAft>
                <a:spcPts val="300"/>
              </a:spcAft>
              <a:buNone/>
            </a:pPr>
            <a:r>
              <a:rPr lang="en-US" sz="1700" dirty="0">
                <a:solidFill>
                  <a:srgbClr val="1E2D40"/>
                </a:solidFill>
                <a:latin typeface="Courier New" pitchFamily="34" charset="0"/>
                <a:ea typeface="Courier New" pitchFamily="34" charset="-122"/>
                <a:cs typeface="Courier New" pitchFamily="34" charset="-120"/>
              </a:rPr>
              <a:t>countdown = 5</a:t>
            </a:r>
            <a:endParaRPr lang="en-US" sz="1500" dirty="0"/>
          </a:p>
          <a:p>
            <a:pPr marL="0" indent="0">
              <a:spcAft>
                <a:spcPts val="300"/>
              </a:spcAft>
              <a:buNone/>
            </a:pPr>
            <a:r>
              <a:rPr lang="en-US" sz="1700" dirty="0">
                <a:solidFill>
                  <a:srgbClr val="1E2D40"/>
                </a:solidFill>
                <a:latin typeface="Courier New" pitchFamily="34" charset="0"/>
                <a:ea typeface="Courier New" pitchFamily="34" charset="-122"/>
                <a:cs typeface="Courier New" pitchFamily="34" charset="-120"/>
              </a:rPr>
              <a:t>while countdown &gt; 0:</a:t>
            </a:r>
            <a:endParaRPr lang="en-US" sz="1500" dirty="0"/>
          </a:p>
          <a:p>
            <a:pPr marL="0" indent="0">
              <a:spcAft>
                <a:spcPts val="300"/>
              </a:spcAft>
              <a:buNone/>
            </a:pPr>
            <a:r>
              <a:rPr lang="en-US" sz="1700" dirty="0">
                <a:solidFill>
                  <a:srgbClr val="1E2D40"/>
                </a:solidFill>
                <a:latin typeface="Courier New" pitchFamily="34" charset="0"/>
                <a:ea typeface="Courier New" pitchFamily="34" charset="-122"/>
                <a:cs typeface="Courier New" pitchFamily="34" charset="-120"/>
              </a:rPr>
              <a:t>    print(countdown)</a:t>
            </a:r>
            <a:endParaRPr lang="en-US" sz="1500" dirty="0"/>
          </a:p>
          <a:p>
            <a:pPr marL="0" indent="0">
              <a:spcAft>
                <a:spcPts val="1600"/>
              </a:spcAft>
              <a:buNone/>
            </a:pPr>
            <a:r>
              <a:rPr lang="en-US" sz="1700" dirty="0">
                <a:solidFill>
                  <a:srgbClr val="1E2D40"/>
                </a:solidFill>
                <a:latin typeface="Courier New" pitchFamily="34" charset="0"/>
                <a:ea typeface="Courier New" pitchFamily="34" charset="-122"/>
                <a:cs typeface="Courier New" pitchFamily="34" charset="-120"/>
              </a:rPr>
              <a:t>    countdown = countdown - 1</a:t>
            </a:r>
            <a:endParaRPr lang="en-US" sz="1500" dirty="0"/>
          </a:p>
          <a:p>
            <a:pPr marL="0" indent="0">
              <a:spcAft>
                <a:spcPts val="500"/>
              </a:spcAft>
              <a:buNone/>
            </a:pPr>
            <a:r>
              <a:rPr lang="en-US" sz="1700" dirty="0">
                <a:solidFill>
                  <a:srgbClr val="1E2D40"/>
                </a:solidFill>
                <a:latin typeface="Courier New" pitchFamily="34" charset="0"/>
                <a:ea typeface="Courier New" pitchFamily="34" charset="-122"/>
                <a:cs typeface="Courier New" pitchFamily="34" charset="-120"/>
              </a:rPr>
              <a:t>print("Blast off! 🚀")</a:t>
            </a:r>
            <a:endParaRPr lang="en-US" sz="1500" dirty="0"/>
          </a:p>
        </p:txBody>
      </p:sp>
      <p:sp>
        <p:nvSpPr>
          <p:cNvPr id="5" name="Text 3"/>
          <p:cNvSpPr txBox="1"/>
          <p:nvPr/>
        </p:nvSpPr>
        <p:spPr>
          <a:xfrm>
            <a:off x="274320" y="6537960"/>
            <a:ext cx="11612880" cy="274320"/>
          </a:xfrm>
          <a:prstGeom prst="rect">
            <a:avLst/>
          </a:prstGeom>
          <a:noFill/>
          <a:ln/>
        </p:spPr>
        <p:txBody>
          <a:bodyPr wrap="square" rtlCol="0" anchor="ctr"/>
          <a:lstStyle/>
          <a:p>
            <a:pPr marL="0" indent="0" algn="r">
              <a:buNone/>
            </a:pPr>
            <a:r>
              <a:rPr lang="en-US" sz="1100" dirty="0">
                <a:solidFill>
                  <a:srgbClr val="888888"/>
                </a:solidFill>
              </a:rPr>
              <a:t>CSE 120 · Module 1  ·  Try it first — answer on next slide</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0FFF4"/>
        </a:solidFill>
        <a:effectLst/>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2D6A4F"/>
          </a:solidFill>
          <a:ln w="12700">
            <a:solidFill>
              <a:srgbClr val="2D6A4F"/>
            </a:solidFill>
            <a:prstDash val="solid"/>
          </a:ln>
        </p:spPr>
        <p:txBody>
          <a:bodyPr/>
          <a:lstStyle/>
          <a:p>
            <a:endParaRPr lang="en-US"/>
          </a:p>
        </p:txBody>
      </p:sp>
      <p:sp>
        <p:nvSpPr>
          <p:cNvPr id="3" name="Text 1"/>
          <p:cNvSpPr txBox="1"/>
          <p:nvPr/>
        </p:nvSpPr>
        <p:spPr>
          <a:xfrm>
            <a:off x="274320" y="91440"/>
            <a:ext cx="11612880" cy="777240"/>
          </a:xfrm>
          <a:prstGeom prst="rect">
            <a:avLst/>
          </a:prstGeom>
          <a:noFill/>
          <a:ln/>
        </p:spPr>
        <p:txBody>
          <a:bodyPr wrap="square" rtlCol="0" anchor="ctr"/>
          <a:lstStyle/>
          <a:p>
            <a:pPr marL="0" indent="0">
              <a:buNone/>
            </a:pPr>
            <a:r>
              <a:rPr lang="en-US" sz="2200" b="1" dirty="0">
                <a:solidFill>
                  <a:srgbClr val="FFFFFF"/>
                </a:solidFill>
              </a:rPr>
              <a:t>✅  Answer — while Example 2 — Countdown</a:t>
            </a:r>
            <a:endParaRPr lang="en-US" sz="2200" dirty="0"/>
          </a:p>
        </p:txBody>
      </p:sp>
      <p:sp>
        <p:nvSpPr>
          <p:cNvPr id="4" name="Text 2"/>
          <p:cNvSpPr txBox="1"/>
          <p:nvPr/>
        </p:nvSpPr>
        <p:spPr>
          <a:xfrm>
            <a:off x="457200" y="1097280"/>
            <a:ext cx="11247120" cy="5394960"/>
          </a:xfrm>
          <a:prstGeom prst="rect">
            <a:avLst/>
          </a:prstGeom>
          <a:noFill/>
          <a:ln/>
        </p:spPr>
        <p:txBody>
          <a:bodyPr wrap="square" rtlCol="0" anchor="t"/>
          <a:lstStyle/>
          <a:p>
            <a:pPr marL="0" indent="0">
              <a:spcAft>
                <a:spcPts val="400"/>
              </a:spcAft>
              <a:buNone/>
            </a:pPr>
            <a:r>
              <a:rPr lang="en-US" sz="1800" dirty="0">
                <a:solidFill>
                  <a:srgbClr val="1E2D40"/>
                </a:solidFill>
                <a:latin typeface="Courier New" pitchFamily="34" charset="0"/>
                <a:ea typeface="Courier New" pitchFamily="34" charset="-122"/>
                <a:cs typeface="Courier New" pitchFamily="34" charset="-120"/>
              </a:rPr>
              <a:t>5</a:t>
            </a:r>
            <a:endParaRPr lang="en-US" sz="1800" dirty="0"/>
          </a:p>
          <a:p>
            <a:pPr marL="0" indent="0">
              <a:spcAft>
                <a:spcPts val="400"/>
              </a:spcAft>
              <a:buNone/>
            </a:pPr>
            <a:r>
              <a:rPr lang="en-US" sz="1800" dirty="0">
                <a:solidFill>
                  <a:srgbClr val="1E2D40"/>
                </a:solidFill>
                <a:latin typeface="Courier New" pitchFamily="34" charset="0"/>
                <a:ea typeface="Courier New" pitchFamily="34" charset="-122"/>
                <a:cs typeface="Courier New" pitchFamily="34" charset="-120"/>
              </a:rPr>
              <a:t>4</a:t>
            </a:r>
            <a:endParaRPr lang="en-US" sz="1800" dirty="0"/>
          </a:p>
          <a:p>
            <a:pPr marL="0" indent="0">
              <a:spcAft>
                <a:spcPts val="400"/>
              </a:spcAft>
              <a:buNone/>
            </a:pPr>
            <a:r>
              <a:rPr lang="en-US" sz="1800" dirty="0">
                <a:solidFill>
                  <a:srgbClr val="1E2D40"/>
                </a:solidFill>
                <a:latin typeface="Courier New" pitchFamily="34" charset="0"/>
                <a:ea typeface="Courier New" pitchFamily="34" charset="-122"/>
                <a:cs typeface="Courier New" pitchFamily="34" charset="-120"/>
              </a:rPr>
              <a:t>3</a:t>
            </a:r>
            <a:endParaRPr lang="en-US" sz="1800" dirty="0"/>
          </a:p>
          <a:p>
            <a:pPr marL="0" indent="0">
              <a:spcAft>
                <a:spcPts val="400"/>
              </a:spcAft>
              <a:buNone/>
            </a:pPr>
            <a:r>
              <a:rPr lang="en-US" sz="1800" dirty="0">
                <a:solidFill>
                  <a:srgbClr val="1E2D40"/>
                </a:solidFill>
                <a:latin typeface="Courier New" pitchFamily="34" charset="0"/>
                <a:ea typeface="Courier New" pitchFamily="34" charset="-122"/>
                <a:cs typeface="Courier New" pitchFamily="34" charset="-120"/>
              </a:rPr>
              <a:t>2</a:t>
            </a:r>
            <a:endParaRPr lang="en-US" sz="1800" dirty="0"/>
          </a:p>
          <a:p>
            <a:pPr marL="0" indent="0">
              <a:spcAft>
                <a:spcPts val="800"/>
              </a:spcAft>
              <a:buNone/>
            </a:pPr>
            <a:r>
              <a:rPr lang="en-US" sz="1800" dirty="0">
                <a:solidFill>
                  <a:srgbClr val="1E2D40"/>
                </a:solidFill>
                <a:latin typeface="Courier New" pitchFamily="34" charset="0"/>
                <a:ea typeface="Courier New" pitchFamily="34" charset="-122"/>
                <a:cs typeface="Courier New" pitchFamily="34" charset="-120"/>
              </a:rPr>
              <a:t>1</a:t>
            </a:r>
            <a:endParaRPr lang="en-US" sz="1800" dirty="0"/>
          </a:p>
          <a:p>
            <a:pPr marL="0" indent="0">
              <a:spcAft>
                <a:spcPts val="1600"/>
              </a:spcAft>
              <a:buNone/>
            </a:pPr>
            <a:r>
              <a:rPr lang="en-US" sz="1800" dirty="0">
                <a:solidFill>
                  <a:srgbClr val="2D6A4F"/>
                </a:solidFill>
                <a:latin typeface="Courier New" pitchFamily="34" charset="0"/>
                <a:ea typeface="Courier New" pitchFamily="34" charset="-122"/>
                <a:cs typeface="Courier New" pitchFamily="34" charset="-120"/>
              </a:rPr>
              <a:t>Blast off! 🚀</a:t>
            </a:r>
            <a:endParaRPr lang="en-US" sz="1800" dirty="0"/>
          </a:p>
          <a:p>
            <a:pPr marL="342900" indent="-342900">
              <a:spcAft>
                <a:spcPts val="500"/>
              </a:spcAft>
              <a:buSzPct val="100000"/>
              <a:buChar char="•"/>
            </a:pPr>
            <a:r>
              <a:rPr lang="en-US" sz="1400" dirty="0">
                <a:solidFill>
                  <a:srgbClr val="1A1A2E"/>
                </a:solidFill>
              </a:rPr>
              <a:t>countdown starts at 5. Subtracts 1 each iteration.</a:t>
            </a:r>
            <a:endParaRPr lang="en-US" sz="1800" dirty="0"/>
          </a:p>
          <a:p>
            <a:pPr marL="342900" indent="-342900">
              <a:spcAft>
                <a:spcPts val="500"/>
              </a:spcAft>
              <a:buSzPct val="100000"/>
              <a:buChar char="•"/>
            </a:pPr>
            <a:r>
              <a:rPr lang="en-US" sz="1400" dirty="0">
                <a:solidFill>
                  <a:srgbClr val="1A1A2E"/>
                </a:solidFill>
              </a:rPr>
              <a:t>When countdown = 0, the condition countdown &gt; 0 is False → loop ends.</a:t>
            </a:r>
            <a:endParaRPr lang="en-US" sz="1800" dirty="0"/>
          </a:p>
          <a:p>
            <a:pPr marL="342900" indent="-342900">
              <a:spcAft>
                <a:spcPts val="500"/>
              </a:spcAft>
              <a:buSzPct val="100000"/>
              <a:buChar char="•"/>
            </a:pPr>
            <a:r>
              <a:rPr lang="en-US" sz="1400" dirty="0">
                <a:solidFill>
                  <a:srgbClr val="1A1A2E"/>
                </a:solidFill>
              </a:rPr>
              <a:t>"Blast off!" is outside the loop — prints once after the loop stops.</a:t>
            </a:r>
            <a:endParaRPr lang="en-US" sz="1800" dirty="0"/>
          </a:p>
        </p:txBody>
      </p:sp>
      <p:sp>
        <p:nvSpPr>
          <p:cNvPr id="5" name="Text 3"/>
          <p:cNvSpPr txBox="1"/>
          <p:nvPr/>
        </p:nvSpPr>
        <p:spPr>
          <a:xfrm>
            <a:off x="274320" y="6537960"/>
            <a:ext cx="11612880" cy="274320"/>
          </a:xfrm>
          <a:prstGeom prst="rect">
            <a:avLst/>
          </a:prstGeom>
          <a:noFill/>
          <a:ln/>
        </p:spPr>
        <p:txBody>
          <a:bodyPr wrap="square" rtlCol="0" anchor="ctr"/>
          <a:lstStyle/>
          <a:p>
            <a:pPr marL="0" indent="0" algn="r">
              <a:buNone/>
            </a:pPr>
            <a:r>
              <a:rPr lang="en-US" sz="1100" dirty="0">
                <a:solidFill>
                  <a:srgbClr val="888888"/>
                </a:solidFill>
              </a:rPr>
              <a:t>CSE 120 · Module 1</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822960"/>
          </a:xfrm>
          <a:prstGeom prst="rect">
            <a:avLst/>
          </a:prstGeom>
          <a:solidFill>
            <a:srgbClr val="003767"/>
          </a:solidFill>
          <a:ln w="12700">
            <a:solidFill>
              <a:srgbClr val="003767"/>
            </a:solidFill>
            <a:prstDash val="solid"/>
          </a:ln>
        </p:spPr>
        <p:txBody>
          <a:bodyPr/>
          <a:lstStyle/>
          <a:p>
            <a:endParaRPr lang="en-US"/>
          </a:p>
        </p:txBody>
      </p:sp>
      <p:sp>
        <p:nvSpPr>
          <p:cNvPr id="3" name="Text 1"/>
          <p:cNvSpPr txBox="1"/>
          <p:nvPr/>
        </p:nvSpPr>
        <p:spPr>
          <a:xfrm>
            <a:off x="274320" y="73152"/>
            <a:ext cx="11612880" cy="685800"/>
          </a:xfrm>
          <a:prstGeom prst="rect">
            <a:avLst/>
          </a:prstGeom>
          <a:noFill/>
          <a:ln/>
        </p:spPr>
        <p:txBody>
          <a:bodyPr wrap="square" rtlCol="0" anchor="ctr"/>
          <a:lstStyle/>
          <a:p>
            <a:pPr marL="0" indent="0">
              <a:buNone/>
            </a:pPr>
            <a:r>
              <a:rPr lang="en-US" sz="2000" b="1" dirty="0">
                <a:solidFill>
                  <a:srgbClr val="FFFFFF"/>
                </a:solidFill>
              </a:rPr>
              <a:t>while Example 3 — Repeat Until Valid Input</a:t>
            </a:r>
            <a:endParaRPr lang="en-US" sz="2000" dirty="0"/>
          </a:p>
        </p:txBody>
      </p:sp>
      <p:sp>
        <p:nvSpPr>
          <p:cNvPr id="4" name="Shape 2"/>
          <p:cNvSpPr/>
          <p:nvPr/>
        </p:nvSpPr>
        <p:spPr>
          <a:xfrm>
            <a:off x="274320" y="914400"/>
            <a:ext cx="6400800" cy="5394960"/>
          </a:xfrm>
          <a:prstGeom prst="rect">
            <a:avLst/>
          </a:prstGeom>
          <a:solidFill>
            <a:srgbClr val="1E2D40"/>
          </a:solidFill>
          <a:ln w="12700">
            <a:solidFill>
              <a:srgbClr val="2A4060"/>
            </a:solidFill>
            <a:prstDash val="solid"/>
          </a:ln>
        </p:spPr>
        <p:txBody>
          <a:bodyPr/>
          <a:lstStyle/>
          <a:p>
            <a:endParaRPr lang="en-US"/>
          </a:p>
        </p:txBody>
      </p:sp>
      <p:sp>
        <p:nvSpPr>
          <p:cNvPr id="5" name="Text 3"/>
          <p:cNvSpPr txBox="1"/>
          <p:nvPr/>
        </p:nvSpPr>
        <p:spPr>
          <a:xfrm>
            <a:off x="365760" y="960120"/>
            <a:ext cx="6217920" cy="320040"/>
          </a:xfrm>
          <a:prstGeom prst="rect">
            <a:avLst/>
          </a:prstGeom>
          <a:noFill/>
          <a:ln/>
        </p:spPr>
        <p:txBody>
          <a:bodyPr wrap="square" rtlCol="0" anchor="ctr"/>
          <a:lstStyle/>
          <a:p>
            <a:pPr marL="0" indent="0">
              <a:buNone/>
            </a:pPr>
            <a:r>
              <a:rPr lang="en-US" sz="1100" b="1" dirty="0">
                <a:solidFill>
                  <a:srgbClr val="88AACC"/>
                </a:solidFill>
              </a:rPr>
              <a:t>python</a:t>
            </a:r>
            <a:endParaRPr lang="en-US" sz="1100" dirty="0"/>
          </a:p>
        </p:txBody>
      </p:sp>
      <p:sp>
        <p:nvSpPr>
          <p:cNvPr id="6" name="Text 4"/>
          <p:cNvSpPr txBox="1"/>
          <p:nvPr/>
        </p:nvSpPr>
        <p:spPr>
          <a:xfrm>
            <a:off x="365760" y="1325880"/>
            <a:ext cx="6217920" cy="4846320"/>
          </a:xfrm>
          <a:prstGeom prst="rect">
            <a:avLst/>
          </a:prstGeom>
          <a:noFill/>
          <a:ln/>
        </p:spPr>
        <p:txBody>
          <a:bodyPr wrap="square" rtlCol="0" anchor="t"/>
          <a:lstStyle/>
          <a:p>
            <a:pPr marL="0" indent="0">
              <a:buNone/>
            </a:pPr>
            <a:r>
              <a:rPr lang="en-US" sz="1300" dirty="0">
                <a:solidFill>
                  <a:srgbClr val="E8F4FD"/>
                </a:solidFill>
                <a:latin typeface="Courier New" pitchFamily="34" charset="0"/>
                <a:ea typeface="Courier New" pitchFamily="34" charset="-122"/>
                <a:cs typeface="Courier New" pitchFamily="34" charset="-120"/>
              </a:rPr>
              <a:t>password = ""   # start with empty string</a:t>
            </a:r>
            <a:endParaRPr lang="en-US" sz="1300" dirty="0"/>
          </a:p>
          <a:p>
            <a:pPr marL="0" indent="0">
              <a:buNone/>
            </a:pPr>
            <a:endParaRPr lang="en-US" sz="1300" dirty="0"/>
          </a:p>
          <a:p>
            <a:pPr marL="0" indent="0">
              <a:buNone/>
            </a:pPr>
            <a:r>
              <a:rPr lang="en-US" sz="1300" dirty="0">
                <a:solidFill>
                  <a:srgbClr val="E8F4FD"/>
                </a:solidFill>
                <a:latin typeface="Courier New" pitchFamily="34" charset="0"/>
                <a:ea typeface="Courier New" pitchFamily="34" charset="-122"/>
                <a:cs typeface="Courier New" pitchFamily="34" charset="-120"/>
              </a:rPr>
              <a:t>while password != "open123":</a:t>
            </a:r>
            <a:endParaRPr lang="en-US" sz="1300" dirty="0"/>
          </a:p>
          <a:p>
            <a:pPr marL="0" indent="0">
              <a:buNone/>
            </a:pPr>
            <a:r>
              <a:rPr lang="en-US" sz="1300" dirty="0">
                <a:solidFill>
                  <a:srgbClr val="E8F4FD"/>
                </a:solidFill>
                <a:latin typeface="Courier New" pitchFamily="34" charset="0"/>
                <a:ea typeface="Courier New" pitchFamily="34" charset="-122"/>
                <a:cs typeface="Courier New" pitchFamily="34" charset="-120"/>
              </a:rPr>
              <a:t>    password = input("Enter password: ")</a:t>
            </a:r>
            <a:endParaRPr lang="en-US" sz="1300" dirty="0"/>
          </a:p>
          <a:p>
            <a:pPr marL="0" indent="0">
              <a:buNone/>
            </a:pPr>
            <a:endParaRPr lang="en-US" sz="1300" dirty="0"/>
          </a:p>
          <a:p>
            <a:pPr marL="0" indent="0">
              <a:buNone/>
            </a:pPr>
            <a:r>
              <a:rPr lang="en-US" sz="1300" dirty="0">
                <a:solidFill>
                  <a:srgbClr val="E8F4FD"/>
                </a:solidFill>
                <a:latin typeface="Courier New" pitchFamily="34" charset="0"/>
                <a:ea typeface="Courier New" pitchFamily="34" charset="-122"/>
                <a:cs typeface="Courier New" pitchFamily="34" charset="-120"/>
              </a:rPr>
              <a:t>print("Access granted!")</a:t>
            </a:r>
            <a:endParaRPr lang="en-US" sz="1300" dirty="0"/>
          </a:p>
        </p:txBody>
      </p:sp>
      <p:sp>
        <p:nvSpPr>
          <p:cNvPr id="7" name="Text 5"/>
          <p:cNvSpPr txBox="1"/>
          <p:nvPr/>
        </p:nvSpPr>
        <p:spPr>
          <a:xfrm>
            <a:off x="6949440" y="914400"/>
            <a:ext cx="4937760" cy="5394960"/>
          </a:xfrm>
          <a:prstGeom prst="rect">
            <a:avLst/>
          </a:prstGeom>
          <a:noFill/>
          <a:ln/>
        </p:spPr>
        <p:txBody>
          <a:bodyPr wrap="square" rtlCol="0" anchor="t"/>
          <a:lstStyle/>
          <a:p>
            <a:pPr marL="0" indent="0">
              <a:spcAft>
                <a:spcPts val="1000"/>
              </a:spcAft>
              <a:buNone/>
            </a:pPr>
            <a:r>
              <a:rPr lang="en-US" sz="1400" b="1" dirty="0">
                <a:solidFill>
                  <a:srgbClr val="1A1A2E"/>
                </a:solidFill>
              </a:rPr>
              <a:t>This is the classic "keep asking until correct" pattern</a:t>
            </a:r>
            <a:endParaRPr lang="en-US" sz="1400" dirty="0"/>
          </a:p>
          <a:p>
            <a:pPr marL="342900" indent="-342900">
              <a:spcAft>
                <a:spcPts val="800"/>
              </a:spcAft>
              <a:buSzPct val="100000"/>
              <a:buChar char="•"/>
            </a:pPr>
            <a:r>
              <a:rPr lang="en-US" sz="1400" dirty="0">
                <a:solidFill>
                  <a:srgbClr val="1A1A2E"/>
                </a:solidFill>
              </a:rPr>
              <a:t>We don't know how many tries the user will need — a for loop can't help here</a:t>
            </a:r>
            <a:endParaRPr lang="en-US" sz="1400" dirty="0"/>
          </a:p>
          <a:p>
            <a:pPr marL="342900" indent="-342900">
              <a:spcAft>
                <a:spcPts val="1600"/>
              </a:spcAft>
              <a:buSzPct val="100000"/>
              <a:buChar char="•"/>
            </a:pPr>
            <a:r>
              <a:rPr lang="en-US" sz="1400" dirty="0">
                <a:solidFill>
                  <a:srgbClr val="1A1A2E"/>
                </a:solidFill>
              </a:rPr>
              <a:t>The loop keeps going as long as password doesn't match</a:t>
            </a:r>
            <a:endParaRPr lang="en-US" sz="1400" dirty="0"/>
          </a:p>
          <a:p>
            <a:pPr marL="342900" indent="-342900">
              <a:spcAft>
                <a:spcPts val="1200"/>
              </a:spcAft>
              <a:buSzPct val="100000"/>
              <a:buChar char="•"/>
            </a:pPr>
            <a:r>
              <a:rPr lang="en-US" sz="1400" dirty="0">
                <a:solidFill>
                  <a:srgbClr val="1A1A2E"/>
                </a:solidFill>
              </a:rPr>
              <a:t>The moment the correct password is typed, the condition becomes False → loop stops</a:t>
            </a:r>
            <a:endParaRPr lang="en-US" sz="1400" dirty="0"/>
          </a:p>
          <a:p>
            <a:pPr marL="0" indent="0">
              <a:spcAft>
                <a:spcPts val="500"/>
              </a:spcAft>
              <a:buNone/>
            </a:pPr>
            <a:r>
              <a:rPr lang="en-US" sz="1400" b="1" dirty="0">
                <a:solidFill>
                  <a:srgbClr val="0E7490"/>
                </a:solidFill>
              </a:rPr>
              <a:t>✅  Check: if correct on first try — does the loop run at all?</a:t>
            </a:r>
            <a:endParaRPr lang="en-US" sz="1400" dirty="0"/>
          </a:p>
          <a:p>
            <a:pPr marL="0" indent="0">
              <a:spcAft>
                <a:spcPts val="500"/>
              </a:spcAft>
              <a:buNone/>
            </a:pPr>
            <a:r>
              <a:rPr lang="en-US" sz="1300" dirty="0">
                <a:solidFill>
                  <a:srgbClr val="555555"/>
                </a:solidFill>
              </a:rPr>
              <a:t>Yes — once. Python checks the condition before every iteration.</a:t>
            </a:r>
            <a:endParaRPr lang="en-US" sz="1400" dirty="0"/>
          </a:p>
        </p:txBody>
      </p:sp>
      <p:sp>
        <p:nvSpPr>
          <p:cNvPr id="8" name="Text 6"/>
          <p:cNvSpPr txBox="1"/>
          <p:nvPr/>
        </p:nvSpPr>
        <p:spPr>
          <a:xfrm>
            <a:off x="274320" y="6537960"/>
            <a:ext cx="11612880" cy="274320"/>
          </a:xfrm>
          <a:prstGeom prst="rect">
            <a:avLst/>
          </a:prstGeom>
          <a:noFill/>
          <a:ln/>
        </p:spPr>
        <p:txBody>
          <a:bodyPr wrap="square" rtlCol="0" anchor="ctr"/>
          <a:lstStyle/>
          <a:p>
            <a:pPr marL="0" indent="0" algn="r">
              <a:buNone/>
            </a:pPr>
            <a:r>
              <a:rPr lang="en-US" sz="1100" dirty="0">
                <a:solidFill>
                  <a:srgbClr val="999999"/>
                </a:solidFill>
              </a:rPr>
              <a:t>CSE 120 · Module 1</a:t>
            </a:r>
            <a:endParaRPr lang="en-US" sz="11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AF5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4C1D95"/>
          </a:solidFill>
          <a:ln w="12700">
            <a:solidFill>
              <a:srgbClr val="4C1D95"/>
            </a:solidFill>
            <a:prstDash val="solid"/>
          </a:ln>
        </p:spPr>
        <p:txBody>
          <a:bodyPr/>
          <a:lstStyle/>
          <a:p>
            <a:endParaRPr lang="en-US"/>
          </a:p>
        </p:txBody>
      </p:sp>
      <p:sp>
        <p:nvSpPr>
          <p:cNvPr id="3" name="Text 1"/>
          <p:cNvSpPr txBox="1"/>
          <p:nvPr/>
        </p:nvSpPr>
        <p:spPr>
          <a:xfrm>
            <a:off x="274320" y="91440"/>
            <a:ext cx="11612880" cy="777240"/>
          </a:xfrm>
          <a:prstGeom prst="rect">
            <a:avLst/>
          </a:prstGeom>
          <a:noFill/>
          <a:ln/>
        </p:spPr>
        <p:txBody>
          <a:bodyPr wrap="square" rtlCol="0" anchor="ctr"/>
          <a:lstStyle/>
          <a:p>
            <a:pPr marL="0" indent="0">
              <a:buNone/>
            </a:pPr>
            <a:r>
              <a:rPr lang="en-US" sz="2200" b="1" dirty="0">
                <a:solidFill>
                  <a:srgbClr val="FFFFFF"/>
                </a:solidFill>
              </a:rPr>
              <a:t>🔍  Trace It — while Example 4 — Battery Drain Simulation</a:t>
            </a:r>
            <a:endParaRPr lang="en-US" sz="2200" dirty="0"/>
          </a:p>
        </p:txBody>
      </p:sp>
      <p:sp>
        <p:nvSpPr>
          <p:cNvPr id="4" name="Text 2"/>
          <p:cNvSpPr txBox="1"/>
          <p:nvPr/>
        </p:nvSpPr>
        <p:spPr>
          <a:xfrm>
            <a:off x="457200" y="1051560"/>
            <a:ext cx="11247120" cy="502920"/>
          </a:xfrm>
          <a:prstGeom prst="rect">
            <a:avLst/>
          </a:prstGeom>
          <a:noFill/>
          <a:ln/>
        </p:spPr>
        <p:txBody>
          <a:bodyPr wrap="square" rtlCol="0" anchor="ctr"/>
          <a:lstStyle/>
          <a:p>
            <a:pPr marL="0" indent="0">
              <a:buNone/>
            </a:pPr>
            <a:r>
              <a:rPr lang="en-US" sz="1400" dirty="0">
                <a:solidFill>
                  <a:srgbClr val="1A1A2E"/>
                </a:solidFill>
              </a:rPr>
              <a:t>Battery starts at 100%. Loop runs while battery &gt; 20%. Drains 15% per cycle.</a:t>
            </a:r>
            <a:endParaRPr lang="en-US" sz="1400" dirty="0"/>
          </a:p>
        </p:txBody>
      </p:sp>
      <p:sp>
        <p:nvSpPr>
          <p:cNvPr id="5" name="Shape 3"/>
          <p:cNvSpPr/>
          <p:nvPr/>
        </p:nvSpPr>
        <p:spPr>
          <a:xfrm>
            <a:off x="0" y="1600200"/>
            <a:ext cx="12161520" cy="1600200"/>
          </a:xfrm>
          <a:prstGeom prst="rect">
            <a:avLst/>
          </a:prstGeom>
          <a:solidFill>
            <a:srgbClr val="1E2D40"/>
          </a:solidFill>
          <a:ln w="12700">
            <a:solidFill>
              <a:srgbClr val="2A4060"/>
            </a:solidFill>
            <a:prstDash val="solid"/>
          </a:ln>
        </p:spPr>
        <p:txBody>
          <a:bodyPr/>
          <a:lstStyle/>
          <a:p>
            <a:endParaRPr lang="en-US"/>
          </a:p>
        </p:txBody>
      </p:sp>
      <p:sp>
        <p:nvSpPr>
          <p:cNvPr id="6" name="Text 4"/>
          <p:cNvSpPr txBox="1"/>
          <p:nvPr/>
        </p:nvSpPr>
        <p:spPr>
          <a:xfrm>
            <a:off x="365760" y="1645920"/>
            <a:ext cx="5120640" cy="1463040"/>
          </a:xfrm>
          <a:prstGeom prst="rect">
            <a:avLst/>
          </a:prstGeom>
          <a:noFill/>
          <a:ln/>
        </p:spPr>
        <p:txBody>
          <a:bodyPr wrap="square" rtlCol="0" anchor="ctr"/>
          <a:lstStyle/>
          <a:p>
            <a:pPr marL="0" indent="0">
              <a:buNone/>
            </a:pPr>
            <a:r>
              <a:rPr lang="en-US" sz="1200" dirty="0">
                <a:solidFill>
                  <a:srgbClr val="E8F4FD"/>
                </a:solidFill>
                <a:latin typeface="Courier New" pitchFamily="34" charset="0"/>
                <a:ea typeface="Courier New" pitchFamily="34" charset="-122"/>
                <a:cs typeface="Courier New" pitchFamily="34" charset="-120"/>
              </a:rPr>
              <a:t>battery = 100</a:t>
            </a:r>
            <a:endParaRPr lang="en-US" sz="1200" dirty="0"/>
          </a:p>
          <a:p>
            <a:pPr marL="0" indent="0">
              <a:buNone/>
            </a:pPr>
            <a:r>
              <a:rPr lang="en-US" sz="1200" dirty="0">
                <a:solidFill>
                  <a:srgbClr val="E8F4FD"/>
                </a:solidFill>
                <a:latin typeface="Courier New" pitchFamily="34" charset="0"/>
                <a:ea typeface="Courier New" pitchFamily="34" charset="-122"/>
                <a:cs typeface="Courier New" pitchFamily="34" charset="-120"/>
              </a:rPr>
              <a:t>while battery &gt; 20:</a:t>
            </a:r>
            <a:endParaRPr lang="en-US" sz="1200" dirty="0"/>
          </a:p>
          <a:p>
            <a:pPr marL="0" indent="0">
              <a:buNone/>
            </a:pPr>
            <a:r>
              <a:rPr lang="en-US" sz="1200" dirty="0">
                <a:solidFill>
                  <a:srgbClr val="E8F4FD"/>
                </a:solidFill>
                <a:latin typeface="Courier New" pitchFamily="34" charset="0"/>
                <a:ea typeface="Courier New" pitchFamily="34" charset="-122"/>
                <a:cs typeface="Courier New" pitchFamily="34" charset="-120"/>
              </a:rPr>
              <a:t>    print("Battery:", battery, "%")</a:t>
            </a:r>
            <a:endParaRPr lang="en-US" sz="1200" dirty="0"/>
          </a:p>
          <a:p>
            <a:pPr marL="0" indent="0">
              <a:buNone/>
            </a:pPr>
            <a:r>
              <a:rPr lang="en-US" sz="1200" dirty="0">
                <a:solidFill>
                  <a:srgbClr val="E8F4FD"/>
                </a:solidFill>
                <a:latin typeface="Courier New" pitchFamily="34" charset="0"/>
                <a:ea typeface="Courier New" pitchFamily="34" charset="-122"/>
                <a:cs typeface="Courier New" pitchFamily="34" charset="-120"/>
              </a:rPr>
              <a:t>    battery = battery - 15</a:t>
            </a:r>
            <a:endParaRPr lang="en-US" sz="1200" dirty="0"/>
          </a:p>
          <a:p>
            <a:pPr marL="0" indent="0">
              <a:buNone/>
            </a:pPr>
            <a:r>
              <a:rPr lang="en-US" sz="1200" dirty="0">
                <a:solidFill>
                  <a:srgbClr val="E8F4FD"/>
                </a:solidFill>
                <a:latin typeface="Courier New" pitchFamily="34" charset="0"/>
                <a:ea typeface="Courier New" pitchFamily="34" charset="-122"/>
                <a:cs typeface="Courier New" pitchFamily="34" charset="-120"/>
              </a:rPr>
              <a:t>print("Low battery!", battery, "%")</a:t>
            </a:r>
            <a:endParaRPr lang="en-US" sz="1200" dirty="0"/>
          </a:p>
        </p:txBody>
      </p:sp>
      <p:graphicFrame>
        <p:nvGraphicFramePr>
          <p:cNvPr id="58" name="Table 0"/>
          <p:cNvGraphicFramePr>
            <a:graphicFrameLocks noGrp="1"/>
          </p:cNvGraphicFramePr>
          <p:nvPr>
            <p:extLst>
              <p:ext uri="{D42A27DB-BD31-4B8C-83A1-F6EECF244321}">
                <p14:modId xmlns:p14="http://schemas.microsoft.com/office/powerpoint/2010/main" val="3833130710"/>
              </p:ext>
            </p:extLst>
          </p:nvPr>
        </p:nvGraphicFramePr>
        <p:xfrm>
          <a:off x="2323578" y="3367622"/>
          <a:ext cx="8516448" cy="3246117"/>
        </p:xfrm>
        <a:graphic>
          <a:graphicData uri="http://schemas.openxmlformats.org/drawingml/2006/table">
            <a:tbl>
              <a:tblPr/>
              <a:tblGrid>
                <a:gridCol w="2129112">
                  <a:extLst>
                    <a:ext uri="{9D8B030D-6E8A-4147-A177-3AD203B41FA5}">
                      <a16:colId xmlns:a16="http://schemas.microsoft.com/office/drawing/2014/main" val="20000"/>
                    </a:ext>
                  </a:extLst>
                </a:gridCol>
                <a:gridCol w="2129112">
                  <a:extLst>
                    <a:ext uri="{9D8B030D-6E8A-4147-A177-3AD203B41FA5}">
                      <a16:colId xmlns:a16="http://schemas.microsoft.com/office/drawing/2014/main" val="20001"/>
                    </a:ext>
                  </a:extLst>
                </a:gridCol>
                <a:gridCol w="2129112">
                  <a:extLst>
                    <a:ext uri="{9D8B030D-6E8A-4147-A177-3AD203B41FA5}">
                      <a16:colId xmlns:a16="http://schemas.microsoft.com/office/drawing/2014/main" val="20002"/>
                    </a:ext>
                  </a:extLst>
                </a:gridCol>
                <a:gridCol w="2129112">
                  <a:extLst>
                    <a:ext uri="{9D8B030D-6E8A-4147-A177-3AD203B41FA5}">
                      <a16:colId xmlns:a16="http://schemas.microsoft.com/office/drawing/2014/main" val="20003"/>
                    </a:ext>
                  </a:extLst>
                </a:gridCol>
              </a:tblGrid>
              <a:tr h="463731">
                <a:tc>
                  <a:txBody>
                    <a:bodyPr/>
                    <a:lstStyle/>
                    <a:p>
                      <a:pPr marL="0" indent="0">
                        <a:buNone/>
                      </a:pPr>
                      <a:r>
                        <a:rPr lang="en-US" sz="1200" b="1" dirty="0">
                          <a:solidFill>
                            <a:srgbClr val="FFFFFF"/>
                          </a:solidFill>
                        </a:rPr>
                        <a:t>battery at check</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03767"/>
                    </a:solidFill>
                  </a:tcPr>
                </a:tc>
                <a:tc>
                  <a:txBody>
                    <a:bodyPr/>
                    <a:lstStyle/>
                    <a:p>
                      <a:pPr marL="0" indent="0">
                        <a:buNone/>
                      </a:pPr>
                      <a:r>
                        <a:rPr lang="en-US" sz="1200" b="1" dirty="0">
                          <a:solidFill>
                            <a:srgbClr val="FFFFFF"/>
                          </a:solidFill>
                        </a:rPr>
                        <a:t>battery &gt; 20?</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03767"/>
                    </a:solidFill>
                  </a:tcPr>
                </a:tc>
                <a:tc>
                  <a:txBody>
                    <a:bodyPr/>
                    <a:lstStyle/>
                    <a:p>
                      <a:pPr marL="0" indent="0">
                        <a:buNone/>
                      </a:pPr>
                      <a:r>
                        <a:rPr lang="en-US" sz="1200" b="1" dirty="0">
                          <a:solidFill>
                            <a:srgbClr val="FFFFFF"/>
                          </a:solidFill>
                        </a:rPr>
                        <a:t>Output</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03767"/>
                    </a:solidFill>
                  </a:tcPr>
                </a:tc>
                <a:tc>
                  <a:txBody>
                    <a:bodyPr/>
                    <a:lstStyle/>
                    <a:p>
                      <a:pPr marL="0" indent="0">
                        <a:buNone/>
                      </a:pPr>
                      <a:r>
                        <a:rPr lang="en-US" sz="1200" b="1" dirty="0">
                          <a:solidFill>
                            <a:srgbClr val="FFFFFF"/>
                          </a:solidFill>
                        </a:rPr>
                        <a:t>battery after -15</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03767"/>
                    </a:solidFill>
                  </a:tcPr>
                </a:tc>
                <a:extLst>
                  <a:ext uri="{0D108BD9-81ED-4DB2-BD59-A6C34878D82A}">
                    <a16:rowId xmlns:a16="http://schemas.microsoft.com/office/drawing/2014/main" val="10000"/>
                  </a:ext>
                </a:extLst>
              </a:tr>
              <a:tr h="463731">
                <a:tc>
                  <a:txBody>
                    <a:bodyPr/>
                    <a:lstStyle/>
                    <a:p>
                      <a:pPr marL="0" indent="0">
                        <a:buNone/>
                      </a:pPr>
                      <a:r>
                        <a:rPr lang="en-US" sz="1200" dirty="0">
                          <a:solidFill>
                            <a:srgbClr val="1A1A2E"/>
                          </a:solidFill>
                        </a:rPr>
                        <a:t>100</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BBBBBB"/>
                          </a:solidFill>
                        </a:rPr>
                        <a:t>?</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tc>
                  <a:txBody>
                    <a:bodyPr/>
                    <a:lstStyle/>
                    <a:p>
                      <a:pPr marL="0" indent="0">
                        <a:buNone/>
                      </a:pPr>
                      <a:r>
                        <a:rPr lang="en-US" sz="1200" dirty="0">
                          <a:solidFill>
                            <a:srgbClr val="BBBBBB"/>
                          </a:solidFill>
                        </a:rPr>
                        <a:t>?</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tc>
                  <a:txBody>
                    <a:bodyPr/>
                    <a:lstStyle/>
                    <a:p>
                      <a:pPr marL="0" indent="0">
                        <a:buNone/>
                      </a:pPr>
                      <a:r>
                        <a:rPr lang="en-US" sz="1200" dirty="0">
                          <a:solidFill>
                            <a:srgbClr val="BBBBBB"/>
                          </a:solidFill>
                        </a:rPr>
                        <a:t>?</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extLst>
                  <a:ext uri="{0D108BD9-81ED-4DB2-BD59-A6C34878D82A}">
                    <a16:rowId xmlns:a16="http://schemas.microsoft.com/office/drawing/2014/main" val="10001"/>
                  </a:ext>
                </a:extLst>
              </a:tr>
              <a:tr h="463731">
                <a:tc>
                  <a:txBody>
                    <a:bodyPr/>
                    <a:lstStyle/>
                    <a:p>
                      <a:pPr marL="0" indent="0">
                        <a:buNone/>
                      </a:pPr>
                      <a:r>
                        <a:rPr lang="en-US" sz="1200" dirty="0">
                          <a:solidFill>
                            <a:srgbClr val="BBBBBB"/>
                          </a:solidFill>
                        </a:rPr>
                        <a:t>?</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tc>
                  <a:txBody>
                    <a:bodyPr/>
                    <a:lstStyle/>
                    <a:p>
                      <a:pPr marL="0" indent="0">
                        <a:buNone/>
                      </a:pPr>
                      <a:r>
                        <a:rPr lang="en-US" sz="1200" dirty="0">
                          <a:solidFill>
                            <a:srgbClr val="BBBBBB"/>
                          </a:solidFill>
                        </a:rPr>
                        <a:t>?</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tc>
                  <a:txBody>
                    <a:bodyPr/>
                    <a:lstStyle/>
                    <a:p>
                      <a:pPr marL="0" indent="0">
                        <a:buNone/>
                      </a:pPr>
                      <a:r>
                        <a:rPr lang="en-US" sz="1200" dirty="0">
                          <a:solidFill>
                            <a:srgbClr val="BBBBBB"/>
                          </a:solidFill>
                        </a:rPr>
                        <a:t>?</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tc>
                  <a:txBody>
                    <a:bodyPr/>
                    <a:lstStyle/>
                    <a:p>
                      <a:pPr marL="0" indent="0">
                        <a:buNone/>
                      </a:pPr>
                      <a:r>
                        <a:rPr lang="en-US" sz="1200" dirty="0">
                          <a:solidFill>
                            <a:srgbClr val="BBBBBB"/>
                          </a:solidFill>
                        </a:rPr>
                        <a:t>?</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463731">
                <a:tc>
                  <a:txBody>
                    <a:bodyPr/>
                    <a:lstStyle/>
                    <a:p>
                      <a:pPr marL="0" indent="0">
                        <a:buNone/>
                      </a:pPr>
                      <a:r>
                        <a:rPr lang="en-US" sz="1200" dirty="0">
                          <a:solidFill>
                            <a:srgbClr val="BBBBBB"/>
                          </a:solidFill>
                        </a:rPr>
                        <a:t>?</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tc>
                  <a:txBody>
                    <a:bodyPr/>
                    <a:lstStyle/>
                    <a:p>
                      <a:pPr marL="0" indent="0">
                        <a:buNone/>
                      </a:pPr>
                      <a:r>
                        <a:rPr lang="en-US" sz="1200" dirty="0">
                          <a:solidFill>
                            <a:srgbClr val="BBBBBB"/>
                          </a:solidFill>
                        </a:rPr>
                        <a:t>?</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tc>
                  <a:txBody>
                    <a:bodyPr/>
                    <a:lstStyle/>
                    <a:p>
                      <a:pPr marL="0" indent="0">
                        <a:buNone/>
                      </a:pPr>
                      <a:r>
                        <a:rPr lang="en-US" sz="1200" dirty="0">
                          <a:solidFill>
                            <a:srgbClr val="BBBBBB"/>
                          </a:solidFill>
                        </a:rPr>
                        <a:t>?</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tc>
                  <a:txBody>
                    <a:bodyPr/>
                    <a:lstStyle/>
                    <a:p>
                      <a:pPr marL="0" indent="0">
                        <a:buNone/>
                      </a:pPr>
                      <a:r>
                        <a:rPr lang="en-US" sz="1200" dirty="0">
                          <a:solidFill>
                            <a:srgbClr val="BBBBBB"/>
                          </a:solidFill>
                        </a:rPr>
                        <a:t>?</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extLst>
                  <a:ext uri="{0D108BD9-81ED-4DB2-BD59-A6C34878D82A}">
                    <a16:rowId xmlns:a16="http://schemas.microsoft.com/office/drawing/2014/main" val="10003"/>
                  </a:ext>
                </a:extLst>
              </a:tr>
              <a:tr h="463731">
                <a:tc>
                  <a:txBody>
                    <a:bodyPr/>
                    <a:lstStyle/>
                    <a:p>
                      <a:pPr marL="0" indent="0">
                        <a:buNone/>
                      </a:pPr>
                      <a:r>
                        <a:rPr lang="en-US" sz="1200" dirty="0">
                          <a:solidFill>
                            <a:srgbClr val="BBBBBB"/>
                          </a:solidFill>
                        </a:rPr>
                        <a:t>?</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tc>
                  <a:txBody>
                    <a:bodyPr/>
                    <a:lstStyle/>
                    <a:p>
                      <a:pPr marL="0" indent="0">
                        <a:buNone/>
                      </a:pPr>
                      <a:r>
                        <a:rPr lang="en-US" sz="1200" dirty="0">
                          <a:solidFill>
                            <a:srgbClr val="BBBBBB"/>
                          </a:solidFill>
                        </a:rPr>
                        <a:t>?</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tc>
                  <a:txBody>
                    <a:bodyPr/>
                    <a:lstStyle/>
                    <a:p>
                      <a:pPr marL="0" indent="0">
                        <a:buNone/>
                      </a:pPr>
                      <a:r>
                        <a:rPr lang="en-US" sz="1200" dirty="0">
                          <a:solidFill>
                            <a:srgbClr val="BBBBBB"/>
                          </a:solidFill>
                        </a:rPr>
                        <a:t>?</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tc>
                  <a:txBody>
                    <a:bodyPr/>
                    <a:lstStyle/>
                    <a:p>
                      <a:pPr marL="0" indent="0">
                        <a:buNone/>
                      </a:pPr>
                      <a:r>
                        <a:rPr lang="en-US" sz="1200" dirty="0">
                          <a:solidFill>
                            <a:srgbClr val="BBBBBB"/>
                          </a:solidFill>
                        </a:rPr>
                        <a:t>?</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r h="463731">
                <a:tc>
                  <a:txBody>
                    <a:bodyPr/>
                    <a:lstStyle/>
                    <a:p>
                      <a:pPr marL="0" indent="0">
                        <a:buNone/>
                      </a:pPr>
                      <a:r>
                        <a:rPr lang="en-US" sz="1200" dirty="0">
                          <a:solidFill>
                            <a:srgbClr val="BBBBBB"/>
                          </a:solidFill>
                        </a:rPr>
                        <a:t>?</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tc>
                  <a:txBody>
                    <a:bodyPr/>
                    <a:lstStyle/>
                    <a:p>
                      <a:pPr marL="0" indent="0">
                        <a:buNone/>
                      </a:pPr>
                      <a:r>
                        <a:rPr lang="en-US" sz="1200" dirty="0">
                          <a:solidFill>
                            <a:srgbClr val="BBBBBB"/>
                          </a:solidFill>
                        </a:rPr>
                        <a:t>?</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tc>
                  <a:txBody>
                    <a:bodyPr/>
                    <a:lstStyle/>
                    <a:p>
                      <a:pPr marL="0" indent="0">
                        <a:buNone/>
                      </a:pPr>
                      <a:r>
                        <a:rPr lang="en-US" sz="1200" dirty="0">
                          <a:solidFill>
                            <a:srgbClr val="BBBBBB"/>
                          </a:solidFill>
                        </a:rPr>
                        <a:t>?</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tc>
                  <a:txBody>
                    <a:bodyPr/>
                    <a:lstStyle/>
                    <a:p>
                      <a:pPr marL="0" indent="0">
                        <a:buNone/>
                      </a:pPr>
                      <a:r>
                        <a:rPr lang="en-US" sz="1200" dirty="0">
                          <a:solidFill>
                            <a:srgbClr val="BBBBBB"/>
                          </a:solidFill>
                        </a:rPr>
                        <a:t>?</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extLst>
                  <a:ext uri="{0D108BD9-81ED-4DB2-BD59-A6C34878D82A}">
                    <a16:rowId xmlns:a16="http://schemas.microsoft.com/office/drawing/2014/main" val="10005"/>
                  </a:ext>
                </a:extLst>
              </a:tr>
              <a:tr h="463731">
                <a:tc>
                  <a:txBody>
                    <a:bodyPr/>
                    <a:lstStyle/>
                    <a:p>
                      <a:pPr marL="0" indent="0">
                        <a:buNone/>
                      </a:pPr>
                      <a:r>
                        <a:rPr lang="en-US" sz="1200" dirty="0">
                          <a:solidFill>
                            <a:srgbClr val="BBBBBB"/>
                          </a:solidFill>
                        </a:rPr>
                        <a:t>?</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tc>
                  <a:txBody>
                    <a:bodyPr/>
                    <a:lstStyle/>
                    <a:p>
                      <a:pPr marL="0" indent="0">
                        <a:buNone/>
                      </a:pPr>
                      <a:r>
                        <a:rPr lang="en-US" sz="1200" dirty="0">
                          <a:solidFill>
                            <a:srgbClr val="BBBBBB"/>
                          </a:solidFill>
                        </a:rPr>
                        <a:t>?</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tc>
                  <a:txBody>
                    <a:bodyPr/>
                    <a:lstStyle/>
                    <a:p>
                      <a:pPr marL="0" indent="0">
                        <a:buNone/>
                      </a:pPr>
                      <a:r>
                        <a:rPr lang="en-US" sz="1200" dirty="0">
                          <a:solidFill>
                            <a:srgbClr val="1A1A2E"/>
                          </a:solidFill>
                        </a:rPr>
                        <a:t>loop ends</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rPr>
                        <a:t>—</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8" name="Text 5"/>
          <p:cNvSpPr txBox="1"/>
          <p:nvPr/>
        </p:nvSpPr>
        <p:spPr>
          <a:xfrm>
            <a:off x="274320" y="6537960"/>
            <a:ext cx="11612880" cy="274320"/>
          </a:xfrm>
          <a:prstGeom prst="rect">
            <a:avLst/>
          </a:prstGeom>
          <a:noFill/>
          <a:ln/>
        </p:spPr>
        <p:txBody>
          <a:bodyPr wrap="square" rtlCol="0" anchor="ctr"/>
          <a:lstStyle/>
          <a:p>
            <a:pPr marL="0" indent="0" algn="r">
              <a:buNone/>
            </a:pPr>
            <a:r>
              <a:rPr lang="en-US" sz="1100" dirty="0">
                <a:solidFill>
                  <a:srgbClr val="888888"/>
                </a:solidFill>
              </a:rPr>
              <a:t>CSE 120 · Module 1  ·  Try it first — answer on next slide</a:t>
            </a:r>
            <a:endParaRPr lang="en-US" sz="11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0FFF4"/>
        </a:solidFill>
        <a:effectLst/>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2D6A4F"/>
          </a:solidFill>
          <a:ln w="12700">
            <a:solidFill>
              <a:srgbClr val="2D6A4F"/>
            </a:solidFill>
            <a:prstDash val="solid"/>
          </a:ln>
        </p:spPr>
        <p:txBody>
          <a:bodyPr/>
          <a:lstStyle/>
          <a:p>
            <a:endParaRPr lang="en-US"/>
          </a:p>
        </p:txBody>
      </p:sp>
      <p:sp>
        <p:nvSpPr>
          <p:cNvPr id="3" name="Text 1"/>
          <p:cNvSpPr txBox="1"/>
          <p:nvPr/>
        </p:nvSpPr>
        <p:spPr>
          <a:xfrm>
            <a:off x="274320" y="91440"/>
            <a:ext cx="11612880" cy="777240"/>
          </a:xfrm>
          <a:prstGeom prst="rect">
            <a:avLst/>
          </a:prstGeom>
          <a:noFill/>
          <a:ln/>
        </p:spPr>
        <p:txBody>
          <a:bodyPr wrap="square" rtlCol="0" anchor="ctr"/>
          <a:lstStyle/>
          <a:p>
            <a:pPr marL="0" indent="0">
              <a:buNone/>
            </a:pPr>
            <a:r>
              <a:rPr lang="en-US" sz="2200" b="1" dirty="0">
                <a:solidFill>
                  <a:srgbClr val="FFFFFF"/>
                </a:solidFill>
              </a:rPr>
              <a:t>✅  Answer — while Example 4 — Battery Drain</a:t>
            </a:r>
            <a:endParaRPr lang="en-US" sz="2200" dirty="0"/>
          </a:p>
        </p:txBody>
      </p:sp>
      <p:sp>
        <p:nvSpPr>
          <p:cNvPr id="4" name="Shape 2"/>
          <p:cNvSpPr/>
          <p:nvPr/>
        </p:nvSpPr>
        <p:spPr>
          <a:xfrm>
            <a:off x="0" y="1051560"/>
            <a:ext cx="12161520" cy="1088136"/>
          </a:xfrm>
          <a:prstGeom prst="rect">
            <a:avLst/>
          </a:prstGeom>
          <a:solidFill>
            <a:srgbClr val="1E2D40"/>
          </a:solidFill>
          <a:ln w="12700">
            <a:solidFill>
              <a:srgbClr val="2A4060"/>
            </a:solidFill>
            <a:prstDash val="solid"/>
          </a:ln>
        </p:spPr>
        <p:txBody>
          <a:bodyPr/>
          <a:lstStyle/>
          <a:p>
            <a:endParaRPr lang="en-US"/>
          </a:p>
        </p:txBody>
      </p:sp>
      <p:sp>
        <p:nvSpPr>
          <p:cNvPr id="5" name="Text 3"/>
          <p:cNvSpPr txBox="1"/>
          <p:nvPr/>
        </p:nvSpPr>
        <p:spPr>
          <a:xfrm>
            <a:off x="365760" y="1097280"/>
            <a:ext cx="5120640" cy="950976"/>
          </a:xfrm>
          <a:prstGeom prst="rect">
            <a:avLst/>
          </a:prstGeom>
          <a:noFill/>
          <a:ln/>
        </p:spPr>
        <p:txBody>
          <a:bodyPr wrap="square" rtlCol="0" anchor="ctr"/>
          <a:lstStyle/>
          <a:p>
            <a:pPr marL="0" indent="0">
              <a:buNone/>
            </a:pPr>
            <a:r>
              <a:rPr lang="en-US" sz="1200" dirty="0">
                <a:solidFill>
                  <a:srgbClr val="E8F4FD"/>
                </a:solidFill>
                <a:latin typeface="Courier New" pitchFamily="34" charset="0"/>
                <a:ea typeface="Courier New" pitchFamily="34" charset="-122"/>
                <a:cs typeface="Courier New" pitchFamily="34" charset="-120"/>
              </a:rPr>
              <a:t>battery = 100</a:t>
            </a:r>
            <a:endParaRPr lang="en-US" sz="1200" dirty="0"/>
          </a:p>
          <a:p>
            <a:pPr marL="0" indent="0">
              <a:buNone/>
            </a:pPr>
            <a:r>
              <a:rPr lang="en-US" sz="1200" dirty="0">
                <a:solidFill>
                  <a:srgbClr val="E8F4FD"/>
                </a:solidFill>
                <a:latin typeface="Courier New" pitchFamily="34" charset="0"/>
                <a:ea typeface="Courier New" pitchFamily="34" charset="-122"/>
                <a:cs typeface="Courier New" pitchFamily="34" charset="-120"/>
              </a:rPr>
              <a:t>while battery &gt; 20:</a:t>
            </a:r>
            <a:endParaRPr lang="en-US" sz="1200" dirty="0"/>
          </a:p>
          <a:p>
            <a:pPr marL="0" indent="0">
              <a:buNone/>
            </a:pPr>
            <a:r>
              <a:rPr lang="en-US" sz="1200" dirty="0">
                <a:solidFill>
                  <a:srgbClr val="E8F4FD"/>
                </a:solidFill>
                <a:latin typeface="Courier New" pitchFamily="34" charset="0"/>
                <a:ea typeface="Courier New" pitchFamily="34" charset="-122"/>
                <a:cs typeface="Courier New" pitchFamily="34" charset="-120"/>
              </a:rPr>
              <a:t>    battery = battery - 15</a:t>
            </a:r>
            <a:endParaRPr lang="en-US" sz="1200" dirty="0"/>
          </a:p>
        </p:txBody>
      </p:sp>
      <p:graphicFrame>
        <p:nvGraphicFramePr>
          <p:cNvPr id="59" name="Table 0"/>
          <p:cNvGraphicFramePr>
            <a:graphicFrameLocks noGrp="1"/>
          </p:cNvGraphicFramePr>
          <p:nvPr>
            <p:extLst>
              <p:ext uri="{D42A27DB-BD31-4B8C-83A1-F6EECF244321}">
                <p14:modId xmlns:p14="http://schemas.microsoft.com/office/powerpoint/2010/main" val="3077147342"/>
              </p:ext>
            </p:extLst>
          </p:nvPr>
        </p:nvGraphicFramePr>
        <p:xfrm>
          <a:off x="1759906" y="2276856"/>
          <a:ext cx="8962372" cy="4261104"/>
        </p:xfrm>
        <a:graphic>
          <a:graphicData uri="http://schemas.openxmlformats.org/drawingml/2006/table">
            <a:tbl>
              <a:tblPr/>
              <a:tblGrid>
                <a:gridCol w="2240593">
                  <a:extLst>
                    <a:ext uri="{9D8B030D-6E8A-4147-A177-3AD203B41FA5}">
                      <a16:colId xmlns:a16="http://schemas.microsoft.com/office/drawing/2014/main" val="20000"/>
                    </a:ext>
                  </a:extLst>
                </a:gridCol>
                <a:gridCol w="2240593">
                  <a:extLst>
                    <a:ext uri="{9D8B030D-6E8A-4147-A177-3AD203B41FA5}">
                      <a16:colId xmlns:a16="http://schemas.microsoft.com/office/drawing/2014/main" val="20001"/>
                    </a:ext>
                  </a:extLst>
                </a:gridCol>
                <a:gridCol w="2240593">
                  <a:extLst>
                    <a:ext uri="{9D8B030D-6E8A-4147-A177-3AD203B41FA5}">
                      <a16:colId xmlns:a16="http://schemas.microsoft.com/office/drawing/2014/main" val="20002"/>
                    </a:ext>
                  </a:extLst>
                </a:gridCol>
                <a:gridCol w="2240593">
                  <a:extLst>
                    <a:ext uri="{9D8B030D-6E8A-4147-A177-3AD203B41FA5}">
                      <a16:colId xmlns:a16="http://schemas.microsoft.com/office/drawing/2014/main" val="20003"/>
                    </a:ext>
                  </a:extLst>
                </a:gridCol>
              </a:tblGrid>
              <a:tr h="532638">
                <a:tc>
                  <a:txBody>
                    <a:bodyPr/>
                    <a:lstStyle/>
                    <a:p>
                      <a:pPr marL="0" indent="0">
                        <a:buNone/>
                      </a:pPr>
                      <a:r>
                        <a:rPr lang="en-US" sz="1200" b="1" dirty="0">
                          <a:solidFill>
                            <a:srgbClr val="FFFFFF"/>
                          </a:solidFill>
                        </a:rPr>
                        <a:t>battery</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2D6A4F"/>
                    </a:solidFill>
                  </a:tcPr>
                </a:tc>
                <a:tc>
                  <a:txBody>
                    <a:bodyPr/>
                    <a:lstStyle/>
                    <a:p>
                      <a:pPr marL="0" indent="0">
                        <a:buNone/>
                      </a:pPr>
                      <a:r>
                        <a:rPr lang="en-US" sz="1200" b="1" dirty="0">
                          <a:solidFill>
                            <a:srgbClr val="FFFFFF"/>
                          </a:solidFill>
                        </a:rPr>
                        <a:t>battery &gt; 20?</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2D6A4F"/>
                    </a:solidFill>
                  </a:tcPr>
                </a:tc>
                <a:tc>
                  <a:txBody>
                    <a:bodyPr/>
                    <a:lstStyle/>
                    <a:p>
                      <a:pPr marL="0" indent="0">
                        <a:buNone/>
                      </a:pPr>
                      <a:r>
                        <a:rPr lang="en-US" sz="1200" b="1" dirty="0">
                          <a:solidFill>
                            <a:srgbClr val="FFFFFF"/>
                          </a:solidFill>
                        </a:rPr>
                        <a:t>Output</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2D6A4F"/>
                    </a:solidFill>
                  </a:tcPr>
                </a:tc>
                <a:tc>
                  <a:txBody>
                    <a:bodyPr/>
                    <a:lstStyle/>
                    <a:p>
                      <a:pPr marL="0" indent="0">
                        <a:buNone/>
                      </a:pPr>
                      <a:r>
                        <a:rPr lang="en-US" sz="1200" b="1" dirty="0">
                          <a:solidFill>
                            <a:srgbClr val="FFFFFF"/>
                          </a:solidFill>
                        </a:rPr>
                        <a:t>after -15</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2D6A4F"/>
                    </a:solidFill>
                  </a:tcPr>
                </a:tc>
                <a:extLst>
                  <a:ext uri="{0D108BD9-81ED-4DB2-BD59-A6C34878D82A}">
                    <a16:rowId xmlns:a16="http://schemas.microsoft.com/office/drawing/2014/main" val="10000"/>
                  </a:ext>
                </a:extLst>
              </a:tr>
              <a:tr h="532638">
                <a:tc>
                  <a:txBody>
                    <a:bodyPr/>
                    <a:lstStyle/>
                    <a:p>
                      <a:pPr marL="0" indent="0">
                        <a:buNone/>
                      </a:pPr>
                      <a:r>
                        <a:rPr lang="en-US" sz="1200" dirty="0">
                          <a:solidFill>
                            <a:srgbClr val="1A1A2E"/>
                          </a:solidFill>
                        </a:rPr>
                        <a:t>100</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rPr>
                        <a:t>True</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rPr>
                        <a:t>Battery: 100 %</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rPr>
                        <a:t>85</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2638">
                <a:tc>
                  <a:txBody>
                    <a:bodyPr/>
                    <a:lstStyle/>
                    <a:p>
                      <a:pPr marL="0" indent="0">
                        <a:buNone/>
                      </a:pPr>
                      <a:r>
                        <a:rPr lang="en-US" sz="1200" dirty="0">
                          <a:solidFill>
                            <a:srgbClr val="1A1A2E"/>
                          </a:solidFill>
                        </a:rPr>
                        <a:t>85</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rPr>
                        <a:t>True</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rPr>
                        <a:t>Battery: 85 %</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rPr>
                        <a:t>70</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2638">
                <a:tc>
                  <a:txBody>
                    <a:bodyPr/>
                    <a:lstStyle/>
                    <a:p>
                      <a:pPr marL="0" indent="0">
                        <a:buNone/>
                      </a:pPr>
                      <a:r>
                        <a:rPr lang="en-US" sz="1200" dirty="0">
                          <a:solidFill>
                            <a:srgbClr val="1A1A2E"/>
                          </a:solidFill>
                        </a:rPr>
                        <a:t>70</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rPr>
                        <a:t>True</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rPr>
                        <a:t>Battery: 70 %</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rPr>
                        <a:t>55</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2638">
                <a:tc>
                  <a:txBody>
                    <a:bodyPr/>
                    <a:lstStyle/>
                    <a:p>
                      <a:pPr marL="0" indent="0">
                        <a:buNone/>
                      </a:pPr>
                      <a:r>
                        <a:rPr lang="en-US" sz="1200" dirty="0">
                          <a:solidFill>
                            <a:srgbClr val="1A1A2E"/>
                          </a:solidFill>
                        </a:rPr>
                        <a:t>55</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rPr>
                        <a:t>True</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rPr>
                        <a:t>Battery: 55 %</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rPr>
                        <a:t>40</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32638">
                <a:tc>
                  <a:txBody>
                    <a:bodyPr/>
                    <a:lstStyle/>
                    <a:p>
                      <a:pPr marL="0" indent="0">
                        <a:buNone/>
                      </a:pPr>
                      <a:r>
                        <a:rPr lang="en-US" sz="1200" dirty="0">
                          <a:solidFill>
                            <a:srgbClr val="1A1A2E"/>
                          </a:solidFill>
                        </a:rPr>
                        <a:t>40</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rPr>
                        <a:t>True</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rPr>
                        <a:t>Battery: 40 %</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rPr>
                        <a:t>25</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32638">
                <a:tc>
                  <a:txBody>
                    <a:bodyPr/>
                    <a:lstStyle/>
                    <a:p>
                      <a:pPr marL="0" indent="0">
                        <a:buNone/>
                      </a:pPr>
                      <a:r>
                        <a:rPr lang="en-US" sz="1200" dirty="0">
                          <a:solidFill>
                            <a:srgbClr val="1A1A2E"/>
                          </a:solidFill>
                        </a:rPr>
                        <a:t>25</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rPr>
                        <a:t>True</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rPr>
                        <a:t>Battery: 25 %</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rPr>
                        <a:t>10</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32638">
                <a:tc>
                  <a:txBody>
                    <a:bodyPr/>
                    <a:lstStyle/>
                    <a:p>
                      <a:pPr marL="0" indent="0">
                        <a:buNone/>
                      </a:pPr>
                      <a:r>
                        <a:rPr lang="en-US" sz="1200" dirty="0">
                          <a:solidFill>
                            <a:srgbClr val="1A1A2E"/>
                          </a:solidFill>
                        </a:rPr>
                        <a:t>10</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rPr>
                        <a:t>False</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rPr>
                        <a:t>Low battery! 10 %</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rPr>
                        <a:t>—</a:t>
                      </a:r>
                      <a:endParaRPr lang="en-US" sz="1200" dirty="0"/>
                    </a:p>
                  </a:txBody>
                  <a:tcP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7" name="Text 4"/>
          <p:cNvSpPr txBox="1"/>
          <p:nvPr/>
        </p:nvSpPr>
        <p:spPr>
          <a:xfrm>
            <a:off x="274320" y="6537960"/>
            <a:ext cx="11612880" cy="274320"/>
          </a:xfrm>
          <a:prstGeom prst="rect">
            <a:avLst/>
          </a:prstGeom>
          <a:noFill/>
          <a:ln/>
        </p:spPr>
        <p:txBody>
          <a:bodyPr wrap="square" rtlCol="0" anchor="ctr"/>
          <a:lstStyle/>
          <a:p>
            <a:pPr marL="0" indent="0" algn="r">
              <a:buNone/>
            </a:pPr>
            <a:r>
              <a:rPr lang="en-US" sz="1100" dirty="0">
                <a:solidFill>
                  <a:srgbClr val="888888"/>
                </a:solidFill>
              </a:rPr>
              <a:t>CSE 120 · Module 1</a:t>
            </a:r>
            <a:endParaRPr lang="en-US" sz="11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822960"/>
          </a:xfrm>
          <a:prstGeom prst="rect">
            <a:avLst/>
          </a:prstGeom>
          <a:solidFill>
            <a:srgbClr val="003767"/>
          </a:solidFill>
          <a:ln w="12700">
            <a:solidFill>
              <a:srgbClr val="003767"/>
            </a:solidFill>
            <a:prstDash val="solid"/>
          </a:ln>
        </p:spPr>
        <p:txBody>
          <a:bodyPr/>
          <a:lstStyle/>
          <a:p>
            <a:endParaRPr lang="en-US"/>
          </a:p>
        </p:txBody>
      </p:sp>
      <p:sp>
        <p:nvSpPr>
          <p:cNvPr id="3" name="Text 1"/>
          <p:cNvSpPr txBox="1"/>
          <p:nvPr/>
        </p:nvSpPr>
        <p:spPr>
          <a:xfrm>
            <a:off x="274320" y="73152"/>
            <a:ext cx="11612880" cy="685800"/>
          </a:xfrm>
          <a:prstGeom prst="rect">
            <a:avLst/>
          </a:prstGeom>
          <a:noFill/>
          <a:ln/>
        </p:spPr>
        <p:txBody>
          <a:bodyPr wrap="square" rtlCol="0" anchor="ctr"/>
          <a:lstStyle/>
          <a:p>
            <a:pPr marL="0" indent="0">
              <a:buNone/>
            </a:pPr>
            <a:r>
              <a:rPr lang="en-US" sz="2000" b="1" dirty="0">
                <a:solidFill>
                  <a:srgbClr val="FFFFFF"/>
                </a:solidFill>
              </a:rPr>
              <a:t>⚠️  Infinite Loops — What Goes Wrong</a:t>
            </a:r>
            <a:endParaRPr lang="en-US" sz="2000" dirty="0"/>
          </a:p>
        </p:txBody>
      </p:sp>
      <p:sp>
        <p:nvSpPr>
          <p:cNvPr id="4" name="Text 2"/>
          <p:cNvSpPr txBox="1"/>
          <p:nvPr/>
        </p:nvSpPr>
        <p:spPr>
          <a:xfrm>
            <a:off x="365760" y="914400"/>
            <a:ext cx="11430000" cy="5577840"/>
          </a:xfrm>
          <a:prstGeom prst="rect">
            <a:avLst/>
          </a:prstGeom>
          <a:noFill/>
          <a:ln/>
        </p:spPr>
        <p:txBody>
          <a:bodyPr wrap="square" rtlCol="0" anchor="t"/>
          <a:lstStyle/>
          <a:p>
            <a:pPr marL="342900" indent="-342900">
              <a:spcAft>
                <a:spcPts val="1400"/>
              </a:spcAft>
              <a:buSzPct val="100000"/>
              <a:buChar char="•"/>
            </a:pPr>
            <a:r>
              <a:rPr lang="en-US" sz="1500" b="1" dirty="0">
                <a:solidFill>
                  <a:srgbClr val="1A1A2E"/>
                </a:solidFill>
              </a:rPr>
              <a:t>A while loop must eventually make its condition False — otherwise it runs forever</a:t>
            </a:r>
            <a:endParaRPr lang="en-US" sz="1500" dirty="0"/>
          </a:p>
          <a:p>
            <a:pPr marL="0" indent="0">
              <a:spcAft>
                <a:spcPts val="400"/>
              </a:spcAft>
              <a:buNone/>
            </a:pPr>
            <a:r>
              <a:rPr lang="en-US" sz="1500" b="1" dirty="0">
                <a:solidFill>
                  <a:srgbClr val="1A1A2E"/>
                </a:solidFill>
              </a:rPr>
              <a:t>Missing update:</a:t>
            </a:r>
            <a:endParaRPr lang="en-US" sz="1500" dirty="0"/>
          </a:p>
          <a:p>
            <a:pPr marL="0" indent="0">
              <a:spcAft>
                <a:spcPts val="300"/>
              </a:spcAft>
              <a:buNone/>
            </a:pPr>
            <a:r>
              <a:rPr lang="en-US" sz="1400" dirty="0">
                <a:solidFill>
                  <a:srgbClr val="1E2D40"/>
                </a:solidFill>
              </a:rPr>
              <a:t>count = 1</a:t>
            </a:r>
            <a:endParaRPr lang="en-US" sz="1500" dirty="0"/>
          </a:p>
          <a:p>
            <a:pPr marL="0" indent="0">
              <a:spcAft>
                <a:spcPts val="300"/>
              </a:spcAft>
              <a:buNone/>
            </a:pPr>
            <a:r>
              <a:rPr lang="en-US" sz="1400" dirty="0">
                <a:solidFill>
                  <a:srgbClr val="1E2D40"/>
                </a:solidFill>
              </a:rPr>
              <a:t>while count &lt;= 5:</a:t>
            </a:r>
            <a:endParaRPr lang="en-US" sz="1500" dirty="0"/>
          </a:p>
          <a:p>
            <a:pPr marL="0" indent="0">
              <a:spcAft>
                <a:spcPts val="300"/>
              </a:spcAft>
              <a:buNone/>
            </a:pPr>
            <a:r>
              <a:rPr lang="en-US" sz="1400" dirty="0">
                <a:solidFill>
                  <a:srgbClr val="1E2D40"/>
                </a:solidFill>
              </a:rPr>
              <a:t>    print("Count is:", count)</a:t>
            </a:r>
            <a:endParaRPr lang="en-US" sz="1500" dirty="0"/>
          </a:p>
          <a:p>
            <a:pPr marL="0" indent="0">
              <a:spcAft>
                <a:spcPts val="1400"/>
              </a:spcAft>
              <a:buNone/>
            </a:pPr>
            <a:r>
              <a:rPr lang="en-US" sz="1400" dirty="0">
                <a:solidFill>
                  <a:srgbClr val="BB4444"/>
                </a:solidFill>
              </a:rPr>
              <a:t># count = count + 1 is missing!</a:t>
            </a:r>
            <a:endParaRPr lang="en-US" sz="1500" dirty="0"/>
          </a:p>
          <a:p>
            <a:pPr marL="342900" indent="-342900">
              <a:spcAft>
                <a:spcPts val="1000"/>
              </a:spcAft>
              <a:buSzPct val="100000"/>
              <a:buChar char="•"/>
            </a:pPr>
            <a:r>
              <a:rPr lang="en-US" sz="1500" b="1" dirty="0">
                <a:solidFill>
                  <a:srgbClr val="991B1B"/>
                </a:solidFill>
              </a:rPr>
              <a:t>count never changes → condition always True → prints "Count is: 1" forever</a:t>
            </a:r>
            <a:endParaRPr lang="en-US" sz="1500" dirty="0"/>
          </a:p>
          <a:p>
            <a:pPr marL="342900" indent="-342900">
              <a:spcAft>
                <a:spcPts val="400"/>
              </a:spcAft>
              <a:buSzPct val="100000"/>
              <a:buChar char="•"/>
            </a:pPr>
            <a:r>
              <a:rPr lang="en-US" sz="1500" dirty="0">
                <a:solidFill>
                  <a:srgbClr val="1A1A2E"/>
                </a:solidFill>
              </a:rPr>
              <a:t>Fix: add count = count + 1 inside the loop. Press Ctrl+C to stop an infinite loop.</a:t>
            </a:r>
            <a:endParaRPr lang="en-US" sz="1500" dirty="0"/>
          </a:p>
        </p:txBody>
      </p:sp>
      <p:sp>
        <p:nvSpPr>
          <p:cNvPr id="5" name="Text 3"/>
          <p:cNvSpPr txBox="1"/>
          <p:nvPr/>
        </p:nvSpPr>
        <p:spPr>
          <a:xfrm>
            <a:off x="274320" y="6537960"/>
            <a:ext cx="11612880" cy="274320"/>
          </a:xfrm>
          <a:prstGeom prst="rect">
            <a:avLst/>
          </a:prstGeom>
          <a:noFill/>
          <a:ln/>
        </p:spPr>
        <p:txBody>
          <a:bodyPr wrap="square" rtlCol="0" anchor="ctr"/>
          <a:lstStyle/>
          <a:p>
            <a:pPr marL="0" indent="0" algn="r">
              <a:buNone/>
            </a:pPr>
            <a:r>
              <a:rPr lang="en-US" sz="1100" dirty="0">
                <a:solidFill>
                  <a:srgbClr val="999999"/>
                </a:solidFill>
              </a:rPr>
              <a:t>CSE 120 · Module 1</a:t>
            </a:r>
            <a:endParaRPr lang="en-US" sz="11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822960"/>
          </a:xfrm>
          <a:prstGeom prst="rect">
            <a:avLst/>
          </a:prstGeom>
          <a:solidFill>
            <a:srgbClr val="003767"/>
          </a:solidFill>
          <a:ln w="12700">
            <a:solidFill>
              <a:srgbClr val="003767"/>
            </a:solidFill>
            <a:prstDash val="solid"/>
          </a:ln>
        </p:spPr>
        <p:txBody>
          <a:bodyPr/>
          <a:lstStyle/>
          <a:p>
            <a:endParaRPr lang="en-US"/>
          </a:p>
        </p:txBody>
      </p:sp>
      <p:sp>
        <p:nvSpPr>
          <p:cNvPr id="3" name="Text 1"/>
          <p:cNvSpPr txBox="1"/>
          <p:nvPr/>
        </p:nvSpPr>
        <p:spPr>
          <a:xfrm>
            <a:off x="274320" y="73152"/>
            <a:ext cx="11612880" cy="685800"/>
          </a:xfrm>
          <a:prstGeom prst="rect">
            <a:avLst/>
          </a:prstGeom>
          <a:noFill/>
          <a:ln/>
        </p:spPr>
        <p:txBody>
          <a:bodyPr wrap="square" rtlCol="0" anchor="ctr"/>
          <a:lstStyle/>
          <a:p>
            <a:pPr marL="0" indent="0">
              <a:buNone/>
            </a:pPr>
            <a:r>
              <a:rPr lang="en-US" sz="2000" b="1" dirty="0">
                <a:solidFill>
                  <a:srgbClr val="FFFFFF"/>
                </a:solidFill>
              </a:rPr>
              <a:t>for vs while — When to Use Which</a:t>
            </a:r>
            <a:endParaRPr lang="en-US" sz="2000" dirty="0"/>
          </a:p>
        </p:txBody>
      </p:sp>
      <p:sp>
        <p:nvSpPr>
          <p:cNvPr id="4" name="Text 2"/>
          <p:cNvSpPr txBox="1"/>
          <p:nvPr/>
        </p:nvSpPr>
        <p:spPr>
          <a:xfrm>
            <a:off x="365760" y="914400"/>
            <a:ext cx="11430000" cy="5577840"/>
          </a:xfrm>
          <a:prstGeom prst="rect">
            <a:avLst/>
          </a:prstGeom>
          <a:noFill/>
          <a:ln/>
        </p:spPr>
        <p:txBody>
          <a:bodyPr wrap="square" rtlCol="0" anchor="t"/>
          <a:lstStyle/>
          <a:p>
            <a:pPr marL="0" indent="0">
              <a:spcAft>
                <a:spcPts val="400"/>
              </a:spcAft>
              <a:buNone/>
            </a:pPr>
            <a:r>
              <a:rPr lang="en-US" sz="1600" b="1" dirty="0">
                <a:solidFill>
                  <a:srgbClr val="0E7490"/>
                </a:solidFill>
              </a:rPr>
              <a:t>Use for when…</a:t>
            </a:r>
            <a:endParaRPr lang="en-US" sz="1600" dirty="0"/>
          </a:p>
          <a:p>
            <a:pPr marL="685800" lvl="1" indent="-342900">
              <a:spcAft>
                <a:spcPts val="400"/>
              </a:spcAft>
              <a:buSzPct val="100000"/>
              <a:buChar char="•"/>
            </a:pPr>
            <a:r>
              <a:rPr lang="en-US" sz="1500" dirty="0">
                <a:solidFill>
                  <a:srgbClr val="1A1A2E"/>
                </a:solidFill>
              </a:rPr>
              <a:t>You know exactly how many times to repeat</a:t>
            </a:r>
            <a:endParaRPr lang="en-US" sz="1600" dirty="0"/>
          </a:p>
          <a:p>
            <a:pPr marL="685800" lvl="1" indent="-342900">
              <a:spcAft>
                <a:spcPts val="400"/>
              </a:spcAft>
              <a:buSzPct val="100000"/>
              <a:buChar char="•"/>
            </a:pPr>
            <a:r>
              <a:rPr lang="en-US" sz="1500" dirty="0">
                <a:solidFill>
                  <a:srgbClr val="1A1A2E"/>
                </a:solidFill>
              </a:rPr>
              <a:t>Counting through a range of numbers</a:t>
            </a:r>
            <a:endParaRPr lang="en-US" sz="1600" dirty="0"/>
          </a:p>
          <a:p>
            <a:pPr marL="685800" lvl="1" indent="-342900">
              <a:spcAft>
                <a:spcPts val="1400"/>
              </a:spcAft>
              <a:buSzPct val="100000"/>
              <a:buChar char="•"/>
            </a:pPr>
            <a:r>
              <a:rPr lang="en-US" sz="1500" dirty="0">
                <a:solidFill>
                  <a:srgbClr val="1A1A2E"/>
                </a:solidFill>
              </a:rPr>
              <a:t>Example: "Ask for 5 sensor readings"</a:t>
            </a:r>
            <a:endParaRPr lang="en-US" sz="1600" dirty="0"/>
          </a:p>
          <a:p>
            <a:pPr marL="0" indent="0">
              <a:spcAft>
                <a:spcPts val="400"/>
              </a:spcAft>
              <a:buNone/>
            </a:pPr>
            <a:r>
              <a:rPr lang="en-US" sz="1600" b="1" dirty="0">
                <a:solidFill>
                  <a:srgbClr val="5B21B6"/>
                </a:solidFill>
              </a:rPr>
              <a:t>Use while when…</a:t>
            </a:r>
            <a:endParaRPr lang="en-US" sz="1600" dirty="0"/>
          </a:p>
          <a:p>
            <a:pPr marL="685800" lvl="1" indent="-342900">
              <a:spcAft>
                <a:spcPts val="400"/>
              </a:spcAft>
              <a:buSzPct val="100000"/>
              <a:buChar char="•"/>
            </a:pPr>
            <a:r>
              <a:rPr lang="en-US" sz="1500" dirty="0">
                <a:solidFill>
                  <a:srgbClr val="1A1A2E"/>
                </a:solidFill>
              </a:rPr>
              <a:t>You don't know how many times you'll need</a:t>
            </a:r>
            <a:endParaRPr lang="en-US" sz="1600" dirty="0"/>
          </a:p>
          <a:p>
            <a:pPr marL="685800" lvl="1" indent="-342900">
              <a:spcAft>
                <a:spcPts val="400"/>
              </a:spcAft>
              <a:buSzPct val="100000"/>
              <a:buChar char="•"/>
            </a:pPr>
            <a:r>
              <a:rPr lang="en-US" sz="1500" dirty="0">
                <a:solidFill>
                  <a:srgbClr val="1A1A2E"/>
                </a:solidFill>
              </a:rPr>
              <a:t>Repeating until a condition changes</a:t>
            </a:r>
            <a:endParaRPr lang="en-US" sz="1600" dirty="0"/>
          </a:p>
          <a:p>
            <a:pPr marL="685800" lvl="1" indent="-342900">
              <a:spcAft>
                <a:spcPts val="1400"/>
              </a:spcAft>
              <a:buSzPct val="100000"/>
              <a:buChar char="•"/>
            </a:pPr>
            <a:r>
              <a:rPr lang="en-US" sz="1500" dirty="0">
                <a:solidFill>
                  <a:srgbClr val="1A1A2E"/>
                </a:solidFill>
              </a:rPr>
              <a:t>Example: "Keep asking until the password matches"</a:t>
            </a:r>
            <a:endParaRPr lang="en-US" sz="1600" dirty="0"/>
          </a:p>
          <a:p>
            <a:pPr marL="0" indent="0">
              <a:spcAft>
                <a:spcPts val="400"/>
              </a:spcAft>
              <a:buNone/>
            </a:pPr>
            <a:r>
              <a:rPr lang="en-US" sz="1500" b="1" dirty="0">
                <a:solidFill>
                  <a:srgbClr val="003767"/>
                </a:solidFill>
              </a:rPr>
              <a:t>When in doubt: if you can count it → for. If you're waiting for something → while.</a:t>
            </a:r>
            <a:endParaRPr lang="en-US" sz="1600" dirty="0"/>
          </a:p>
        </p:txBody>
      </p:sp>
      <p:sp>
        <p:nvSpPr>
          <p:cNvPr id="5" name="Text 3"/>
          <p:cNvSpPr txBox="1"/>
          <p:nvPr/>
        </p:nvSpPr>
        <p:spPr>
          <a:xfrm>
            <a:off x="274320" y="6537960"/>
            <a:ext cx="11612880" cy="274320"/>
          </a:xfrm>
          <a:prstGeom prst="rect">
            <a:avLst/>
          </a:prstGeom>
          <a:noFill/>
          <a:ln/>
        </p:spPr>
        <p:txBody>
          <a:bodyPr wrap="square" rtlCol="0" anchor="ctr"/>
          <a:lstStyle/>
          <a:p>
            <a:pPr marL="0" indent="0" algn="r">
              <a:buNone/>
            </a:pPr>
            <a:r>
              <a:rPr lang="en-US" sz="1100" dirty="0">
                <a:solidFill>
                  <a:srgbClr val="999999"/>
                </a:solidFill>
              </a:rPr>
              <a:t>CSE 120 · Module 1</a:t>
            </a:r>
            <a:endParaRPr lang="en-US" sz="11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003767"/>
        </a:solidFill>
        <a:effectLst/>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03767"/>
          </a:solidFill>
          <a:ln w="12700">
            <a:solidFill>
              <a:srgbClr val="003767"/>
            </a:solidFill>
            <a:prstDash val="solid"/>
          </a:ln>
        </p:spPr>
        <p:txBody>
          <a:bodyPr/>
          <a:lstStyle/>
          <a:p>
            <a:endParaRPr lang="en-US"/>
          </a:p>
        </p:txBody>
      </p:sp>
      <p:sp>
        <p:nvSpPr>
          <p:cNvPr id="3" name="Shape 1"/>
          <p:cNvSpPr/>
          <p:nvPr/>
        </p:nvSpPr>
        <p:spPr>
          <a:xfrm>
            <a:off x="0" y="5303520"/>
            <a:ext cx="12161520" cy="1554480"/>
          </a:xfrm>
          <a:prstGeom prst="rect">
            <a:avLst/>
          </a:prstGeom>
          <a:solidFill>
            <a:srgbClr val="001F40"/>
          </a:solidFill>
          <a:ln w="12700">
            <a:solidFill>
              <a:srgbClr val="001F40"/>
            </a:solidFill>
            <a:prstDash val="solid"/>
          </a:ln>
        </p:spPr>
        <p:txBody>
          <a:bodyPr/>
          <a:lstStyle/>
          <a:p>
            <a:endParaRPr lang="en-US"/>
          </a:p>
        </p:txBody>
      </p:sp>
      <p:sp>
        <p:nvSpPr>
          <p:cNvPr id="4" name="Text 2"/>
          <p:cNvSpPr txBox="1"/>
          <p:nvPr/>
        </p:nvSpPr>
        <p:spPr>
          <a:xfrm>
            <a:off x="731520" y="914400"/>
            <a:ext cx="10698480" cy="822960"/>
          </a:xfrm>
          <a:prstGeom prst="rect">
            <a:avLst/>
          </a:prstGeom>
          <a:noFill/>
          <a:ln/>
        </p:spPr>
        <p:txBody>
          <a:bodyPr wrap="square" rtlCol="0" anchor="ctr"/>
          <a:lstStyle/>
          <a:p>
            <a:pPr marL="0" indent="0" algn="ctr">
              <a:buNone/>
            </a:pPr>
            <a:r>
              <a:rPr lang="en-US" sz="2000" b="1" dirty="0">
                <a:solidFill>
                  <a:srgbClr val="0074B7"/>
                </a:solidFill>
              </a:rPr>
              <a:t>Part 9</a:t>
            </a:r>
            <a:endParaRPr lang="en-US" sz="2000" dirty="0"/>
          </a:p>
        </p:txBody>
      </p:sp>
      <p:sp>
        <p:nvSpPr>
          <p:cNvPr id="5" name="Text 3"/>
          <p:cNvSpPr txBox="1"/>
          <p:nvPr/>
        </p:nvSpPr>
        <p:spPr>
          <a:xfrm>
            <a:off x="731520" y="1737360"/>
            <a:ext cx="10698480" cy="2286000"/>
          </a:xfrm>
          <a:prstGeom prst="rect">
            <a:avLst/>
          </a:prstGeom>
          <a:noFill/>
          <a:ln/>
        </p:spPr>
        <p:txBody>
          <a:bodyPr wrap="square" rtlCol="0" anchor="ctr"/>
          <a:lstStyle/>
          <a:p>
            <a:pPr marL="0" indent="0" algn="ctr">
              <a:buNone/>
            </a:pPr>
            <a:r>
              <a:rPr lang="en-US" sz="4000" b="1" dirty="0">
                <a:solidFill>
                  <a:srgbClr val="FFFFFF"/>
                </a:solidFill>
              </a:rPr>
              <a:t>Debugging</a:t>
            </a:r>
            <a:endParaRPr lang="en-US" sz="4000" dirty="0"/>
          </a:p>
        </p:txBody>
      </p:sp>
      <p:sp>
        <p:nvSpPr>
          <p:cNvPr id="6" name="Text 4"/>
          <p:cNvSpPr txBox="1"/>
          <p:nvPr/>
        </p:nvSpPr>
        <p:spPr>
          <a:xfrm>
            <a:off x="731520" y="4114800"/>
            <a:ext cx="10698480" cy="1005840"/>
          </a:xfrm>
          <a:prstGeom prst="rect">
            <a:avLst/>
          </a:prstGeom>
          <a:noFill/>
          <a:ln/>
        </p:spPr>
        <p:txBody>
          <a:bodyPr wrap="square" rtlCol="0" anchor="ctr"/>
          <a:lstStyle/>
          <a:p>
            <a:pPr marL="0" indent="0" algn="ctr">
              <a:buNone/>
            </a:pPr>
            <a:r>
              <a:rPr lang="en-US" sz="1500" dirty="0">
                <a:solidFill>
                  <a:srgbClr val="7BAFD4"/>
                </a:solidFill>
              </a:rPr>
              <a:t>Syntax · Runtime · Logic Errors · Debugging Strategy · Lab</a:t>
            </a:r>
            <a:endParaRPr lang="en-US" sz="1500" dirty="0"/>
          </a:p>
        </p:txBody>
      </p:sp>
      <p:sp>
        <p:nvSpPr>
          <p:cNvPr id="7" name="Text 5"/>
          <p:cNvSpPr txBox="1"/>
          <p:nvPr/>
        </p:nvSpPr>
        <p:spPr>
          <a:xfrm>
            <a:off x="731520" y="5577840"/>
            <a:ext cx="10698480" cy="731520"/>
          </a:xfrm>
          <a:prstGeom prst="rect">
            <a:avLst/>
          </a:prstGeom>
          <a:noFill/>
          <a:ln/>
        </p:spPr>
        <p:txBody>
          <a:bodyPr wrap="square" rtlCol="0" anchor="ctr"/>
          <a:lstStyle/>
          <a:p>
            <a:pPr marL="0" indent="0" algn="ctr">
              <a:buNone/>
            </a:pPr>
            <a:r>
              <a:rPr lang="en-US" sz="1300" dirty="0">
                <a:solidFill>
                  <a:srgbClr val="6699BB"/>
                </a:solidFill>
              </a:rPr>
              <a:t>CSE 120 · Module 1</a:t>
            </a:r>
            <a:endParaRPr lang="en-US" sz="13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822960"/>
          </a:xfrm>
          <a:prstGeom prst="rect">
            <a:avLst/>
          </a:prstGeom>
          <a:solidFill>
            <a:srgbClr val="003767"/>
          </a:solidFill>
          <a:ln w="12700">
            <a:solidFill>
              <a:srgbClr val="003767"/>
            </a:solidFill>
            <a:prstDash val="solid"/>
          </a:ln>
        </p:spPr>
        <p:txBody>
          <a:bodyPr/>
          <a:lstStyle/>
          <a:p>
            <a:endParaRPr lang="en-US"/>
          </a:p>
        </p:txBody>
      </p:sp>
      <p:sp>
        <p:nvSpPr>
          <p:cNvPr id="3" name="Text 1"/>
          <p:cNvSpPr txBox="1"/>
          <p:nvPr/>
        </p:nvSpPr>
        <p:spPr>
          <a:xfrm>
            <a:off x="274320" y="73152"/>
            <a:ext cx="11612880" cy="685800"/>
          </a:xfrm>
          <a:prstGeom prst="rect">
            <a:avLst/>
          </a:prstGeom>
          <a:noFill/>
          <a:ln/>
        </p:spPr>
        <p:txBody>
          <a:bodyPr wrap="square" rtlCol="0" anchor="ctr"/>
          <a:lstStyle/>
          <a:p>
            <a:pPr marL="0" indent="0">
              <a:buNone/>
            </a:pPr>
            <a:r>
              <a:rPr lang="en-US" sz="2000" b="1" dirty="0">
                <a:solidFill>
                  <a:srgbClr val="FFFFFF"/>
                </a:solidFill>
              </a:rPr>
              <a:t>Errors Are Normal — Debugging Is a Skill</a:t>
            </a:r>
            <a:endParaRPr lang="en-US" sz="2000" dirty="0"/>
          </a:p>
        </p:txBody>
      </p:sp>
      <p:sp>
        <p:nvSpPr>
          <p:cNvPr id="4" name="Text 2"/>
          <p:cNvSpPr txBox="1"/>
          <p:nvPr/>
        </p:nvSpPr>
        <p:spPr>
          <a:xfrm>
            <a:off x="365760" y="914400"/>
            <a:ext cx="11430000" cy="5577840"/>
          </a:xfrm>
          <a:prstGeom prst="rect">
            <a:avLst/>
          </a:prstGeom>
          <a:noFill/>
          <a:ln/>
        </p:spPr>
        <p:txBody>
          <a:bodyPr wrap="square" rtlCol="0" anchor="t"/>
          <a:lstStyle/>
          <a:p>
            <a:pPr marL="342900" indent="-342900">
              <a:spcAft>
                <a:spcPts val="1000"/>
              </a:spcAft>
              <a:buSzPct val="100000"/>
              <a:buChar char="•"/>
            </a:pPr>
            <a:r>
              <a:rPr lang="en-US" sz="1500" b="1" dirty="0">
                <a:solidFill>
                  <a:srgbClr val="1A1A2E"/>
                </a:solidFill>
              </a:rPr>
              <a:t>Every programmer — beginner AND expert — writes buggy code</a:t>
            </a:r>
            <a:endParaRPr lang="en-US" sz="1500" dirty="0"/>
          </a:p>
          <a:p>
            <a:pPr marL="342900" indent="-342900">
              <a:spcAft>
                <a:spcPts val="1000"/>
              </a:spcAft>
              <a:buSzPct val="100000"/>
              <a:buChar char="•"/>
            </a:pPr>
            <a:r>
              <a:rPr lang="en-US" sz="1500" dirty="0">
                <a:solidFill>
                  <a:srgbClr val="1A1A2E"/>
                </a:solidFill>
              </a:rPr>
              <a:t>Errors are not a sign of failure — they are a normal part of programming</a:t>
            </a:r>
            <a:endParaRPr lang="en-US" sz="1500" dirty="0"/>
          </a:p>
          <a:p>
            <a:pPr marL="342900" indent="-342900">
              <a:spcAft>
                <a:spcPts val="1800"/>
              </a:spcAft>
              <a:buSzPct val="100000"/>
              <a:buChar char="•"/>
            </a:pPr>
            <a:r>
              <a:rPr lang="en-US" sz="1500" dirty="0">
                <a:solidFill>
                  <a:srgbClr val="1A1A2E"/>
                </a:solidFill>
              </a:rPr>
              <a:t>The skill you need: find and fix problems quickly</a:t>
            </a:r>
            <a:endParaRPr lang="en-US" sz="1500" dirty="0"/>
          </a:p>
          <a:p>
            <a:pPr marL="0" indent="0">
              <a:spcAft>
                <a:spcPts val="800"/>
              </a:spcAft>
              <a:buNone/>
            </a:pPr>
            <a:r>
              <a:rPr lang="en-US" sz="1500" b="1" dirty="0">
                <a:solidFill>
                  <a:srgbClr val="1A1A2E"/>
                </a:solidFill>
              </a:rPr>
              <a:t>Three categories of Python errors:</a:t>
            </a:r>
            <a:endParaRPr lang="en-US" sz="1500" dirty="0"/>
          </a:p>
          <a:p>
            <a:pPr marL="685800" lvl="1" indent="-342900">
              <a:spcAft>
                <a:spcPts val="500"/>
              </a:spcAft>
              <a:buSzPct val="100000"/>
              <a:buChar char="•"/>
            </a:pPr>
            <a:r>
              <a:rPr lang="en-US" sz="1500" dirty="0">
                <a:solidFill>
                  <a:srgbClr val="1A1A2E"/>
                </a:solidFill>
              </a:rPr>
              <a:t>Syntax Error  — Python can't read the code</a:t>
            </a:r>
            <a:endParaRPr lang="en-US" sz="1500" dirty="0"/>
          </a:p>
          <a:p>
            <a:pPr marL="685800" lvl="1" indent="-342900">
              <a:spcAft>
                <a:spcPts val="500"/>
              </a:spcAft>
              <a:buSzPct val="100000"/>
              <a:buChar char="•"/>
            </a:pPr>
            <a:r>
              <a:rPr lang="en-US" sz="1500" dirty="0">
                <a:solidFill>
                  <a:srgbClr val="1A1A2E"/>
                </a:solidFill>
              </a:rPr>
              <a:t>Runtime Error — Code is readable, but crashes while running</a:t>
            </a:r>
            <a:endParaRPr lang="en-US" sz="1500" dirty="0"/>
          </a:p>
          <a:p>
            <a:pPr marL="685800" lvl="1" indent="-342900">
              <a:spcAft>
                <a:spcPts val="1600"/>
              </a:spcAft>
              <a:buSzPct val="100000"/>
              <a:buChar char="•"/>
            </a:pPr>
            <a:r>
              <a:rPr lang="en-US" sz="1500" dirty="0">
                <a:solidFill>
                  <a:srgbClr val="1A1A2E"/>
                </a:solidFill>
              </a:rPr>
              <a:t>Logic Error   — Runs fine, but gives the wrong answer</a:t>
            </a:r>
            <a:endParaRPr lang="en-US" sz="1500" dirty="0"/>
          </a:p>
          <a:p>
            <a:pPr marL="0" indent="0">
              <a:spcAft>
                <a:spcPts val="400"/>
              </a:spcAft>
              <a:buNone/>
            </a:pPr>
            <a:r>
              <a:rPr lang="en-US" sz="1500" b="1" dirty="0">
                <a:solidFill>
                  <a:srgbClr val="0074B7"/>
                </a:solidFill>
              </a:rPr>
              <a:t>Debugging Strategy: Read → Predict → Run → Locate → Fix → Test</a:t>
            </a:r>
            <a:endParaRPr lang="en-US" sz="1500" dirty="0"/>
          </a:p>
        </p:txBody>
      </p:sp>
      <p:sp>
        <p:nvSpPr>
          <p:cNvPr id="5" name="Text 3"/>
          <p:cNvSpPr txBox="1"/>
          <p:nvPr/>
        </p:nvSpPr>
        <p:spPr>
          <a:xfrm>
            <a:off x="274320" y="6537960"/>
            <a:ext cx="11612880" cy="274320"/>
          </a:xfrm>
          <a:prstGeom prst="rect">
            <a:avLst/>
          </a:prstGeom>
          <a:noFill/>
          <a:ln/>
        </p:spPr>
        <p:txBody>
          <a:bodyPr wrap="square" rtlCol="0" anchor="ctr"/>
          <a:lstStyle/>
          <a:p>
            <a:pPr marL="0" indent="0" algn="r">
              <a:buNone/>
            </a:pPr>
            <a:r>
              <a:rPr lang="en-US" sz="1100" dirty="0">
                <a:solidFill>
                  <a:srgbClr val="999999"/>
                </a:solidFill>
              </a:rPr>
              <a:t>CSE 120 · Module 1</a:t>
            </a:r>
            <a:endParaRPr lang="en-US" sz="11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822960"/>
          </a:xfrm>
          <a:prstGeom prst="rect">
            <a:avLst/>
          </a:prstGeom>
          <a:solidFill>
            <a:srgbClr val="003767"/>
          </a:solidFill>
          <a:ln w="12700">
            <a:solidFill>
              <a:srgbClr val="003767"/>
            </a:solidFill>
            <a:prstDash val="solid"/>
          </a:ln>
        </p:spPr>
        <p:txBody>
          <a:bodyPr/>
          <a:lstStyle/>
          <a:p>
            <a:endParaRPr lang="en-US"/>
          </a:p>
        </p:txBody>
      </p:sp>
      <p:sp>
        <p:nvSpPr>
          <p:cNvPr id="3" name="Text 1"/>
          <p:cNvSpPr txBox="1"/>
          <p:nvPr/>
        </p:nvSpPr>
        <p:spPr>
          <a:xfrm>
            <a:off x="274320" y="73152"/>
            <a:ext cx="11612880" cy="685800"/>
          </a:xfrm>
          <a:prstGeom prst="rect">
            <a:avLst/>
          </a:prstGeom>
          <a:noFill/>
          <a:ln/>
        </p:spPr>
        <p:txBody>
          <a:bodyPr wrap="square" rtlCol="0" anchor="ctr"/>
          <a:lstStyle/>
          <a:p>
            <a:pPr marL="0" indent="0">
              <a:buNone/>
            </a:pPr>
            <a:r>
              <a:rPr lang="en-US" sz="2000" b="1" dirty="0">
                <a:solidFill>
                  <a:srgbClr val="FFFFFF"/>
                </a:solidFill>
              </a:rPr>
              <a:t>Three Types of Errors</a:t>
            </a:r>
            <a:endParaRPr lang="en-US" sz="2000" dirty="0"/>
          </a:p>
        </p:txBody>
      </p:sp>
      <p:sp>
        <p:nvSpPr>
          <p:cNvPr id="4" name="Text 2"/>
          <p:cNvSpPr txBox="1"/>
          <p:nvPr/>
        </p:nvSpPr>
        <p:spPr>
          <a:xfrm>
            <a:off x="365760" y="914400"/>
            <a:ext cx="11430000" cy="5577840"/>
          </a:xfrm>
          <a:prstGeom prst="rect">
            <a:avLst/>
          </a:prstGeom>
          <a:noFill/>
          <a:ln/>
        </p:spPr>
        <p:txBody>
          <a:bodyPr wrap="square" rtlCol="0" anchor="t"/>
          <a:lstStyle/>
          <a:p>
            <a:pPr marL="0" indent="0">
              <a:spcAft>
                <a:spcPts val="300"/>
              </a:spcAft>
              <a:buNone/>
            </a:pPr>
            <a:r>
              <a:rPr lang="en-US" sz="1600" b="1" dirty="0">
                <a:solidFill>
                  <a:srgbClr val="1A1A2E"/>
                </a:solidFill>
              </a:rPr>
              <a:t>🔴  Syntax Error</a:t>
            </a:r>
            <a:endParaRPr lang="en-US" sz="1600" dirty="0"/>
          </a:p>
          <a:p>
            <a:pPr marL="685800" lvl="1" indent="-342900">
              <a:spcAft>
                <a:spcPts val="400"/>
              </a:spcAft>
              <a:buSzPct val="100000"/>
              <a:buChar char="•"/>
            </a:pPr>
            <a:r>
              <a:rPr lang="en-US" sz="1500" dirty="0">
                <a:solidFill>
                  <a:srgbClr val="1A1A2E"/>
                </a:solidFill>
              </a:rPr>
              <a:t>Python cannot understand the code — like a grammar error in English</a:t>
            </a:r>
            <a:endParaRPr lang="en-US" sz="1600" dirty="0"/>
          </a:p>
          <a:p>
            <a:pPr marL="685800" lvl="1" indent="-342900">
              <a:spcAft>
                <a:spcPts val="1200"/>
              </a:spcAft>
              <a:buSzPct val="100000"/>
              <a:buChar char="•"/>
            </a:pPr>
            <a:r>
              <a:rPr lang="en-US" sz="1500" dirty="0">
                <a:solidFill>
                  <a:srgbClr val="1A1A2E"/>
                </a:solidFill>
              </a:rPr>
              <a:t>Examples: missing colon, missing quote, wrong indentation</a:t>
            </a:r>
            <a:endParaRPr lang="en-US" sz="1600" dirty="0"/>
          </a:p>
          <a:p>
            <a:pPr marL="0" indent="0">
              <a:spcAft>
                <a:spcPts val="300"/>
              </a:spcAft>
              <a:buNone/>
            </a:pPr>
            <a:r>
              <a:rPr lang="en-US" sz="1600" b="1" dirty="0">
                <a:solidFill>
                  <a:srgbClr val="1A1A2E"/>
                </a:solidFill>
              </a:rPr>
              <a:t>🟠  Runtime Error</a:t>
            </a:r>
            <a:endParaRPr lang="en-US" sz="1600" dirty="0"/>
          </a:p>
          <a:p>
            <a:pPr marL="685800" lvl="1" indent="-342900">
              <a:spcAft>
                <a:spcPts val="400"/>
              </a:spcAft>
              <a:buSzPct val="100000"/>
              <a:buChar char="•"/>
            </a:pPr>
            <a:r>
              <a:rPr lang="en-US" sz="1500" dirty="0">
                <a:solidFill>
                  <a:srgbClr val="1A1A2E"/>
                </a:solidFill>
              </a:rPr>
              <a:t>Code looks OK, but crashes while running</a:t>
            </a:r>
            <a:endParaRPr lang="en-US" sz="1600" dirty="0"/>
          </a:p>
          <a:p>
            <a:pPr marL="0" lvl="1" indent="0">
              <a:spcAft>
                <a:spcPts val="1200"/>
              </a:spcAft>
              <a:buNone/>
            </a:pPr>
            <a:r>
              <a:rPr lang="en-US" sz="1300" dirty="0">
                <a:solidFill>
                  <a:srgbClr val="1E2D40"/>
                </a:solidFill>
              </a:rPr>
              <a:t>int("hello") → ValueError     x / 0 → ZeroDivisionError</a:t>
            </a:r>
            <a:endParaRPr lang="en-US" sz="1600" dirty="0"/>
          </a:p>
          <a:p>
            <a:pPr marL="0" indent="0">
              <a:spcAft>
                <a:spcPts val="300"/>
              </a:spcAft>
              <a:buNone/>
            </a:pPr>
            <a:r>
              <a:rPr lang="en-US" sz="1600" b="1" dirty="0">
                <a:solidFill>
                  <a:srgbClr val="1A1A2E"/>
                </a:solidFill>
              </a:rPr>
              <a:t>🟣  Logic Error</a:t>
            </a:r>
            <a:endParaRPr lang="en-US" sz="1600" dirty="0"/>
          </a:p>
          <a:p>
            <a:pPr marL="685800" lvl="1" indent="-342900">
              <a:spcAft>
                <a:spcPts val="400"/>
              </a:spcAft>
              <a:buSzPct val="100000"/>
              <a:buChar char="•"/>
            </a:pPr>
            <a:r>
              <a:rPr lang="en-US" sz="1500" dirty="0">
                <a:solidFill>
                  <a:srgbClr val="991B1B"/>
                </a:solidFill>
              </a:rPr>
              <a:t>Runs without crashing — gives the WRONG answer. Hardest to find!</a:t>
            </a:r>
            <a:endParaRPr lang="en-US" sz="1600" dirty="0"/>
          </a:p>
          <a:p>
            <a:pPr marL="0" lvl="1" indent="0">
              <a:spcAft>
                <a:spcPts val="400"/>
              </a:spcAft>
              <a:buNone/>
            </a:pPr>
            <a:r>
              <a:rPr lang="en-US" sz="1300" dirty="0">
                <a:solidFill>
                  <a:srgbClr val="1E2D40"/>
                </a:solidFill>
              </a:rPr>
              <a:t>average = total / 2   ← should be / 3</a:t>
            </a:r>
            <a:endParaRPr lang="en-US" sz="1600" dirty="0"/>
          </a:p>
          <a:p>
            <a:pPr marL="685800" lvl="1" indent="-342900">
              <a:spcAft>
                <a:spcPts val="400"/>
              </a:spcAft>
              <a:buSzPct val="100000"/>
              <a:buChar char="•"/>
            </a:pPr>
            <a:r>
              <a:rPr lang="en-US" sz="1500" dirty="0">
                <a:solidFill>
                  <a:srgbClr val="1A1A2E"/>
                </a:solidFill>
              </a:rPr>
              <a:t>Python can't catch this — only YOU can. No error message.</a:t>
            </a:r>
            <a:endParaRPr lang="en-US" sz="1600" dirty="0"/>
          </a:p>
        </p:txBody>
      </p:sp>
      <p:sp>
        <p:nvSpPr>
          <p:cNvPr id="5" name="Text 3"/>
          <p:cNvSpPr txBox="1"/>
          <p:nvPr/>
        </p:nvSpPr>
        <p:spPr>
          <a:xfrm>
            <a:off x="274320" y="6537960"/>
            <a:ext cx="11612880" cy="274320"/>
          </a:xfrm>
          <a:prstGeom prst="rect">
            <a:avLst/>
          </a:prstGeom>
          <a:noFill/>
          <a:ln/>
        </p:spPr>
        <p:txBody>
          <a:bodyPr wrap="square" rtlCol="0" anchor="ctr"/>
          <a:lstStyle/>
          <a:p>
            <a:pPr marL="0" indent="0" algn="r">
              <a:buNone/>
            </a:pPr>
            <a:r>
              <a:rPr lang="en-US" sz="1100" dirty="0">
                <a:solidFill>
                  <a:srgbClr val="999999"/>
                </a:solidFill>
              </a:rPr>
              <a:t>CSE 120 · Module 1</a:t>
            </a:r>
            <a:endParaRPr lang="en-US" sz="11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5F5"/>
        </a:solidFill>
        <a:effectLst/>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991B1B"/>
          </a:solidFill>
          <a:ln w="12700">
            <a:solidFill>
              <a:srgbClr val="991B1B"/>
            </a:solidFill>
            <a:prstDash val="solid"/>
          </a:ln>
        </p:spPr>
        <p:txBody>
          <a:bodyPr/>
          <a:lstStyle/>
          <a:p>
            <a:endParaRPr lang="en-US"/>
          </a:p>
        </p:txBody>
      </p:sp>
      <p:sp>
        <p:nvSpPr>
          <p:cNvPr id="3" name="Text 1"/>
          <p:cNvSpPr txBox="1"/>
          <p:nvPr/>
        </p:nvSpPr>
        <p:spPr>
          <a:xfrm>
            <a:off x="274320" y="91440"/>
            <a:ext cx="11612880" cy="777240"/>
          </a:xfrm>
          <a:prstGeom prst="rect">
            <a:avLst/>
          </a:prstGeom>
          <a:noFill/>
          <a:ln/>
        </p:spPr>
        <p:txBody>
          <a:bodyPr wrap="square" rtlCol="0" anchor="ctr"/>
          <a:lstStyle/>
          <a:p>
            <a:pPr marL="0" indent="0">
              <a:buNone/>
            </a:pPr>
            <a:r>
              <a:rPr lang="en-US" sz="2200" b="1" dirty="0">
                <a:solidFill>
                  <a:srgbClr val="FFFFFF"/>
                </a:solidFill>
              </a:rPr>
              <a:t>🐛  Debugging Lab — Find and Fix Bug #1</a:t>
            </a:r>
            <a:endParaRPr lang="en-US" sz="2200" dirty="0"/>
          </a:p>
        </p:txBody>
      </p:sp>
      <p:sp>
        <p:nvSpPr>
          <p:cNvPr id="4" name="Text 2"/>
          <p:cNvSpPr txBox="1"/>
          <p:nvPr/>
        </p:nvSpPr>
        <p:spPr>
          <a:xfrm>
            <a:off x="457200" y="1097280"/>
            <a:ext cx="11247120" cy="5394960"/>
          </a:xfrm>
          <a:prstGeom prst="rect">
            <a:avLst/>
          </a:prstGeom>
          <a:noFill/>
          <a:ln/>
        </p:spPr>
        <p:txBody>
          <a:bodyPr wrap="square" rtlCol="0" anchor="t"/>
          <a:lstStyle/>
          <a:p>
            <a:pPr marL="0" indent="0">
              <a:spcAft>
                <a:spcPts val="1600"/>
              </a:spcAft>
              <a:buNone/>
            </a:pPr>
            <a:r>
              <a:rPr lang="en-US" sz="1500" dirty="0">
                <a:solidFill>
                  <a:srgbClr val="1A1A2E"/>
                </a:solidFill>
              </a:rPr>
              <a:t>What type of error is this? What is wrong? How do you fix it?</a:t>
            </a:r>
            <a:endParaRPr lang="en-US" sz="1500" dirty="0"/>
          </a:p>
          <a:p>
            <a:pPr marL="0" indent="0">
              <a:spcAft>
                <a:spcPts val="1200"/>
              </a:spcAft>
              <a:buNone/>
            </a:pPr>
            <a:r>
              <a:rPr lang="en-US" sz="2200" b="1" dirty="0">
                <a:solidFill>
                  <a:srgbClr val="1E2D40"/>
                </a:solidFill>
                <a:latin typeface="Courier New" pitchFamily="34" charset="0"/>
                <a:ea typeface="Courier New" pitchFamily="34" charset="-122"/>
                <a:cs typeface="Courier New" pitchFamily="34" charset="-120"/>
              </a:rPr>
              <a:t>print(Hello, world!)</a:t>
            </a:r>
            <a:endParaRPr lang="en-US" sz="1500" dirty="0"/>
          </a:p>
          <a:p>
            <a:pPr marL="0" indent="0">
              <a:spcAft>
                <a:spcPts val="500"/>
              </a:spcAft>
              <a:buNone/>
            </a:pPr>
            <a:r>
              <a:rPr lang="en-US" sz="1500" dirty="0">
                <a:solidFill>
                  <a:srgbClr val="666666"/>
                </a:solidFill>
              </a:rPr>
              <a:t>Type your answer before looking at the next slide.</a:t>
            </a:r>
            <a:endParaRPr lang="en-US" sz="1500" dirty="0"/>
          </a:p>
        </p:txBody>
      </p:sp>
      <p:sp>
        <p:nvSpPr>
          <p:cNvPr id="5" name="Text 3"/>
          <p:cNvSpPr txBox="1"/>
          <p:nvPr/>
        </p:nvSpPr>
        <p:spPr>
          <a:xfrm>
            <a:off x="274320" y="6537960"/>
            <a:ext cx="11612880" cy="274320"/>
          </a:xfrm>
          <a:prstGeom prst="rect">
            <a:avLst/>
          </a:prstGeom>
          <a:noFill/>
          <a:ln/>
        </p:spPr>
        <p:txBody>
          <a:bodyPr wrap="square" rtlCol="0" anchor="ctr"/>
          <a:lstStyle/>
          <a:p>
            <a:pPr marL="0" indent="0" algn="r">
              <a:buNone/>
            </a:pPr>
            <a:r>
              <a:rPr lang="en-US" sz="1100" dirty="0">
                <a:solidFill>
                  <a:srgbClr val="888888"/>
                </a:solidFill>
              </a:rPr>
              <a:t>CSE 120 · Module 1  ·  Try it first — answer on next slide</a:t>
            </a:r>
            <a:endParaRPr lang="en-US" sz="11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0FFF4"/>
        </a:solidFill>
        <a:effectLst/>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2D6A4F"/>
          </a:solidFill>
          <a:ln w="12700">
            <a:solidFill>
              <a:srgbClr val="2D6A4F"/>
            </a:solidFill>
            <a:prstDash val="solid"/>
          </a:ln>
        </p:spPr>
        <p:txBody>
          <a:bodyPr/>
          <a:lstStyle/>
          <a:p>
            <a:endParaRPr lang="en-US"/>
          </a:p>
        </p:txBody>
      </p:sp>
      <p:sp>
        <p:nvSpPr>
          <p:cNvPr id="3" name="Text 1"/>
          <p:cNvSpPr txBox="1"/>
          <p:nvPr/>
        </p:nvSpPr>
        <p:spPr>
          <a:xfrm>
            <a:off x="274320" y="91440"/>
            <a:ext cx="11612880" cy="777240"/>
          </a:xfrm>
          <a:prstGeom prst="rect">
            <a:avLst/>
          </a:prstGeom>
          <a:noFill/>
          <a:ln/>
        </p:spPr>
        <p:txBody>
          <a:bodyPr wrap="square" rtlCol="0" anchor="ctr"/>
          <a:lstStyle/>
          <a:p>
            <a:pPr marL="0" indent="0">
              <a:buNone/>
            </a:pPr>
            <a:r>
              <a:rPr lang="en-US" sz="2200" b="1" dirty="0">
                <a:solidFill>
                  <a:srgbClr val="FFFFFF"/>
                </a:solidFill>
              </a:rPr>
              <a:t>✅  Answer — Bug #1 — Missing Quotes</a:t>
            </a:r>
            <a:endParaRPr lang="en-US" sz="2200" dirty="0"/>
          </a:p>
        </p:txBody>
      </p:sp>
      <p:sp>
        <p:nvSpPr>
          <p:cNvPr id="4" name="Text 2"/>
          <p:cNvSpPr txBox="1"/>
          <p:nvPr/>
        </p:nvSpPr>
        <p:spPr>
          <a:xfrm>
            <a:off x="457200" y="1097280"/>
            <a:ext cx="11247120" cy="5394960"/>
          </a:xfrm>
          <a:prstGeom prst="rect">
            <a:avLst/>
          </a:prstGeom>
          <a:noFill/>
          <a:ln/>
        </p:spPr>
        <p:txBody>
          <a:bodyPr wrap="square" rtlCol="0" anchor="t"/>
          <a:lstStyle/>
          <a:p>
            <a:pPr marL="0" indent="0">
              <a:spcAft>
                <a:spcPts val="1600"/>
              </a:spcAft>
              <a:buNone/>
            </a:pPr>
            <a:r>
              <a:rPr lang="en-US" sz="2000" b="1" dirty="0">
                <a:solidFill>
                  <a:srgbClr val="1E2D40"/>
                </a:solidFill>
                <a:latin typeface="Courier New" pitchFamily="34" charset="0"/>
                <a:ea typeface="Courier New" pitchFamily="34" charset="-122"/>
                <a:cs typeface="Courier New" pitchFamily="34" charset="-120"/>
              </a:rPr>
              <a:t>print("Hello, world!")</a:t>
            </a:r>
            <a:endParaRPr lang="en-US" sz="2000" dirty="0"/>
          </a:p>
          <a:p>
            <a:pPr marL="342900" indent="-342900">
              <a:spcAft>
                <a:spcPts val="600"/>
              </a:spcAft>
              <a:buSzPct val="100000"/>
              <a:buChar char="•"/>
            </a:pPr>
            <a:r>
              <a:rPr lang="en-US" sz="1400" b="1" dirty="0">
                <a:solidFill>
                  <a:srgbClr val="1A1A2E"/>
                </a:solidFill>
              </a:rPr>
              <a:t>Error Type: Syntax Error</a:t>
            </a:r>
            <a:endParaRPr lang="en-US" sz="2000" dirty="0"/>
          </a:p>
          <a:p>
            <a:pPr marL="342900" indent="-342900">
              <a:spcAft>
                <a:spcPts val="600"/>
              </a:spcAft>
              <a:buSzPct val="100000"/>
              <a:buChar char="•"/>
            </a:pPr>
            <a:r>
              <a:rPr lang="en-US" sz="1400" dirty="0">
                <a:solidFill>
                  <a:srgbClr val="1A1A2E"/>
                </a:solidFill>
              </a:rPr>
              <a:t>Problem: Hello, world! is missing quotation marks</a:t>
            </a:r>
            <a:endParaRPr lang="en-US" sz="2000" dirty="0"/>
          </a:p>
          <a:p>
            <a:pPr marL="342900" indent="-342900">
              <a:spcAft>
                <a:spcPts val="600"/>
              </a:spcAft>
              <a:buSzPct val="100000"/>
              <a:buChar char="•"/>
            </a:pPr>
            <a:r>
              <a:rPr lang="en-US" sz="1400" dirty="0">
                <a:solidFill>
                  <a:srgbClr val="1A1A2E"/>
                </a:solidFill>
              </a:rPr>
              <a:t>Without quotes, Python thinks Hello and world! are variable names</a:t>
            </a:r>
            <a:endParaRPr lang="en-US" sz="2000" dirty="0"/>
          </a:p>
          <a:p>
            <a:pPr marL="342900" indent="-342900">
              <a:spcAft>
                <a:spcPts val="500"/>
              </a:spcAft>
              <a:buSzPct val="100000"/>
              <a:buChar char="•"/>
            </a:pPr>
            <a:r>
              <a:rPr lang="en-US" sz="1400" dirty="0">
                <a:solidFill>
                  <a:srgbClr val="1A1A2E"/>
                </a:solidFill>
              </a:rPr>
              <a:t>Fix: wrap the text in quotation marks</a:t>
            </a:r>
            <a:endParaRPr lang="en-US" sz="2000" dirty="0"/>
          </a:p>
        </p:txBody>
      </p:sp>
      <p:sp>
        <p:nvSpPr>
          <p:cNvPr id="5" name="Text 3"/>
          <p:cNvSpPr txBox="1"/>
          <p:nvPr/>
        </p:nvSpPr>
        <p:spPr>
          <a:xfrm>
            <a:off x="274320" y="6537960"/>
            <a:ext cx="11612880" cy="274320"/>
          </a:xfrm>
          <a:prstGeom prst="rect">
            <a:avLst/>
          </a:prstGeom>
          <a:noFill/>
          <a:ln/>
        </p:spPr>
        <p:txBody>
          <a:bodyPr wrap="square" rtlCol="0" anchor="ctr"/>
          <a:lstStyle/>
          <a:p>
            <a:pPr marL="0" indent="0" algn="r">
              <a:buNone/>
            </a:pPr>
            <a:r>
              <a:rPr lang="en-US" sz="1100" dirty="0">
                <a:solidFill>
                  <a:srgbClr val="888888"/>
                </a:solidFill>
              </a:rPr>
              <a:t>CSE 120 · Module 1</a:t>
            </a:r>
            <a:endParaRPr lang="en-US" sz="11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5F5"/>
        </a:solidFill>
        <a:effectLst/>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991B1B"/>
          </a:solidFill>
          <a:ln w="12700">
            <a:solidFill>
              <a:srgbClr val="991B1B"/>
            </a:solidFill>
            <a:prstDash val="solid"/>
          </a:ln>
        </p:spPr>
        <p:txBody>
          <a:bodyPr/>
          <a:lstStyle/>
          <a:p>
            <a:endParaRPr lang="en-US"/>
          </a:p>
        </p:txBody>
      </p:sp>
      <p:sp>
        <p:nvSpPr>
          <p:cNvPr id="3" name="Text 1"/>
          <p:cNvSpPr txBox="1"/>
          <p:nvPr/>
        </p:nvSpPr>
        <p:spPr>
          <a:xfrm>
            <a:off x="274320" y="91440"/>
            <a:ext cx="11612880" cy="777240"/>
          </a:xfrm>
          <a:prstGeom prst="rect">
            <a:avLst/>
          </a:prstGeom>
          <a:noFill/>
          <a:ln/>
        </p:spPr>
        <p:txBody>
          <a:bodyPr wrap="square" rtlCol="0" anchor="ctr"/>
          <a:lstStyle/>
          <a:p>
            <a:pPr marL="0" indent="0">
              <a:buNone/>
            </a:pPr>
            <a:r>
              <a:rPr lang="en-US" sz="2200" b="1" dirty="0">
                <a:solidFill>
                  <a:srgbClr val="FFFFFF"/>
                </a:solidFill>
              </a:rPr>
              <a:t>🐛  Debugging Lab — Bug #2 &amp; #3</a:t>
            </a:r>
            <a:endParaRPr lang="en-US" sz="2200" dirty="0"/>
          </a:p>
        </p:txBody>
      </p:sp>
      <p:sp>
        <p:nvSpPr>
          <p:cNvPr id="4" name="Text 2"/>
          <p:cNvSpPr txBox="1"/>
          <p:nvPr/>
        </p:nvSpPr>
        <p:spPr>
          <a:xfrm>
            <a:off x="457200" y="1097280"/>
            <a:ext cx="11247120" cy="5394960"/>
          </a:xfrm>
          <a:prstGeom prst="rect">
            <a:avLst/>
          </a:prstGeom>
          <a:noFill/>
          <a:ln/>
        </p:spPr>
        <p:txBody>
          <a:bodyPr wrap="square" rtlCol="0" anchor="t"/>
          <a:lstStyle/>
          <a:p>
            <a:pPr marL="0" indent="0">
              <a:spcAft>
                <a:spcPts val="600"/>
              </a:spcAft>
              <a:buNone/>
            </a:pPr>
            <a:r>
              <a:rPr lang="en-US" sz="1500" b="1" dirty="0">
                <a:solidFill>
                  <a:srgbClr val="1A1A2E"/>
                </a:solidFill>
              </a:rPr>
              <a:t>Bug #2: Wrong indentation — what type of error? How to fix?</a:t>
            </a:r>
            <a:endParaRPr lang="en-US" sz="1500" dirty="0"/>
          </a:p>
          <a:p>
            <a:pPr marL="0" indent="0">
              <a:spcAft>
                <a:spcPts val="300"/>
              </a:spcAft>
              <a:buNone/>
            </a:pPr>
            <a:r>
              <a:rPr lang="en-US" sz="1500" dirty="0">
                <a:solidFill>
                  <a:srgbClr val="1E2D40"/>
                </a:solidFill>
                <a:latin typeface="Courier New" pitchFamily="34" charset="0"/>
                <a:ea typeface="Courier New" pitchFamily="34" charset="-122"/>
                <a:cs typeface="Courier New" pitchFamily="34" charset="-120"/>
              </a:rPr>
              <a:t>for i in range(3):</a:t>
            </a:r>
            <a:endParaRPr lang="en-US" sz="1500" dirty="0"/>
          </a:p>
          <a:p>
            <a:pPr marL="0" indent="0">
              <a:spcAft>
                <a:spcPts val="1600"/>
              </a:spcAft>
              <a:buNone/>
            </a:pPr>
            <a:r>
              <a:rPr lang="en-US" sz="1500" dirty="0">
                <a:solidFill>
                  <a:srgbClr val="1E2D40"/>
                </a:solidFill>
                <a:latin typeface="Courier New" pitchFamily="34" charset="0"/>
                <a:ea typeface="Courier New" pitchFamily="34" charset="-122"/>
                <a:cs typeface="Courier New" pitchFamily="34" charset="-120"/>
              </a:rPr>
              <a:t>print(i)    ← not indented</a:t>
            </a:r>
            <a:endParaRPr lang="en-US" sz="1500" dirty="0"/>
          </a:p>
          <a:p>
            <a:pPr marL="0" indent="0">
              <a:spcAft>
                <a:spcPts val="600"/>
              </a:spcAft>
              <a:buNone/>
            </a:pPr>
            <a:r>
              <a:rPr lang="en-US" sz="1500" b="1" dirty="0">
                <a:solidFill>
                  <a:srgbClr val="1A1A2E"/>
                </a:solidFill>
              </a:rPr>
              <a:t>Bug #3: Using = instead of == — what happens?</a:t>
            </a:r>
            <a:endParaRPr lang="en-US" sz="1500" dirty="0"/>
          </a:p>
          <a:p>
            <a:pPr marL="0" indent="0">
              <a:spcAft>
                <a:spcPts val="300"/>
              </a:spcAft>
              <a:buNone/>
            </a:pPr>
            <a:r>
              <a:rPr lang="en-US" sz="1500" dirty="0">
                <a:solidFill>
                  <a:srgbClr val="1E2D40"/>
                </a:solidFill>
                <a:latin typeface="Courier New" pitchFamily="34" charset="0"/>
                <a:ea typeface="Courier New" pitchFamily="34" charset="-122"/>
                <a:cs typeface="Courier New" pitchFamily="34" charset="-120"/>
              </a:rPr>
              <a:t>status = "on"</a:t>
            </a:r>
            <a:endParaRPr lang="en-US" sz="1500" dirty="0"/>
          </a:p>
          <a:p>
            <a:pPr marL="0" indent="0">
              <a:spcAft>
                <a:spcPts val="300"/>
              </a:spcAft>
              <a:buNone/>
            </a:pPr>
            <a:r>
              <a:rPr lang="en-US" sz="1500" dirty="0">
                <a:solidFill>
                  <a:srgbClr val="1E2D40"/>
                </a:solidFill>
                <a:latin typeface="Courier New" pitchFamily="34" charset="0"/>
                <a:ea typeface="Courier New" pitchFamily="34" charset="-122"/>
                <a:cs typeface="Courier New" pitchFamily="34" charset="-120"/>
              </a:rPr>
              <a:t>if status = "on":</a:t>
            </a:r>
            <a:endParaRPr lang="en-US" sz="1500" dirty="0"/>
          </a:p>
          <a:p>
            <a:pPr marL="0" indent="0">
              <a:spcAft>
                <a:spcPts val="500"/>
              </a:spcAft>
              <a:buNone/>
            </a:pPr>
            <a:r>
              <a:rPr lang="en-US" sz="1500" dirty="0">
                <a:solidFill>
                  <a:srgbClr val="1E2D40"/>
                </a:solidFill>
                <a:latin typeface="Courier New" pitchFamily="34" charset="0"/>
                <a:ea typeface="Courier New" pitchFamily="34" charset="-122"/>
                <a:cs typeface="Courier New" pitchFamily="34" charset="-120"/>
              </a:rPr>
              <a:t>    print("LED is on")</a:t>
            </a:r>
            <a:endParaRPr lang="en-US" sz="1500" dirty="0"/>
          </a:p>
        </p:txBody>
      </p:sp>
      <p:sp>
        <p:nvSpPr>
          <p:cNvPr id="5" name="Text 3"/>
          <p:cNvSpPr txBox="1"/>
          <p:nvPr/>
        </p:nvSpPr>
        <p:spPr>
          <a:xfrm>
            <a:off x="274320" y="6537960"/>
            <a:ext cx="11612880" cy="274320"/>
          </a:xfrm>
          <a:prstGeom prst="rect">
            <a:avLst/>
          </a:prstGeom>
          <a:noFill/>
          <a:ln/>
        </p:spPr>
        <p:txBody>
          <a:bodyPr wrap="square" rtlCol="0" anchor="ctr"/>
          <a:lstStyle/>
          <a:p>
            <a:pPr marL="0" indent="0" algn="r">
              <a:buNone/>
            </a:pPr>
            <a:r>
              <a:rPr lang="en-US" sz="1100" dirty="0">
                <a:solidFill>
                  <a:srgbClr val="888888"/>
                </a:solidFill>
              </a:rPr>
              <a:t>CSE 120 · Module 1  ·  Try it first — answer on next slide</a:t>
            </a:r>
            <a:endParaRPr lang="en-US" sz="11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0FFF4"/>
        </a:solidFill>
        <a:effectLst/>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2D6A4F"/>
          </a:solidFill>
          <a:ln w="12700">
            <a:solidFill>
              <a:srgbClr val="2D6A4F"/>
            </a:solidFill>
            <a:prstDash val="solid"/>
          </a:ln>
        </p:spPr>
        <p:txBody>
          <a:bodyPr/>
          <a:lstStyle/>
          <a:p>
            <a:endParaRPr lang="en-US"/>
          </a:p>
        </p:txBody>
      </p:sp>
      <p:sp>
        <p:nvSpPr>
          <p:cNvPr id="3" name="Text 1"/>
          <p:cNvSpPr txBox="1"/>
          <p:nvPr/>
        </p:nvSpPr>
        <p:spPr>
          <a:xfrm>
            <a:off x="274320" y="91440"/>
            <a:ext cx="11612880" cy="777240"/>
          </a:xfrm>
          <a:prstGeom prst="rect">
            <a:avLst/>
          </a:prstGeom>
          <a:noFill/>
          <a:ln/>
        </p:spPr>
        <p:txBody>
          <a:bodyPr wrap="square" rtlCol="0" anchor="ctr"/>
          <a:lstStyle/>
          <a:p>
            <a:pPr marL="0" indent="0">
              <a:buNone/>
            </a:pPr>
            <a:r>
              <a:rPr lang="en-US" sz="2200" b="1" dirty="0">
                <a:solidFill>
                  <a:srgbClr val="FFFFFF"/>
                </a:solidFill>
              </a:rPr>
              <a:t>✅  Answer — Bug #2 &amp; #3 Answers</a:t>
            </a:r>
            <a:endParaRPr lang="en-US" sz="2200" dirty="0"/>
          </a:p>
        </p:txBody>
      </p:sp>
      <p:sp>
        <p:nvSpPr>
          <p:cNvPr id="4" name="Text 2"/>
          <p:cNvSpPr txBox="1"/>
          <p:nvPr/>
        </p:nvSpPr>
        <p:spPr>
          <a:xfrm>
            <a:off x="457200" y="1097280"/>
            <a:ext cx="11247120" cy="5394960"/>
          </a:xfrm>
          <a:prstGeom prst="rect">
            <a:avLst/>
          </a:prstGeom>
          <a:noFill/>
          <a:ln/>
        </p:spPr>
        <p:txBody>
          <a:bodyPr wrap="square" rtlCol="0" anchor="t"/>
          <a:lstStyle/>
          <a:p>
            <a:pPr marL="0" indent="0">
              <a:spcAft>
                <a:spcPts val="400"/>
              </a:spcAft>
              <a:buNone/>
            </a:pPr>
            <a:r>
              <a:rPr lang="en-US" sz="1400" dirty="0">
                <a:solidFill>
                  <a:srgbClr val="666666"/>
                </a:solidFill>
                <a:latin typeface="Courier New" pitchFamily="34" charset="0"/>
                <a:ea typeface="Courier New" pitchFamily="34" charset="-122"/>
                <a:cs typeface="Courier New" pitchFamily="34" charset="-120"/>
              </a:rPr>
              <a:t># Bug 2 Fixed:</a:t>
            </a:r>
            <a:endParaRPr lang="en-US" sz="1400" dirty="0"/>
          </a:p>
          <a:p>
            <a:pPr marL="0" indent="0">
              <a:spcAft>
                <a:spcPts val="300"/>
              </a:spcAft>
              <a:buNone/>
            </a:pPr>
            <a:r>
              <a:rPr lang="en-US" sz="1400" dirty="0">
                <a:solidFill>
                  <a:srgbClr val="1E2D40"/>
                </a:solidFill>
                <a:latin typeface="Courier New" pitchFamily="34" charset="0"/>
                <a:ea typeface="Courier New" pitchFamily="34" charset="-122"/>
                <a:cs typeface="Courier New" pitchFamily="34" charset="-120"/>
              </a:rPr>
              <a:t>for i in range(3):</a:t>
            </a:r>
            <a:endParaRPr lang="en-US" sz="1400" dirty="0"/>
          </a:p>
          <a:p>
            <a:pPr marL="0" indent="0">
              <a:spcAft>
                <a:spcPts val="1200"/>
              </a:spcAft>
              <a:buNone/>
            </a:pPr>
            <a:r>
              <a:rPr lang="en-US" sz="1400" dirty="0">
                <a:solidFill>
                  <a:srgbClr val="1E2D40"/>
                </a:solidFill>
                <a:latin typeface="Courier New" pitchFamily="34" charset="0"/>
                <a:ea typeface="Courier New" pitchFamily="34" charset="-122"/>
                <a:cs typeface="Courier New" pitchFamily="34" charset="-120"/>
              </a:rPr>
              <a:t>    print(i)    # ← 4-space indent</a:t>
            </a:r>
            <a:endParaRPr lang="en-US" sz="1400" dirty="0"/>
          </a:p>
          <a:p>
            <a:pPr marL="0" indent="0">
              <a:spcAft>
                <a:spcPts val="400"/>
              </a:spcAft>
              <a:buNone/>
            </a:pPr>
            <a:r>
              <a:rPr lang="en-US" sz="1400" dirty="0">
                <a:solidFill>
                  <a:srgbClr val="666666"/>
                </a:solidFill>
                <a:latin typeface="Courier New" pitchFamily="34" charset="0"/>
                <a:ea typeface="Courier New" pitchFamily="34" charset="-122"/>
                <a:cs typeface="Courier New" pitchFamily="34" charset="-120"/>
              </a:rPr>
              <a:t># Bug 3 Fixed:</a:t>
            </a:r>
            <a:endParaRPr lang="en-US" sz="1400" dirty="0"/>
          </a:p>
          <a:p>
            <a:pPr marL="0" indent="0">
              <a:spcAft>
                <a:spcPts val="300"/>
              </a:spcAft>
              <a:buNone/>
            </a:pPr>
            <a:r>
              <a:rPr lang="en-US" sz="1400" dirty="0">
                <a:solidFill>
                  <a:srgbClr val="1E2D40"/>
                </a:solidFill>
                <a:latin typeface="Courier New" pitchFamily="34" charset="0"/>
                <a:ea typeface="Courier New" pitchFamily="34" charset="-122"/>
                <a:cs typeface="Courier New" pitchFamily="34" charset="-120"/>
              </a:rPr>
              <a:t>status = "on"</a:t>
            </a:r>
            <a:endParaRPr lang="en-US" sz="1400" dirty="0"/>
          </a:p>
          <a:p>
            <a:pPr marL="0" indent="0">
              <a:spcAft>
                <a:spcPts val="300"/>
              </a:spcAft>
              <a:buNone/>
            </a:pPr>
            <a:r>
              <a:rPr lang="en-US" sz="1400" dirty="0">
                <a:solidFill>
                  <a:srgbClr val="1E2D40"/>
                </a:solidFill>
                <a:latin typeface="Courier New" pitchFamily="34" charset="0"/>
                <a:ea typeface="Courier New" pitchFamily="34" charset="-122"/>
                <a:cs typeface="Courier New" pitchFamily="34" charset="-120"/>
              </a:rPr>
              <a:t>if status == "on":    # ← == not =</a:t>
            </a:r>
            <a:endParaRPr lang="en-US" sz="1400" dirty="0"/>
          </a:p>
          <a:p>
            <a:pPr marL="0" indent="0">
              <a:spcAft>
                <a:spcPts val="1600"/>
              </a:spcAft>
              <a:buNone/>
            </a:pPr>
            <a:r>
              <a:rPr lang="en-US" sz="1400" dirty="0">
                <a:solidFill>
                  <a:srgbClr val="1E2D40"/>
                </a:solidFill>
                <a:latin typeface="Courier New" pitchFamily="34" charset="0"/>
                <a:ea typeface="Courier New" pitchFamily="34" charset="-122"/>
                <a:cs typeface="Courier New" pitchFamily="34" charset="-120"/>
              </a:rPr>
              <a:t>    print("LED is on")</a:t>
            </a:r>
            <a:endParaRPr lang="en-US" sz="1400" dirty="0"/>
          </a:p>
          <a:p>
            <a:pPr marL="342900" indent="-342900">
              <a:spcAft>
                <a:spcPts val="500"/>
              </a:spcAft>
              <a:buSzPct val="100000"/>
              <a:buChar char="•"/>
            </a:pPr>
            <a:r>
              <a:rPr lang="en-US" sz="1400" dirty="0">
                <a:solidFill>
                  <a:srgbClr val="1A1A2E"/>
                </a:solidFill>
              </a:rPr>
              <a:t>Bug 2: IndentationError — print must be indented inside the loop</a:t>
            </a:r>
            <a:endParaRPr lang="en-US" sz="1400" dirty="0"/>
          </a:p>
          <a:p>
            <a:pPr marL="342900" indent="-342900">
              <a:spcAft>
                <a:spcPts val="500"/>
              </a:spcAft>
              <a:buSzPct val="100000"/>
              <a:buChar char="•"/>
            </a:pPr>
            <a:r>
              <a:rPr lang="en-US" sz="1400" dirty="0">
                <a:solidFill>
                  <a:srgbClr val="1A1A2E"/>
                </a:solidFill>
              </a:rPr>
              <a:t>Bug 3: = is assignment, == is comparison — conditions always need ==</a:t>
            </a:r>
            <a:endParaRPr lang="en-US" sz="1400" dirty="0"/>
          </a:p>
        </p:txBody>
      </p:sp>
      <p:sp>
        <p:nvSpPr>
          <p:cNvPr id="5" name="Text 3"/>
          <p:cNvSpPr txBox="1"/>
          <p:nvPr/>
        </p:nvSpPr>
        <p:spPr>
          <a:xfrm>
            <a:off x="274320" y="6537960"/>
            <a:ext cx="11612880" cy="274320"/>
          </a:xfrm>
          <a:prstGeom prst="rect">
            <a:avLst/>
          </a:prstGeom>
          <a:noFill/>
          <a:ln/>
        </p:spPr>
        <p:txBody>
          <a:bodyPr wrap="square" rtlCol="0" anchor="ctr"/>
          <a:lstStyle/>
          <a:p>
            <a:pPr marL="0" indent="0" algn="r">
              <a:buNone/>
            </a:pPr>
            <a:r>
              <a:rPr lang="en-US" sz="1100" dirty="0">
                <a:solidFill>
                  <a:srgbClr val="888888"/>
                </a:solidFill>
              </a:rPr>
              <a:t>CSE 120 · Module 1</a:t>
            </a:r>
            <a:endParaRPr lang="en-US" sz="11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5F5"/>
        </a:solidFill>
        <a:effectLst/>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991B1B"/>
          </a:solidFill>
          <a:ln w="12700">
            <a:solidFill>
              <a:srgbClr val="991B1B"/>
            </a:solidFill>
            <a:prstDash val="solid"/>
          </a:ln>
        </p:spPr>
        <p:txBody>
          <a:bodyPr/>
          <a:lstStyle/>
          <a:p>
            <a:endParaRPr lang="en-US"/>
          </a:p>
        </p:txBody>
      </p:sp>
      <p:sp>
        <p:nvSpPr>
          <p:cNvPr id="3" name="Text 1"/>
          <p:cNvSpPr txBox="1"/>
          <p:nvPr/>
        </p:nvSpPr>
        <p:spPr>
          <a:xfrm>
            <a:off x="274320" y="91440"/>
            <a:ext cx="11612880" cy="777240"/>
          </a:xfrm>
          <a:prstGeom prst="rect">
            <a:avLst/>
          </a:prstGeom>
          <a:noFill/>
          <a:ln/>
        </p:spPr>
        <p:txBody>
          <a:bodyPr wrap="square" rtlCol="0" anchor="ctr"/>
          <a:lstStyle/>
          <a:p>
            <a:pPr marL="0" indent="0">
              <a:buNone/>
            </a:pPr>
            <a:r>
              <a:rPr lang="en-US" sz="2200" b="1" dirty="0">
                <a:solidFill>
                  <a:srgbClr val="FFFFFF"/>
                </a:solidFill>
              </a:rPr>
              <a:t>🐛  Debugging Lab — Bug #4: Input Type</a:t>
            </a:r>
            <a:endParaRPr lang="en-US" sz="2200" dirty="0"/>
          </a:p>
        </p:txBody>
      </p:sp>
      <p:sp>
        <p:nvSpPr>
          <p:cNvPr id="4" name="Text 2"/>
          <p:cNvSpPr txBox="1"/>
          <p:nvPr/>
        </p:nvSpPr>
        <p:spPr>
          <a:xfrm>
            <a:off x="457200" y="1097280"/>
            <a:ext cx="11247120" cy="5394960"/>
          </a:xfrm>
          <a:prstGeom prst="rect">
            <a:avLst/>
          </a:prstGeom>
          <a:noFill/>
          <a:ln/>
        </p:spPr>
        <p:txBody>
          <a:bodyPr wrap="square" rtlCol="0" anchor="t"/>
          <a:lstStyle/>
          <a:p>
            <a:pPr marL="0" indent="0">
              <a:spcAft>
                <a:spcPts val="1600"/>
              </a:spcAft>
              <a:buNone/>
            </a:pPr>
            <a:r>
              <a:rPr lang="en-US" sz="1500" dirty="0">
                <a:solidFill>
                  <a:srgbClr val="1A1A2E"/>
                </a:solidFill>
              </a:rPr>
              <a:t>The user enters 3.3 for voltage. What will Python actually print? Why is this wrong?</a:t>
            </a:r>
            <a:endParaRPr lang="en-US" sz="1500" dirty="0"/>
          </a:p>
          <a:p>
            <a:pPr marL="0" indent="0">
              <a:spcAft>
                <a:spcPts val="500"/>
              </a:spcAft>
              <a:buNone/>
            </a:pPr>
            <a:r>
              <a:rPr lang="en-US" sz="1700" dirty="0">
                <a:solidFill>
                  <a:srgbClr val="1E2D40"/>
                </a:solidFill>
                <a:latin typeface="Courier New" pitchFamily="34" charset="0"/>
                <a:ea typeface="Courier New" pitchFamily="34" charset="-122"/>
                <a:cs typeface="Courier New" pitchFamily="34" charset="-120"/>
              </a:rPr>
              <a:t>voltage = input("Enter voltage: ")</a:t>
            </a:r>
            <a:endParaRPr lang="en-US" sz="1500" dirty="0"/>
          </a:p>
          <a:p>
            <a:pPr marL="0" indent="0">
              <a:spcAft>
                <a:spcPts val="500"/>
              </a:spcAft>
              <a:buNone/>
            </a:pPr>
            <a:r>
              <a:rPr lang="en-US" sz="1700" dirty="0">
                <a:solidFill>
                  <a:srgbClr val="1E2D40"/>
                </a:solidFill>
                <a:latin typeface="Courier New" pitchFamily="34" charset="0"/>
                <a:ea typeface="Courier New" pitchFamily="34" charset="-122"/>
                <a:cs typeface="Courier New" pitchFamily="34" charset="-120"/>
              </a:rPr>
              <a:t>double  = voltage * 2</a:t>
            </a:r>
            <a:endParaRPr lang="en-US" sz="1500" dirty="0"/>
          </a:p>
          <a:p>
            <a:pPr marL="0" indent="0">
              <a:spcAft>
                <a:spcPts val="500"/>
              </a:spcAft>
              <a:buNone/>
            </a:pPr>
            <a:r>
              <a:rPr lang="en-US" sz="1700" dirty="0">
                <a:solidFill>
                  <a:srgbClr val="1E2D40"/>
                </a:solidFill>
                <a:latin typeface="Courier New" pitchFamily="34" charset="0"/>
                <a:ea typeface="Courier New" pitchFamily="34" charset="-122"/>
                <a:cs typeface="Courier New" pitchFamily="34" charset="-120"/>
              </a:rPr>
              <a:t>print(double)</a:t>
            </a:r>
            <a:endParaRPr lang="en-US" sz="1500" dirty="0"/>
          </a:p>
        </p:txBody>
      </p:sp>
      <p:sp>
        <p:nvSpPr>
          <p:cNvPr id="5" name="Text 3"/>
          <p:cNvSpPr txBox="1"/>
          <p:nvPr/>
        </p:nvSpPr>
        <p:spPr>
          <a:xfrm>
            <a:off x="274320" y="6537960"/>
            <a:ext cx="11612880" cy="274320"/>
          </a:xfrm>
          <a:prstGeom prst="rect">
            <a:avLst/>
          </a:prstGeom>
          <a:noFill/>
          <a:ln/>
        </p:spPr>
        <p:txBody>
          <a:bodyPr wrap="square" rtlCol="0" anchor="ctr"/>
          <a:lstStyle/>
          <a:p>
            <a:pPr marL="0" indent="0" algn="r">
              <a:buNone/>
            </a:pPr>
            <a:r>
              <a:rPr lang="en-US" sz="1100" dirty="0">
                <a:solidFill>
                  <a:srgbClr val="888888"/>
                </a:solidFill>
              </a:rPr>
              <a:t>CSE 120 · Module 1  ·  Try it first — answer on next slide</a:t>
            </a:r>
            <a:endParaRPr lang="en-US" sz="11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0FFF4"/>
        </a:solidFill>
        <a:effectLst/>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2D6A4F"/>
          </a:solidFill>
          <a:ln w="12700">
            <a:solidFill>
              <a:srgbClr val="2D6A4F"/>
            </a:solidFill>
            <a:prstDash val="solid"/>
          </a:ln>
        </p:spPr>
        <p:txBody>
          <a:bodyPr/>
          <a:lstStyle/>
          <a:p>
            <a:endParaRPr lang="en-US"/>
          </a:p>
        </p:txBody>
      </p:sp>
      <p:sp>
        <p:nvSpPr>
          <p:cNvPr id="3" name="Text 1"/>
          <p:cNvSpPr txBox="1"/>
          <p:nvPr/>
        </p:nvSpPr>
        <p:spPr>
          <a:xfrm>
            <a:off x="274320" y="91440"/>
            <a:ext cx="11612880" cy="777240"/>
          </a:xfrm>
          <a:prstGeom prst="rect">
            <a:avLst/>
          </a:prstGeom>
          <a:noFill/>
          <a:ln/>
        </p:spPr>
        <p:txBody>
          <a:bodyPr wrap="square" rtlCol="0" anchor="ctr"/>
          <a:lstStyle/>
          <a:p>
            <a:pPr marL="0" indent="0">
              <a:buNone/>
            </a:pPr>
            <a:r>
              <a:rPr lang="en-US" sz="2200" b="1" dirty="0">
                <a:solidFill>
                  <a:srgbClr val="FFFFFF"/>
                </a:solidFill>
              </a:rPr>
              <a:t>✅  Answer — Bug #4 — Input Type</a:t>
            </a:r>
            <a:endParaRPr lang="en-US" sz="2200" dirty="0"/>
          </a:p>
        </p:txBody>
      </p:sp>
      <p:sp>
        <p:nvSpPr>
          <p:cNvPr id="4" name="Text 2"/>
          <p:cNvSpPr txBox="1"/>
          <p:nvPr/>
        </p:nvSpPr>
        <p:spPr>
          <a:xfrm>
            <a:off x="457200" y="1097280"/>
            <a:ext cx="11247120" cy="5394960"/>
          </a:xfrm>
          <a:prstGeom prst="rect">
            <a:avLst/>
          </a:prstGeom>
          <a:noFill/>
          <a:ln/>
        </p:spPr>
        <p:txBody>
          <a:bodyPr wrap="square" rtlCol="0" anchor="t"/>
          <a:lstStyle/>
          <a:p>
            <a:pPr marL="0" indent="0">
              <a:spcAft>
                <a:spcPts val="1600"/>
              </a:spcAft>
              <a:buNone/>
            </a:pPr>
            <a:r>
              <a:rPr lang="en-US" sz="1700" b="1" dirty="0">
                <a:solidFill>
                  <a:srgbClr val="1E2D40"/>
                </a:solidFill>
                <a:latin typeface="Courier New" pitchFamily="34" charset="0"/>
                <a:ea typeface="Courier New" pitchFamily="34" charset="-122"/>
                <a:cs typeface="Courier New" pitchFamily="34" charset="-120"/>
              </a:rPr>
              <a:t>voltage = float(input("Enter voltage: "))</a:t>
            </a:r>
            <a:endParaRPr lang="en-US" sz="1700" dirty="0"/>
          </a:p>
          <a:p>
            <a:pPr marL="342900" indent="-342900">
              <a:spcAft>
                <a:spcPts val="600"/>
              </a:spcAft>
              <a:buSzPct val="100000"/>
              <a:buChar char="•"/>
            </a:pPr>
            <a:r>
              <a:rPr lang="en-US" sz="1400" dirty="0">
                <a:solidFill>
                  <a:srgbClr val="1A1A2E"/>
                </a:solidFill>
              </a:rPr>
              <a:t>Bug: input() returns the text "3.3" — not the number 3.3</a:t>
            </a:r>
            <a:endParaRPr lang="en-US" sz="1700" dirty="0"/>
          </a:p>
          <a:p>
            <a:pPr marL="342900" indent="-342900">
              <a:spcAft>
                <a:spcPts val="600"/>
              </a:spcAft>
              <a:buSzPct val="100000"/>
              <a:buChar char="•"/>
            </a:pPr>
            <a:r>
              <a:rPr lang="en-US" sz="1400" dirty="0">
                <a:solidFill>
                  <a:srgbClr val="1A1A2E"/>
                </a:solidFill>
              </a:rPr>
              <a:t>"3.3" * 2  =  "3.33.3"  (string duplication, not math)</a:t>
            </a:r>
            <a:endParaRPr lang="en-US" sz="1700" dirty="0"/>
          </a:p>
          <a:p>
            <a:pPr marL="342900" indent="-342900">
              <a:spcAft>
                <a:spcPts val="600"/>
              </a:spcAft>
              <a:buSzPct val="100000"/>
              <a:buChar char="•"/>
            </a:pPr>
            <a:r>
              <a:rPr lang="en-US" sz="1400" dirty="0">
                <a:solidFill>
                  <a:srgbClr val="1A1A2E"/>
                </a:solidFill>
              </a:rPr>
              <a:t>Fix: wrap input() in float() to convert text to a number</a:t>
            </a:r>
            <a:endParaRPr lang="en-US" sz="1700" dirty="0"/>
          </a:p>
          <a:p>
            <a:pPr marL="342900" indent="-342900">
              <a:spcAft>
                <a:spcPts val="500"/>
              </a:spcAft>
              <a:buSzPct val="100000"/>
              <a:buChar char="•"/>
            </a:pPr>
            <a:r>
              <a:rPr lang="en-US" sz="1400" dirty="0">
                <a:solidFill>
                  <a:srgbClr val="2D6A4F"/>
                </a:solidFill>
              </a:rPr>
              <a:t>Now voltage = 3.3 (number) and double = 6.6  ✓</a:t>
            </a:r>
            <a:endParaRPr lang="en-US" sz="1700" dirty="0"/>
          </a:p>
        </p:txBody>
      </p:sp>
      <p:sp>
        <p:nvSpPr>
          <p:cNvPr id="5" name="Text 3"/>
          <p:cNvSpPr txBox="1"/>
          <p:nvPr/>
        </p:nvSpPr>
        <p:spPr>
          <a:xfrm>
            <a:off x="274320" y="6537960"/>
            <a:ext cx="11612880" cy="274320"/>
          </a:xfrm>
          <a:prstGeom prst="rect">
            <a:avLst/>
          </a:prstGeom>
          <a:noFill/>
          <a:ln/>
        </p:spPr>
        <p:txBody>
          <a:bodyPr wrap="square" rtlCol="0" anchor="ctr"/>
          <a:lstStyle/>
          <a:p>
            <a:pPr marL="0" indent="0" algn="r">
              <a:buNone/>
            </a:pPr>
            <a:r>
              <a:rPr lang="en-US" sz="1100" dirty="0">
                <a:solidFill>
                  <a:srgbClr val="888888"/>
                </a:solidFill>
              </a:rPr>
              <a:t>CSE 120 · Module 1</a:t>
            </a:r>
            <a:endParaRPr lang="en-US" sz="11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003767"/>
        </a:solidFill>
        <a:effectLst/>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03767"/>
          </a:solidFill>
          <a:ln w="12700">
            <a:solidFill>
              <a:srgbClr val="003767"/>
            </a:solidFill>
            <a:prstDash val="solid"/>
          </a:ln>
        </p:spPr>
        <p:txBody>
          <a:bodyPr/>
          <a:lstStyle/>
          <a:p>
            <a:endParaRPr lang="en-US"/>
          </a:p>
        </p:txBody>
      </p:sp>
      <p:sp>
        <p:nvSpPr>
          <p:cNvPr id="3" name="Shape 1"/>
          <p:cNvSpPr/>
          <p:nvPr/>
        </p:nvSpPr>
        <p:spPr>
          <a:xfrm>
            <a:off x="0" y="5303520"/>
            <a:ext cx="12161520" cy="1554480"/>
          </a:xfrm>
          <a:prstGeom prst="rect">
            <a:avLst/>
          </a:prstGeom>
          <a:solidFill>
            <a:srgbClr val="001F40"/>
          </a:solidFill>
          <a:ln w="12700">
            <a:solidFill>
              <a:srgbClr val="001F40"/>
            </a:solidFill>
            <a:prstDash val="solid"/>
          </a:ln>
        </p:spPr>
        <p:txBody>
          <a:bodyPr/>
          <a:lstStyle/>
          <a:p>
            <a:endParaRPr lang="en-US"/>
          </a:p>
        </p:txBody>
      </p:sp>
      <p:sp>
        <p:nvSpPr>
          <p:cNvPr id="4" name="Text 2"/>
          <p:cNvSpPr txBox="1"/>
          <p:nvPr/>
        </p:nvSpPr>
        <p:spPr>
          <a:xfrm>
            <a:off x="731520" y="914400"/>
            <a:ext cx="10698480" cy="822960"/>
          </a:xfrm>
          <a:prstGeom prst="rect">
            <a:avLst/>
          </a:prstGeom>
          <a:noFill/>
          <a:ln/>
        </p:spPr>
        <p:txBody>
          <a:bodyPr wrap="square" rtlCol="0" anchor="ctr"/>
          <a:lstStyle/>
          <a:p>
            <a:pPr marL="0" indent="0" algn="ctr">
              <a:buNone/>
            </a:pPr>
            <a:r>
              <a:rPr lang="en-US" sz="2000" b="1" dirty="0">
                <a:solidFill>
                  <a:srgbClr val="0074B7"/>
                </a:solidFill>
              </a:rPr>
              <a:t>Part </a:t>
            </a:r>
            <a:endParaRPr lang="en-US" sz="2000" dirty="0"/>
          </a:p>
        </p:txBody>
      </p:sp>
      <p:sp>
        <p:nvSpPr>
          <p:cNvPr id="5" name="Text 3"/>
          <p:cNvSpPr txBox="1"/>
          <p:nvPr/>
        </p:nvSpPr>
        <p:spPr>
          <a:xfrm>
            <a:off x="731520" y="1737360"/>
            <a:ext cx="10698480" cy="2286000"/>
          </a:xfrm>
          <a:prstGeom prst="rect">
            <a:avLst/>
          </a:prstGeom>
          <a:noFill/>
          <a:ln/>
        </p:spPr>
        <p:txBody>
          <a:bodyPr wrap="square" rtlCol="0" anchor="ctr"/>
          <a:lstStyle/>
          <a:p>
            <a:pPr marL="0" indent="0" algn="ctr">
              <a:buNone/>
            </a:pPr>
            <a:r>
              <a:rPr lang="en-US" sz="4000" b="1" dirty="0">
                <a:solidFill>
                  <a:srgbClr val="FFFFFF"/>
                </a:solidFill>
              </a:rPr>
              <a:t>Final Challenge</a:t>
            </a:r>
            <a:endParaRPr lang="en-US" sz="4000" dirty="0"/>
          </a:p>
        </p:txBody>
      </p:sp>
      <p:sp>
        <p:nvSpPr>
          <p:cNvPr id="6" name="Text 4"/>
          <p:cNvSpPr txBox="1"/>
          <p:nvPr/>
        </p:nvSpPr>
        <p:spPr>
          <a:xfrm>
            <a:off x="731520" y="4114800"/>
            <a:ext cx="10698480" cy="1005840"/>
          </a:xfrm>
          <a:prstGeom prst="rect">
            <a:avLst/>
          </a:prstGeom>
          <a:noFill/>
          <a:ln/>
        </p:spPr>
        <p:txBody>
          <a:bodyPr wrap="square" rtlCol="0" anchor="ctr"/>
          <a:lstStyle/>
          <a:p>
            <a:pPr marL="0" indent="0" algn="ctr">
              <a:buNone/>
            </a:pPr>
            <a:r>
              <a:rPr lang="en-US" sz="1500" dirty="0">
                <a:solidFill>
                  <a:srgbClr val="7BAFD4"/>
                </a:solidFill>
              </a:rPr>
              <a:t>Temperature Monitor — Putting It All Together</a:t>
            </a:r>
            <a:endParaRPr lang="en-US" sz="1500" dirty="0"/>
          </a:p>
        </p:txBody>
      </p:sp>
      <p:sp>
        <p:nvSpPr>
          <p:cNvPr id="7" name="Text 5"/>
          <p:cNvSpPr txBox="1"/>
          <p:nvPr/>
        </p:nvSpPr>
        <p:spPr>
          <a:xfrm>
            <a:off x="731520" y="5577840"/>
            <a:ext cx="10698480" cy="731520"/>
          </a:xfrm>
          <a:prstGeom prst="rect">
            <a:avLst/>
          </a:prstGeom>
          <a:noFill/>
          <a:ln/>
        </p:spPr>
        <p:txBody>
          <a:bodyPr wrap="square" rtlCol="0" anchor="ctr"/>
          <a:lstStyle/>
          <a:p>
            <a:pPr marL="0" indent="0" algn="ctr">
              <a:buNone/>
            </a:pPr>
            <a:r>
              <a:rPr lang="en-US" sz="1300" dirty="0">
                <a:solidFill>
                  <a:srgbClr val="6699BB"/>
                </a:solidFill>
              </a:rPr>
              <a:t>CSE 120 · Module 1</a:t>
            </a:r>
            <a:endParaRPr lang="en-US" sz="13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822960"/>
          </a:xfrm>
          <a:prstGeom prst="rect">
            <a:avLst/>
          </a:prstGeom>
          <a:solidFill>
            <a:srgbClr val="003767"/>
          </a:solidFill>
          <a:ln w="12700">
            <a:solidFill>
              <a:srgbClr val="003767"/>
            </a:solidFill>
            <a:prstDash val="solid"/>
          </a:ln>
        </p:spPr>
        <p:txBody>
          <a:bodyPr/>
          <a:lstStyle/>
          <a:p>
            <a:endParaRPr lang="en-US"/>
          </a:p>
        </p:txBody>
      </p:sp>
      <p:sp>
        <p:nvSpPr>
          <p:cNvPr id="3" name="Text 1"/>
          <p:cNvSpPr txBox="1"/>
          <p:nvPr/>
        </p:nvSpPr>
        <p:spPr>
          <a:xfrm>
            <a:off x="274320" y="73152"/>
            <a:ext cx="11612880" cy="685800"/>
          </a:xfrm>
          <a:prstGeom prst="rect">
            <a:avLst/>
          </a:prstGeom>
          <a:noFill/>
          <a:ln/>
        </p:spPr>
        <p:txBody>
          <a:bodyPr wrap="square" rtlCol="0" anchor="ctr"/>
          <a:lstStyle/>
          <a:p>
            <a:pPr marL="0" indent="0">
              <a:buNone/>
            </a:pPr>
            <a:r>
              <a:rPr lang="en-US" sz="2000" b="1" dirty="0">
                <a:solidFill>
                  <a:srgbClr val="FFFFFF"/>
                </a:solidFill>
              </a:rPr>
              <a:t>Final Challenge: Temperature Monitor</a:t>
            </a:r>
            <a:endParaRPr lang="en-US" sz="2000" dirty="0"/>
          </a:p>
        </p:txBody>
      </p:sp>
      <p:sp>
        <p:nvSpPr>
          <p:cNvPr id="4" name="Text 2"/>
          <p:cNvSpPr txBox="1"/>
          <p:nvPr/>
        </p:nvSpPr>
        <p:spPr>
          <a:xfrm>
            <a:off x="365760" y="914400"/>
            <a:ext cx="11430000" cy="5577840"/>
          </a:xfrm>
          <a:prstGeom prst="rect">
            <a:avLst/>
          </a:prstGeom>
          <a:noFill/>
          <a:ln/>
        </p:spPr>
        <p:txBody>
          <a:bodyPr wrap="square" rtlCol="0" anchor="t"/>
          <a:lstStyle/>
          <a:p>
            <a:pPr marL="0" indent="0">
              <a:spcAft>
                <a:spcPts val="1200"/>
              </a:spcAft>
              <a:buNone/>
            </a:pPr>
            <a:r>
              <a:rPr lang="en-US" sz="1500" b="1" dirty="0">
                <a:solidFill>
                  <a:srgbClr val="1A1A2E"/>
                </a:solidFill>
              </a:rPr>
              <a:t>Build a temperature monitoring program using everything you've learned</a:t>
            </a:r>
            <a:endParaRPr lang="en-US" sz="1500" dirty="0"/>
          </a:p>
          <a:p>
            <a:pPr marL="0" indent="0">
              <a:spcAft>
                <a:spcPts val="600"/>
              </a:spcAft>
              <a:buNone/>
            </a:pPr>
            <a:r>
              <a:rPr lang="en-US" sz="1500" b="1" dirty="0">
                <a:solidFill>
                  <a:srgbClr val="1A1A2E"/>
                </a:solidFill>
              </a:rPr>
              <a:t>The program should:</a:t>
            </a:r>
            <a:endParaRPr lang="en-US" sz="1500" dirty="0"/>
          </a:p>
          <a:p>
            <a:pPr marL="685800" lvl="1" indent="-342900">
              <a:spcAft>
                <a:spcPts val="600"/>
              </a:spcAft>
              <a:buSzPct val="100000"/>
              <a:buChar char="•"/>
            </a:pPr>
            <a:r>
              <a:rPr lang="en-US" sz="1500" dirty="0">
                <a:solidFill>
                  <a:srgbClr val="1A1A2E"/>
                </a:solidFill>
              </a:rPr>
              <a:t>Ask the user for 5 temperature readings — use a for loop</a:t>
            </a:r>
            <a:endParaRPr lang="en-US" sz="1500" dirty="0"/>
          </a:p>
          <a:p>
            <a:pPr marL="685800" lvl="1" indent="-342900">
              <a:spcAft>
                <a:spcPts val="600"/>
              </a:spcAft>
              <a:buSzPct val="100000"/>
              <a:buChar char="•"/>
            </a:pPr>
            <a:r>
              <a:rPr lang="en-US" sz="1500" dirty="0">
                <a:solidFill>
                  <a:srgbClr val="1A1A2E"/>
                </a:solidFill>
              </a:rPr>
              <a:t>Check each reading — print "Safe" or "Danger: Overheating!" (use if/else inside the loop)</a:t>
            </a:r>
            <a:endParaRPr lang="en-US" sz="1500" dirty="0"/>
          </a:p>
          <a:p>
            <a:pPr marL="685800" lvl="1" indent="-342900">
              <a:spcAft>
                <a:spcPts val="600"/>
              </a:spcAft>
              <a:buSzPct val="100000"/>
              <a:buChar char="•"/>
            </a:pPr>
            <a:r>
              <a:rPr lang="en-US" sz="1500" dirty="0">
                <a:solidFill>
                  <a:srgbClr val="1A1A2E"/>
                </a:solidFill>
              </a:rPr>
              <a:t>Accumulate a running total as you go</a:t>
            </a:r>
            <a:endParaRPr lang="en-US" sz="1500" dirty="0"/>
          </a:p>
          <a:p>
            <a:pPr marL="685800" lvl="1" indent="-342900">
              <a:spcAft>
                <a:spcPts val="1600"/>
              </a:spcAft>
              <a:buSzPct val="100000"/>
              <a:buChar char="•"/>
            </a:pPr>
            <a:r>
              <a:rPr lang="en-US" sz="1500" dirty="0">
                <a:solidFill>
                  <a:srgbClr val="1A1A2E"/>
                </a:solidFill>
              </a:rPr>
              <a:t>After the loop: calculate and display the average</a:t>
            </a:r>
            <a:endParaRPr lang="en-US" sz="1500" dirty="0"/>
          </a:p>
          <a:p>
            <a:pPr marL="0" indent="0">
              <a:spcAft>
                <a:spcPts val="500"/>
              </a:spcAft>
              <a:buNone/>
            </a:pPr>
            <a:r>
              <a:rPr lang="en-US" sz="1500" b="1" dirty="0">
                <a:solidFill>
                  <a:srgbClr val="1A1A2E"/>
                </a:solidFill>
              </a:rPr>
              <a:t>Work through it stage by stage:</a:t>
            </a:r>
            <a:endParaRPr lang="en-US" sz="1500" dirty="0"/>
          </a:p>
          <a:p>
            <a:pPr marL="0" indent="0">
              <a:spcAft>
                <a:spcPts val="400"/>
              </a:spcAft>
              <a:buNone/>
            </a:pPr>
            <a:r>
              <a:rPr lang="en-US" sz="1500" dirty="0">
                <a:solidFill>
                  <a:srgbClr val="0074B7"/>
                </a:solidFill>
              </a:rPr>
              <a:t>Understand → Decompose → Plan → Code → Test → Debug</a:t>
            </a:r>
            <a:endParaRPr lang="en-US" sz="1500" dirty="0"/>
          </a:p>
        </p:txBody>
      </p:sp>
      <p:sp>
        <p:nvSpPr>
          <p:cNvPr id="5" name="Text 3"/>
          <p:cNvSpPr txBox="1"/>
          <p:nvPr/>
        </p:nvSpPr>
        <p:spPr>
          <a:xfrm>
            <a:off x="274320" y="6537960"/>
            <a:ext cx="11612880" cy="274320"/>
          </a:xfrm>
          <a:prstGeom prst="rect">
            <a:avLst/>
          </a:prstGeom>
          <a:noFill/>
          <a:ln/>
        </p:spPr>
        <p:txBody>
          <a:bodyPr wrap="square" rtlCol="0" anchor="ctr"/>
          <a:lstStyle/>
          <a:p>
            <a:pPr marL="0" indent="0" algn="r">
              <a:buNone/>
            </a:pPr>
            <a:r>
              <a:rPr lang="en-US" sz="1100" dirty="0">
                <a:solidFill>
                  <a:srgbClr val="999999"/>
                </a:solidFill>
              </a:rPr>
              <a:t>CSE 120 · Module 1</a:t>
            </a:r>
            <a:endParaRPr lang="en-US" sz="11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822960"/>
          </a:xfrm>
          <a:prstGeom prst="rect">
            <a:avLst/>
          </a:prstGeom>
          <a:solidFill>
            <a:srgbClr val="003767"/>
          </a:solidFill>
          <a:ln w="12700">
            <a:solidFill>
              <a:srgbClr val="003767"/>
            </a:solidFill>
            <a:prstDash val="solid"/>
          </a:ln>
        </p:spPr>
        <p:txBody>
          <a:bodyPr/>
          <a:lstStyle/>
          <a:p>
            <a:endParaRPr lang="en-US"/>
          </a:p>
        </p:txBody>
      </p:sp>
      <p:sp>
        <p:nvSpPr>
          <p:cNvPr id="3" name="Text 1"/>
          <p:cNvSpPr txBox="1"/>
          <p:nvPr/>
        </p:nvSpPr>
        <p:spPr>
          <a:xfrm>
            <a:off x="274320" y="73152"/>
            <a:ext cx="11612880" cy="685800"/>
          </a:xfrm>
          <a:prstGeom prst="rect">
            <a:avLst/>
          </a:prstGeom>
          <a:noFill/>
          <a:ln/>
        </p:spPr>
        <p:txBody>
          <a:bodyPr wrap="square" rtlCol="0" anchor="ctr"/>
          <a:lstStyle/>
          <a:p>
            <a:pPr marL="0" indent="0">
              <a:buNone/>
            </a:pPr>
            <a:r>
              <a:rPr lang="en-US" sz="2000" b="1" dirty="0">
                <a:solidFill>
                  <a:srgbClr val="FFFFFF"/>
                </a:solidFill>
              </a:rPr>
              <a:t>Final Challenge: Full Solution</a:t>
            </a:r>
            <a:endParaRPr lang="en-US" sz="2000" dirty="0"/>
          </a:p>
        </p:txBody>
      </p:sp>
      <p:sp>
        <p:nvSpPr>
          <p:cNvPr id="4" name="Shape 2"/>
          <p:cNvSpPr/>
          <p:nvPr/>
        </p:nvSpPr>
        <p:spPr>
          <a:xfrm>
            <a:off x="274320" y="914400"/>
            <a:ext cx="6400800" cy="5394960"/>
          </a:xfrm>
          <a:prstGeom prst="rect">
            <a:avLst/>
          </a:prstGeom>
          <a:solidFill>
            <a:srgbClr val="1E2D40"/>
          </a:solidFill>
          <a:ln w="12700">
            <a:solidFill>
              <a:srgbClr val="2A4060"/>
            </a:solidFill>
            <a:prstDash val="solid"/>
          </a:ln>
        </p:spPr>
        <p:txBody>
          <a:bodyPr/>
          <a:lstStyle/>
          <a:p>
            <a:endParaRPr lang="en-US"/>
          </a:p>
        </p:txBody>
      </p:sp>
      <p:sp>
        <p:nvSpPr>
          <p:cNvPr id="5" name="Text 3"/>
          <p:cNvSpPr txBox="1"/>
          <p:nvPr/>
        </p:nvSpPr>
        <p:spPr>
          <a:xfrm>
            <a:off x="365760" y="960120"/>
            <a:ext cx="6217920" cy="320040"/>
          </a:xfrm>
          <a:prstGeom prst="rect">
            <a:avLst/>
          </a:prstGeom>
          <a:noFill/>
          <a:ln/>
        </p:spPr>
        <p:txBody>
          <a:bodyPr wrap="square" rtlCol="0" anchor="ctr"/>
          <a:lstStyle/>
          <a:p>
            <a:pPr marL="0" indent="0">
              <a:buNone/>
            </a:pPr>
            <a:r>
              <a:rPr lang="en-US" sz="1100" b="1" dirty="0">
                <a:solidFill>
                  <a:srgbClr val="88AACC"/>
                </a:solidFill>
              </a:rPr>
              <a:t>python</a:t>
            </a:r>
            <a:endParaRPr lang="en-US" sz="1100" dirty="0"/>
          </a:p>
        </p:txBody>
      </p:sp>
      <p:sp>
        <p:nvSpPr>
          <p:cNvPr id="6" name="Text 4"/>
          <p:cNvSpPr txBox="1"/>
          <p:nvPr/>
        </p:nvSpPr>
        <p:spPr>
          <a:xfrm>
            <a:off x="365760" y="1325880"/>
            <a:ext cx="6217920" cy="4846320"/>
          </a:xfrm>
          <a:prstGeom prst="rect">
            <a:avLst/>
          </a:prstGeom>
          <a:noFill/>
          <a:ln/>
        </p:spPr>
        <p:txBody>
          <a:bodyPr wrap="square" rtlCol="0" anchor="t"/>
          <a:lstStyle/>
          <a:p>
            <a:pPr marL="0" indent="0">
              <a:buNone/>
            </a:pPr>
            <a:r>
              <a:rPr lang="en-US" sz="1300" dirty="0">
                <a:solidFill>
                  <a:srgbClr val="E8F4FD"/>
                </a:solidFill>
                <a:latin typeface="Courier New" pitchFamily="34" charset="0"/>
                <a:ea typeface="Courier New" pitchFamily="34" charset="-122"/>
                <a:cs typeface="Courier New" pitchFamily="34" charset="-120"/>
              </a:rPr>
              <a:t>total    = 0   # accumulator</a:t>
            </a:r>
            <a:endParaRPr lang="en-US" sz="1300" dirty="0"/>
          </a:p>
          <a:p>
            <a:pPr marL="0" indent="0">
              <a:buNone/>
            </a:pPr>
            <a:r>
              <a:rPr lang="en-US" sz="1300" dirty="0">
                <a:solidFill>
                  <a:srgbClr val="E8F4FD"/>
                </a:solidFill>
                <a:latin typeface="Courier New" pitchFamily="34" charset="0"/>
                <a:ea typeface="Courier New" pitchFamily="34" charset="-122"/>
                <a:cs typeface="Courier New" pitchFamily="34" charset="-120"/>
              </a:rPr>
              <a:t>readings = 5</a:t>
            </a:r>
            <a:endParaRPr lang="en-US" sz="1300" dirty="0"/>
          </a:p>
          <a:p>
            <a:pPr marL="0" indent="0">
              <a:buNone/>
            </a:pPr>
            <a:endParaRPr lang="en-US" sz="1300" dirty="0"/>
          </a:p>
          <a:p>
            <a:pPr marL="0" indent="0">
              <a:buNone/>
            </a:pPr>
            <a:r>
              <a:rPr lang="en-US" sz="1300" dirty="0">
                <a:solidFill>
                  <a:srgbClr val="E8F4FD"/>
                </a:solidFill>
                <a:latin typeface="Courier New" pitchFamily="34" charset="0"/>
                <a:ea typeface="Courier New" pitchFamily="34" charset="-122"/>
                <a:cs typeface="Courier New" pitchFamily="34" charset="-120"/>
              </a:rPr>
              <a:t>print("--- Temperature Monitor ---")</a:t>
            </a:r>
            <a:endParaRPr lang="en-US" sz="1300" dirty="0"/>
          </a:p>
          <a:p>
            <a:pPr marL="0" indent="0">
              <a:buNone/>
            </a:pPr>
            <a:endParaRPr lang="en-US" sz="1300" dirty="0"/>
          </a:p>
          <a:p>
            <a:pPr marL="0" indent="0">
              <a:buNone/>
            </a:pPr>
            <a:r>
              <a:rPr lang="en-US" sz="1300" dirty="0">
                <a:solidFill>
                  <a:srgbClr val="E8F4FD"/>
                </a:solidFill>
                <a:latin typeface="Courier New" pitchFamily="34" charset="0"/>
                <a:ea typeface="Courier New" pitchFamily="34" charset="-122"/>
                <a:cs typeface="Courier New" pitchFamily="34" charset="-120"/>
              </a:rPr>
              <a:t>for i in range(readings):</a:t>
            </a:r>
            <a:endParaRPr lang="en-US" sz="1300" dirty="0"/>
          </a:p>
          <a:p>
            <a:pPr marL="0" indent="0">
              <a:buNone/>
            </a:pPr>
            <a:r>
              <a:rPr lang="en-US" sz="1300" dirty="0">
                <a:solidFill>
                  <a:srgbClr val="E8F4FD"/>
                </a:solidFill>
                <a:latin typeface="Courier New" pitchFamily="34" charset="0"/>
                <a:ea typeface="Courier New" pitchFamily="34" charset="-122"/>
                <a:cs typeface="Courier New" pitchFamily="34" charset="-120"/>
              </a:rPr>
              <a:t>    temp = float(input("Enter reading: "))</a:t>
            </a:r>
            <a:endParaRPr lang="en-US" sz="1300" dirty="0"/>
          </a:p>
          <a:p>
            <a:pPr marL="0" indent="0">
              <a:buNone/>
            </a:pPr>
            <a:endParaRPr lang="en-US" sz="1300" dirty="0"/>
          </a:p>
          <a:p>
            <a:pPr marL="0" indent="0">
              <a:buNone/>
            </a:pPr>
            <a:r>
              <a:rPr lang="en-US" sz="1300" dirty="0">
                <a:solidFill>
                  <a:srgbClr val="E8F4FD"/>
                </a:solidFill>
                <a:latin typeface="Courier New" pitchFamily="34" charset="0"/>
                <a:ea typeface="Courier New" pitchFamily="34" charset="-122"/>
                <a:cs typeface="Courier New" pitchFamily="34" charset="-120"/>
              </a:rPr>
              <a:t>    if temp &gt; 100:</a:t>
            </a:r>
            <a:endParaRPr lang="en-US" sz="1300" dirty="0"/>
          </a:p>
          <a:p>
            <a:pPr marL="0" indent="0">
              <a:buNone/>
            </a:pPr>
            <a:r>
              <a:rPr lang="en-US" sz="1300" dirty="0">
                <a:solidFill>
                  <a:srgbClr val="E8F4FD"/>
                </a:solidFill>
                <a:latin typeface="Courier New" pitchFamily="34" charset="0"/>
                <a:ea typeface="Courier New" pitchFamily="34" charset="-122"/>
                <a:cs typeface="Courier New" pitchFamily="34" charset="-120"/>
              </a:rPr>
              <a:t>        print("  → Danger: Overheating!")</a:t>
            </a:r>
            <a:endParaRPr lang="en-US" sz="1300" dirty="0"/>
          </a:p>
          <a:p>
            <a:pPr marL="0" indent="0">
              <a:buNone/>
            </a:pPr>
            <a:r>
              <a:rPr lang="en-US" sz="1300" dirty="0">
                <a:solidFill>
                  <a:srgbClr val="E8F4FD"/>
                </a:solidFill>
                <a:latin typeface="Courier New" pitchFamily="34" charset="0"/>
                <a:ea typeface="Courier New" pitchFamily="34" charset="-122"/>
                <a:cs typeface="Courier New" pitchFamily="34" charset="-120"/>
              </a:rPr>
              <a:t>    else:</a:t>
            </a:r>
            <a:endParaRPr lang="en-US" sz="1300" dirty="0"/>
          </a:p>
          <a:p>
            <a:pPr marL="0" indent="0">
              <a:buNone/>
            </a:pPr>
            <a:r>
              <a:rPr lang="en-US" sz="1300" dirty="0">
                <a:solidFill>
                  <a:srgbClr val="E8F4FD"/>
                </a:solidFill>
                <a:latin typeface="Courier New" pitchFamily="34" charset="0"/>
                <a:ea typeface="Courier New" pitchFamily="34" charset="-122"/>
                <a:cs typeface="Courier New" pitchFamily="34" charset="-120"/>
              </a:rPr>
              <a:t>        print("  → Safe.")</a:t>
            </a:r>
            <a:endParaRPr lang="en-US" sz="1300" dirty="0"/>
          </a:p>
          <a:p>
            <a:pPr marL="0" indent="0">
              <a:buNone/>
            </a:pPr>
            <a:endParaRPr lang="en-US" sz="1300" dirty="0"/>
          </a:p>
          <a:p>
            <a:pPr marL="0" indent="0">
              <a:buNone/>
            </a:pPr>
            <a:r>
              <a:rPr lang="en-US" sz="1300" dirty="0">
                <a:solidFill>
                  <a:srgbClr val="E8F4FD"/>
                </a:solidFill>
                <a:latin typeface="Courier New" pitchFamily="34" charset="0"/>
                <a:ea typeface="Courier New" pitchFamily="34" charset="-122"/>
                <a:cs typeface="Courier New" pitchFamily="34" charset="-120"/>
              </a:rPr>
              <a:t>    total = total + temp   # accumulate</a:t>
            </a:r>
            <a:endParaRPr lang="en-US" sz="1300" dirty="0"/>
          </a:p>
          <a:p>
            <a:pPr marL="0" indent="0">
              <a:buNone/>
            </a:pPr>
            <a:endParaRPr lang="en-US" sz="1300" dirty="0"/>
          </a:p>
          <a:p>
            <a:pPr marL="0" indent="0">
              <a:buNone/>
            </a:pPr>
            <a:r>
              <a:rPr lang="en-US" sz="1300" dirty="0">
                <a:solidFill>
                  <a:srgbClr val="E8F4FD"/>
                </a:solidFill>
                <a:latin typeface="Courier New" pitchFamily="34" charset="0"/>
                <a:ea typeface="Courier New" pitchFamily="34" charset="-122"/>
                <a:cs typeface="Courier New" pitchFamily="34" charset="-120"/>
              </a:rPr>
              <a:t>average = total / readings</a:t>
            </a:r>
            <a:endParaRPr lang="en-US" sz="1300" dirty="0"/>
          </a:p>
          <a:p>
            <a:pPr marL="0" indent="0">
              <a:buNone/>
            </a:pPr>
            <a:r>
              <a:rPr lang="en-US" sz="1300" dirty="0">
                <a:solidFill>
                  <a:srgbClr val="E8F4FD"/>
                </a:solidFill>
                <a:latin typeface="Courier New" pitchFamily="34" charset="0"/>
                <a:ea typeface="Courier New" pitchFamily="34" charset="-122"/>
                <a:cs typeface="Courier New" pitchFamily="34" charset="-120"/>
              </a:rPr>
              <a:t>print("--------------------------")</a:t>
            </a:r>
            <a:endParaRPr lang="en-US" sz="1300" dirty="0"/>
          </a:p>
          <a:p>
            <a:pPr marL="0" indent="0">
              <a:buNone/>
            </a:pPr>
            <a:r>
              <a:rPr lang="en-US" sz="1300" dirty="0">
                <a:solidFill>
                  <a:srgbClr val="E8F4FD"/>
                </a:solidFill>
                <a:latin typeface="Courier New" pitchFamily="34" charset="0"/>
                <a:ea typeface="Courier New" pitchFamily="34" charset="-122"/>
                <a:cs typeface="Courier New" pitchFamily="34" charset="-120"/>
              </a:rPr>
              <a:t>print("Average temperature:", average, "°F")</a:t>
            </a:r>
            <a:endParaRPr lang="en-US" sz="1300" dirty="0"/>
          </a:p>
        </p:txBody>
      </p:sp>
      <p:sp>
        <p:nvSpPr>
          <p:cNvPr id="7" name="Text 5"/>
          <p:cNvSpPr txBox="1"/>
          <p:nvPr/>
        </p:nvSpPr>
        <p:spPr>
          <a:xfrm>
            <a:off x="6949440" y="914400"/>
            <a:ext cx="4937760" cy="5394960"/>
          </a:xfrm>
          <a:prstGeom prst="rect">
            <a:avLst/>
          </a:prstGeom>
          <a:noFill/>
          <a:ln/>
        </p:spPr>
        <p:txBody>
          <a:bodyPr wrap="square" rtlCol="0" anchor="t"/>
          <a:lstStyle/>
          <a:p>
            <a:pPr marL="342900" indent="-342900">
              <a:spcAft>
                <a:spcPts val="600"/>
              </a:spcAft>
              <a:buSzPct val="100000"/>
              <a:buChar char="•"/>
            </a:pPr>
            <a:r>
              <a:rPr lang="en-US" sz="1400" dirty="0">
                <a:solidFill>
                  <a:srgbClr val="1A1A2E"/>
                </a:solidFill>
              </a:rPr>
              <a:t>total = 0 before the loop — accumulator starts at zero</a:t>
            </a:r>
            <a:endParaRPr lang="en-US" sz="1400" dirty="0"/>
          </a:p>
          <a:p>
            <a:pPr marL="342900" indent="-342900">
              <a:spcAft>
                <a:spcPts val="400"/>
              </a:spcAft>
              <a:buSzPct val="100000"/>
              <a:buChar char="•"/>
            </a:pPr>
            <a:r>
              <a:rPr lang="en-US" sz="1400" dirty="0">
                <a:solidFill>
                  <a:srgbClr val="1A1A2E"/>
                </a:solidFill>
              </a:rPr>
              <a:t>Inside the loop, three things happen every iteration:</a:t>
            </a:r>
            <a:endParaRPr lang="en-US" sz="1400" dirty="0"/>
          </a:p>
          <a:p>
            <a:pPr marL="0" lvl="2" indent="0">
              <a:spcAft>
                <a:spcPts val="800"/>
              </a:spcAft>
              <a:buNone/>
            </a:pPr>
            <a:r>
              <a:rPr lang="en-US" sz="1400" dirty="0">
                <a:solidFill>
                  <a:srgbClr val="1A1A2E"/>
                </a:solidFill>
              </a:rPr>
              <a:t>get input  →  check with if/else  →  add to total</a:t>
            </a:r>
            <a:endParaRPr lang="en-US" sz="1400" dirty="0"/>
          </a:p>
          <a:p>
            <a:pPr marL="342900" indent="-342900">
              <a:spcAft>
                <a:spcPts val="600"/>
              </a:spcAft>
              <a:buSzPct val="100000"/>
              <a:buChar char="•"/>
            </a:pPr>
            <a:r>
              <a:rPr lang="en-US" sz="1400" dirty="0">
                <a:solidFill>
                  <a:srgbClr val="1A1A2E"/>
                </a:solidFill>
              </a:rPr>
              <a:t>Average calculated AFTER the loop — only once, using the final total</a:t>
            </a:r>
            <a:endParaRPr lang="en-US" sz="1400" dirty="0"/>
          </a:p>
          <a:p>
            <a:pPr marL="342900" indent="-342900">
              <a:spcAft>
                <a:spcPts val="500"/>
              </a:spcAft>
              <a:buSzPct val="100000"/>
              <a:buChar char="•"/>
            </a:pPr>
            <a:r>
              <a:rPr lang="en-US" sz="1400" dirty="0">
                <a:solidFill>
                  <a:srgbClr val="1A1A2E"/>
                </a:solidFill>
              </a:rPr>
              <a:t>The if/else runs independently each iteration — doesn't affect total</a:t>
            </a:r>
            <a:endParaRPr lang="en-US" sz="1400" dirty="0"/>
          </a:p>
        </p:txBody>
      </p:sp>
      <p:sp>
        <p:nvSpPr>
          <p:cNvPr id="8" name="Text 6"/>
          <p:cNvSpPr txBox="1"/>
          <p:nvPr/>
        </p:nvSpPr>
        <p:spPr>
          <a:xfrm>
            <a:off x="274320" y="6537960"/>
            <a:ext cx="11612880" cy="274320"/>
          </a:xfrm>
          <a:prstGeom prst="rect">
            <a:avLst/>
          </a:prstGeom>
          <a:noFill/>
          <a:ln/>
        </p:spPr>
        <p:txBody>
          <a:bodyPr wrap="square" rtlCol="0" anchor="ctr"/>
          <a:lstStyle/>
          <a:p>
            <a:pPr marL="0" indent="0" algn="r">
              <a:buNone/>
            </a:pPr>
            <a:r>
              <a:rPr lang="en-US" sz="1100" dirty="0">
                <a:solidFill>
                  <a:srgbClr val="999999"/>
                </a:solidFill>
              </a:rPr>
              <a:t>CSE 120 · Module 1</a:t>
            </a:r>
            <a:endParaRPr lang="en-US" sz="11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822960"/>
          </a:xfrm>
          <a:prstGeom prst="rect">
            <a:avLst/>
          </a:prstGeom>
          <a:solidFill>
            <a:srgbClr val="003767"/>
          </a:solidFill>
          <a:ln w="12700">
            <a:solidFill>
              <a:srgbClr val="003767"/>
            </a:solidFill>
            <a:prstDash val="solid"/>
          </a:ln>
        </p:spPr>
        <p:txBody>
          <a:bodyPr/>
          <a:lstStyle/>
          <a:p>
            <a:endParaRPr lang="en-US"/>
          </a:p>
        </p:txBody>
      </p:sp>
      <p:sp>
        <p:nvSpPr>
          <p:cNvPr id="3" name="Text 1"/>
          <p:cNvSpPr txBox="1"/>
          <p:nvPr/>
        </p:nvSpPr>
        <p:spPr>
          <a:xfrm>
            <a:off x="274320" y="73152"/>
            <a:ext cx="11612880" cy="685800"/>
          </a:xfrm>
          <a:prstGeom prst="rect">
            <a:avLst/>
          </a:prstGeom>
          <a:noFill/>
          <a:ln/>
        </p:spPr>
        <p:txBody>
          <a:bodyPr wrap="square" rtlCol="0" anchor="ctr"/>
          <a:lstStyle/>
          <a:p>
            <a:pPr marL="0" indent="0">
              <a:buNone/>
            </a:pPr>
            <a:r>
              <a:rPr lang="en-US" sz="2000" b="1" dirty="0">
                <a:solidFill>
                  <a:srgbClr val="FFFFFF"/>
                </a:solidFill>
              </a:rPr>
              <a:t>Module 1 Summary — What You've Learned</a:t>
            </a:r>
            <a:endParaRPr lang="en-US" sz="2000" dirty="0"/>
          </a:p>
        </p:txBody>
      </p:sp>
      <p:sp>
        <p:nvSpPr>
          <p:cNvPr id="4" name="Text 2"/>
          <p:cNvSpPr txBox="1"/>
          <p:nvPr/>
        </p:nvSpPr>
        <p:spPr>
          <a:xfrm>
            <a:off x="365760" y="914400"/>
            <a:ext cx="11430000" cy="5577840"/>
          </a:xfrm>
          <a:prstGeom prst="rect">
            <a:avLst/>
          </a:prstGeom>
          <a:noFill/>
          <a:ln/>
        </p:spPr>
        <p:txBody>
          <a:bodyPr wrap="square" rtlCol="0" anchor="t"/>
          <a:lstStyle/>
          <a:p>
            <a:pPr marL="342900" indent="-342900">
              <a:spcAft>
                <a:spcPts val="500"/>
              </a:spcAft>
              <a:buSzPct val="100000"/>
              <a:buChar char="•"/>
            </a:pPr>
            <a:r>
              <a:rPr lang="en-US" sz="1500" dirty="0">
                <a:solidFill>
                  <a:srgbClr val="1A1A2E"/>
                </a:solidFill>
              </a:rPr>
              <a:t>Part 1  — Programs are step-by-step instructions for computers</a:t>
            </a:r>
            <a:endParaRPr lang="en-US" sz="1500" dirty="0"/>
          </a:p>
          <a:p>
            <a:pPr marL="342900" indent="-342900">
              <a:spcAft>
                <a:spcPts val="500"/>
              </a:spcAft>
              <a:buSzPct val="100000"/>
              <a:buChar char="•"/>
            </a:pPr>
            <a:r>
              <a:rPr lang="en-US" sz="1500" dirty="0">
                <a:solidFill>
                  <a:srgbClr val="1A1A2E"/>
                </a:solidFill>
              </a:rPr>
              <a:t>Part 2  — Plan first (algorithm), then code</a:t>
            </a:r>
            <a:endParaRPr lang="en-US" sz="1500" dirty="0"/>
          </a:p>
          <a:p>
            <a:pPr marL="342900" indent="-342900">
              <a:spcAft>
                <a:spcPts val="500"/>
              </a:spcAft>
              <a:buSzPct val="100000"/>
              <a:buChar char="•"/>
            </a:pPr>
            <a:r>
              <a:rPr lang="en-US" sz="1500" dirty="0">
                <a:solidFill>
                  <a:srgbClr val="1A1A2E"/>
                </a:solidFill>
              </a:rPr>
              <a:t>Part 3  — Variables store values; = means assign, not equals</a:t>
            </a:r>
            <a:endParaRPr lang="en-US" sz="1500" dirty="0"/>
          </a:p>
          <a:p>
            <a:pPr marL="342900" indent="-342900">
              <a:spcAft>
                <a:spcPts val="500"/>
              </a:spcAft>
              <a:buSzPct val="100000"/>
              <a:buChar char="•"/>
            </a:pPr>
            <a:r>
              <a:rPr lang="en-US" sz="1500" dirty="0">
                <a:solidFill>
                  <a:srgbClr val="1A1A2E"/>
                </a:solidFill>
              </a:rPr>
              <a:t>Part 4  — Python has four basic types: int, float, str, bool</a:t>
            </a:r>
            <a:endParaRPr lang="en-US" sz="1500" dirty="0"/>
          </a:p>
          <a:p>
            <a:pPr marL="342900" indent="-342900">
              <a:spcAft>
                <a:spcPts val="500"/>
              </a:spcAft>
              <a:buSzPct val="100000"/>
              <a:buChar char="•"/>
            </a:pPr>
            <a:r>
              <a:rPr lang="en-US" sz="1500" dirty="0">
                <a:solidFill>
                  <a:srgbClr val="1A1A2E"/>
                </a:solidFill>
              </a:rPr>
              <a:t>Part 5  — print() displays, input() gets text (always convert!)</a:t>
            </a:r>
            <a:endParaRPr lang="en-US" sz="1500" dirty="0"/>
          </a:p>
          <a:p>
            <a:pPr marL="342900" indent="-342900">
              <a:spcAft>
                <a:spcPts val="500"/>
              </a:spcAft>
              <a:buSzPct val="100000"/>
              <a:buChar char="•"/>
            </a:pPr>
            <a:r>
              <a:rPr lang="en-US" sz="1500" dirty="0">
                <a:solidFill>
                  <a:srgbClr val="1A1A2E"/>
                </a:solidFill>
              </a:rPr>
              <a:t>Part 6  — Python does arithmetic: + - * / // % **</a:t>
            </a:r>
            <a:endParaRPr lang="en-US" sz="1500" dirty="0"/>
          </a:p>
          <a:p>
            <a:pPr marL="342900" indent="-342900">
              <a:spcAft>
                <a:spcPts val="500"/>
              </a:spcAft>
              <a:buSzPct val="100000"/>
              <a:buChar char="•"/>
            </a:pPr>
            <a:r>
              <a:rPr lang="en-US" sz="1500" dirty="0">
                <a:solidFill>
                  <a:srgbClr val="1A1A2E"/>
                </a:solidFill>
              </a:rPr>
              <a:t>Part 7  — if/</a:t>
            </a:r>
            <a:r>
              <a:rPr lang="en-US" sz="1500" dirty="0" err="1">
                <a:solidFill>
                  <a:srgbClr val="1A1A2E"/>
                </a:solidFill>
              </a:rPr>
              <a:t>elif</a:t>
            </a:r>
            <a:r>
              <a:rPr lang="en-US" sz="1500" dirty="0">
                <a:solidFill>
                  <a:srgbClr val="1A1A2E"/>
                </a:solidFill>
              </a:rPr>
              <a:t>/else makes decisions; use == not = in conditions</a:t>
            </a:r>
          </a:p>
          <a:p>
            <a:pPr marL="342900" indent="-342900">
              <a:spcAft>
                <a:spcPts val="500"/>
              </a:spcAft>
              <a:buSzPct val="100000"/>
              <a:buChar char="•"/>
            </a:pPr>
            <a:r>
              <a:rPr lang="en-US" sz="1500" dirty="0">
                <a:solidFill>
                  <a:srgbClr val="1A1A2E"/>
                </a:solidFill>
              </a:rPr>
              <a:t>Part 8  — for loops: fixed count. while loops: condition-based. 10 examples!</a:t>
            </a:r>
          </a:p>
          <a:p>
            <a:pPr marL="342900" indent="-342900">
              <a:spcAft>
                <a:spcPts val="400"/>
              </a:spcAft>
              <a:buSzPct val="100000"/>
              <a:buChar char="•"/>
            </a:pPr>
            <a:r>
              <a:rPr lang="en-US" sz="1500" dirty="0">
                <a:solidFill>
                  <a:srgbClr val="1A1A2E"/>
                </a:solidFill>
              </a:rPr>
              <a:t>Part 9  — Errors are normal: Syntax, Runtime, Logic. Debug systematically.</a:t>
            </a:r>
          </a:p>
        </p:txBody>
      </p:sp>
      <p:sp>
        <p:nvSpPr>
          <p:cNvPr id="5" name="Text 3"/>
          <p:cNvSpPr txBox="1"/>
          <p:nvPr/>
        </p:nvSpPr>
        <p:spPr>
          <a:xfrm>
            <a:off x="274320" y="6537960"/>
            <a:ext cx="11612880" cy="274320"/>
          </a:xfrm>
          <a:prstGeom prst="rect">
            <a:avLst/>
          </a:prstGeom>
          <a:noFill/>
          <a:ln/>
        </p:spPr>
        <p:txBody>
          <a:bodyPr wrap="square" rtlCol="0" anchor="ctr"/>
          <a:lstStyle/>
          <a:p>
            <a:pPr marL="0" indent="0" algn="r">
              <a:buNone/>
            </a:pPr>
            <a:r>
              <a:rPr lang="en-US" sz="1100" dirty="0">
                <a:solidFill>
                  <a:srgbClr val="999999"/>
                </a:solidFill>
              </a:rPr>
              <a:t>CSE 120 · Module 1</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7959</Words>
  <Application>Microsoft Office PowerPoint</Application>
  <PresentationFormat>Widescreen</PresentationFormat>
  <Paragraphs>978</Paragraphs>
  <Slides>73</Slides>
  <Notes>73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73</vt:i4>
      </vt:variant>
    </vt:vector>
  </HeadingPairs>
  <TitlesOfParts>
    <vt:vector size="76"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Gill, Dimpy</cp:lastModifiedBy>
  <cp:revision>2</cp:revision>
  <dcterms:created xsi:type="dcterms:W3CDTF">2026-09-20T02:40:28Z</dcterms:created>
  <dcterms:modified xsi:type="dcterms:W3CDTF">2026-09-20T02:48:56Z</dcterms:modified>
</cp:coreProperties>
</file>